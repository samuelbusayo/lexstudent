
<file path=[Content_Types].xml><?xml version="1.0" encoding="utf-8"?>
<Types xmlns="http://schemas.openxmlformats.org/package/2006/content-types">
  <Default ContentType="application/xml" Extension="xml"/>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84.xml"/>
  <Override ContentType="application/vnd.openxmlformats-officedocument.presentationml.notesSlide+xml" PartName="/ppt/notesSlides/notesSlide3.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8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77.xml"/>
  <Override ContentType="application/vnd.openxmlformats-officedocument.presentationml.notesSlide+xml" PartName="/ppt/notesSlides/notesSlide90.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89.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84.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79.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83.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80.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88.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 id="304" r:id="rId53"/>
    <p:sldId id="305" r:id="rId54"/>
    <p:sldId id="306" r:id="rId55"/>
    <p:sldId id="307" r:id="rId56"/>
    <p:sldId id="308" r:id="rId57"/>
    <p:sldId id="309" r:id="rId58"/>
    <p:sldId id="310" r:id="rId59"/>
    <p:sldId id="311" r:id="rId60"/>
    <p:sldId id="312" r:id="rId61"/>
    <p:sldId id="313" r:id="rId62"/>
    <p:sldId id="314" r:id="rId63"/>
    <p:sldId id="315" r:id="rId64"/>
    <p:sldId id="316" r:id="rId65"/>
    <p:sldId id="317" r:id="rId66"/>
    <p:sldId id="318" r:id="rId67"/>
    <p:sldId id="319" r:id="rId68"/>
    <p:sldId id="320" r:id="rId69"/>
    <p:sldId id="321" r:id="rId70"/>
    <p:sldId id="322" r:id="rId71"/>
    <p:sldId id="323" r:id="rId72"/>
    <p:sldId id="324" r:id="rId73"/>
    <p:sldId id="325" r:id="rId74"/>
    <p:sldId id="326" r:id="rId75"/>
    <p:sldId id="327" r:id="rId76"/>
    <p:sldId id="328" r:id="rId77"/>
    <p:sldId id="329" r:id="rId78"/>
    <p:sldId id="330" r:id="rId79"/>
    <p:sldId id="331" r:id="rId80"/>
    <p:sldId id="332" r:id="rId81"/>
    <p:sldId id="333" r:id="rId82"/>
    <p:sldId id="334" r:id="rId83"/>
    <p:sldId id="335" r:id="rId84"/>
    <p:sldId id="336" r:id="rId85"/>
    <p:sldId id="337" r:id="rId86"/>
    <p:sldId id="338" r:id="rId87"/>
    <p:sldId id="339" r:id="rId88"/>
    <p:sldId id="340" r:id="rId89"/>
    <p:sldId id="341" r:id="rId90"/>
    <p:sldId id="342" r:id="rId91"/>
    <p:sldId id="343" r:id="rId92"/>
    <p:sldId id="344" r:id="rId93"/>
    <p:sldId id="345" r:id="rId94"/>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95" roundtripDataSignature="AMtx7mh1F8DWAZlSn65+Y7/wo5RzmmxLZ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84" Type="http://schemas.openxmlformats.org/officeDocument/2006/relationships/slide" Target="slides/slide80.xml"/><Relationship Id="rId83" Type="http://schemas.openxmlformats.org/officeDocument/2006/relationships/slide" Target="slides/slide79.xml"/><Relationship Id="rId42" Type="http://schemas.openxmlformats.org/officeDocument/2006/relationships/slide" Target="slides/slide38.xml"/><Relationship Id="rId86" Type="http://schemas.openxmlformats.org/officeDocument/2006/relationships/slide" Target="slides/slide82.xml"/><Relationship Id="rId41" Type="http://schemas.openxmlformats.org/officeDocument/2006/relationships/slide" Target="slides/slide37.xml"/><Relationship Id="rId85" Type="http://schemas.openxmlformats.org/officeDocument/2006/relationships/slide" Target="slides/slide81.xml"/><Relationship Id="rId44" Type="http://schemas.openxmlformats.org/officeDocument/2006/relationships/slide" Target="slides/slide40.xml"/><Relationship Id="rId88" Type="http://schemas.openxmlformats.org/officeDocument/2006/relationships/slide" Target="slides/slide84.xml"/><Relationship Id="rId43" Type="http://schemas.openxmlformats.org/officeDocument/2006/relationships/slide" Target="slides/slide39.xml"/><Relationship Id="rId87" Type="http://schemas.openxmlformats.org/officeDocument/2006/relationships/slide" Target="slides/slide83.xml"/><Relationship Id="rId46" Type="http://schemas.openxmlformats.org/officeDocument/2006/relationships/slide" Target="slides/slide42.xml"/><Relationship Id="rId45" Type="http://schemas.openxmlformats.org/officeDocument/2006/relationships/slide" Target="slides/slide41.xml"/><Relationship Id="rId89" Type="http://schemas.openxmlformats.org/officeDocument/2006/relationships/slide" Target="slides/slide85.xml"/><Relationship Id="rId80" Type="http://schemas.openxmlformats.org/officeDocument/2006/relationships/slide" Target="slides/slide76.xml"/><Relationship Id="rId82" Type="http://schemas.openxmlformats.org/officeDocument/2006/relationships/slide" Target="slides/slide78.xml"/><Relationship Id="rId81" Type="http://schemas.openxmlformats.org/officeDocument/2006/relationships/slide" Target="slides/slide77.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48" Type="http://schemas.openxmlformats.org/officeDocument/2006/relationships/slide" Target="slides/slide44.xml"/><Relationship Id="rId47" Type="http://schemas.openxmlformats.org/officeDocument/2006/relationships/slide" Target="slides/slide43.xml"/><Relationship Id="rId49" Type="http://schemas.openxmlformats.org/officeDocument/2006/relationships/slide" Target="slides/slide4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73" Type="http://schemas.openxmlformats.org/officeDocument/2006/relationships/slide" Target="slides/slide69.xml"/><Relationship Id="rId72" Type="http://schemas.openxmlformats.org/officeDocument/2006/relationships/slide" Target="slides/slide68.xml"/><Relationship Id="rId31" Type="http://schemas.openxmlformats.org/officeDocument/2006/relationships/slide" Target="slides/slide27.xml"/><Relationship Id="rId75" Type="http://schemas.openxmlformats.org/officeDocument/2006/relationships/slide" Target="slides/slide71.xml"/><Relationship Id="rId30" Type="http://schemas.openxmlformats.org/officeDocument/2006/relationships/slide" Target="slides/slide26.xml"/><Relationship Id="rId74" Type="http://schemas.openxmlformats.org/officeDocument/2006/relationships/slide" Target="slides/slide70.xml"/><Relationship Id="rId33" Type="http://schemas.openxmlformats.org/officeDocument/2006/relationships/slide" Target="slides/slide29.xml"/><Relationship Id="rId77" Type="http://schemas.openxmlformats.org/officeDocument/2006/relationships/slide" Target="slides/slide73.xml"/><Relationship Id="rId32" Type="http://schemas.openxmlformats.org/officeDocument/2006/relationships/slide" Target="slides/slide28.xml"/><Relationship Id="rId76" Type="http://schemas.openxmlformats.org/officeDocument/2006/relationships/slide" Target="slides/slide72.xml"/><Relationship Id="rId35" Type="http://schemas.openxmlformats.org/officeDocument/2006/relationships/slide" Target="slides/slide31.xml"/><Relationship Id="rId79" Type="http://schemas.openxmlformats.org/officeDocument/2006/relationships/slide" Target="slides/slide75.xml"/><Relationship Id="rId34" Type="http://schemas.openxmlformats.org/officeDocument/2006/relationships/slide" Target="slides/slide30.xml"/><Relationship Id="rId78" Type="http://schemas.openxmlformats.org/officeDocument/2006/relationships/slide" Target="slides/slide74.xml"/><Relationship Id="rId71" Type="http://schemas.openxmlformats.org/officeDocument/2006/relationships/slide" Target="slides/slide67.xml"/><Relationship Id="rId70" Type="http://schemas.openxmlformats.org/officeDocument/2006/relationships/slide" Target="slides/slide66.xml"/><Relationship Id="rId37" Type="http://schemas.openxmlformats.org/officeDocument/2006/relationships/slide" Target="slides/slide33.xml"/><Relationship Id="rId36" Type="http://schemas.openxmlformats.org/officeDocument/2006/relationships/slide" Target="slides/slide32.xml"/><Relationship Id="rId39" Type="http://schemas.openxmlformats.org/officeDocument/2006/relationships/slide" Target="slides/slide35.xml"/><Relationship Id="rId38" Type="http://schemas.openxmlformats.org/officeDocument/2006/relationships/slide" Target="slides/slide34.xml"/><Relationship Id="rId62" Type="http://schemas.openxmlformats.org/officeDocument/2006/relationships/slide" Target="slides/slide58.xml"/><Relationship Id="rId61" Type="http://schemas.openxmlformats.org/officeDocument/2006/relationships/slide" Target="slides/slide57.xml"/><Relationship Id="rId20" Type="http://schemas.openxmlformats.org/officeDocument/2006/relationships/slide" Target="slides/slide16.xml"/><Relationship Id="rId64" Type="http://schemas.openxmlformats.org/officeDocument/2006/relationships/slide" Target="slides/slide60.xml"/><Relationship Id="rId63" Type="http://schemas.openxmlformats.org/officeDocument/2006/relationships/slide" Target="slides/slide59.xml"/><Relationship Id="rId22" Type="http://schemas.openxmlformats.org/officeDocument/2006/relationships/slide" Target="slides/slide18.xml"/><Relationship Id="rId66" Type="http://schemas.openxmlformats.org/officeDocument/2006/relationships/slide" Target="slides/slide62.xml"/><Relationship Id="rId21" Type="http://schemas.openxmlformats.org/officeDocument/2006/relationships/slide" Target="slides/slide17.xml"/><Relationship Id="rId65" Type="http://schemas.openxmlformats.org/officeDocument/2006/relationships/slide" Target="slides/slide61.xml"/><Relationship Id="rId24" Type="http://schemas.openxmlformats.org/officeDocument/2006/relationships/slide" Target="slides/slide20.xml"/><Relationship Id="rId68" Type="http://schemas.openxmlformats.org/officeDocument/2006/relationships/slide" Target="slides/slide64.xml"/><Relationship Id="rId23" Type="http://schemas.openxmlformats.org/officeDocument/2006/relationships/slide" Target="slides/slide19.xml"/><Relationship Id="rId67" Type="http://schemas.openxmlformats.org/officeDocument/2006/relationships/slide" Target="slides/slide63.xml"/><Relationship Id="rId60" Type="http://schemas.openxmlformats.org/officeDocument/2006/relationships/slide" Target="slides/slide56.xml"/><Relationship Id="rId26" Type="http://schemas.openxmlformats.org/officeDocument/2006/relationships/slide" Target="slides/slide22.xml"/><Relationship Id="rId25" Type="http://schemas.openxmlformats.org/officeDocument/2006/relationships/slide" Target="slides/slide21.xml"/><Relationship Id="rId69" Type="http://schemas.openxmlformats.org/officeDocument/2006/relationships/slide" Target="slides/slide65.xml"/><Relationship Id="rId28" Type="http://schemas.openxmlformats.org/officeDocument/2006/relationships/slide" Target="slides/slide24.xml"/><Relationship Id="rId27" Type="http://schemas.openxmlformats.org/officeDocument/2006/relationships/slide" Target="slides/slide23.xml"/><Relationship Id="rId29" Type="http://schemas.openxmlformats.org/officeDocument/2006/relationships/slide" Target="slides/slide25.xml"/><Relationship Id="rId51" Type="http://schemas.openxmlformats.org/officeDocument/2006/relationships/slide" Target="slides/slide47.xml"/><Relationship Id="rId95" Type="http://customschemas.google.com/relationships/presentationmetadata" Target="metadata"/><Relationship Id="rId50" Type="http://schemas.openxmlformats.org/officeDocument/2006/relationships/slide" Target="slides/slide46.xml"/><Relationship Id="rId94" Type="http://schemas.openxmlformats.org/officeDocument/2006/relationships/slide" Target="slides/slide90.xml"/><Relationship Id="rId53" Type="http://schemas.openxmlformats.org/officeDocument/2006/relationships/slide" Target="slides/slide49.xml"/><Relationship Id="rId52" Type="http://schemas.openxmlformats.org/officeDocument/2006/relationships/slide" Target="slides/slide48.xml"/><Relationship Id="rId11" Type="http://schemas.openxmlformats.org/officeDocument/2006/relationships/slide" Target="slides/slide7.xml"/><Relationship Id="rId55" Type="http://schemas.openxmlformats.org/officeDocument/2006/relationships/slide" Target="slides/slide51.xml"/><Relationship Id="rId10" Type="http://schemas.openxmlformats.org/officeDocument/2006/relationships/slide" Target="slides/slide6.xml"/><Relationship Id="rId54" Type="http://schemas.openxmlformats.org/officeDocument/2006/relationships/slide" Target="slides/slide50.xml"/><Relationship Id="rId13" Type="http://schemas.openxmlformats.org/officeDocument/2006/relationships/slide" Target="slides/slide9.xml"/><Relationship Id="rId57" Type="http://schemas.openxmlformats.org/officeDocument/2006/relationships/slide" Target="slides/slide53.xml"/><Relationship Id="rId12" Type="http://schemas.openxmlformats.org/officeDocument/2006/relationships/slide" Target="slides/slide8.xml"/><Relationship Id="rId56" Type="http://schemas.openxmlformats.org/officeDocument/2006/relationships/slide" Target="slides/slide52.xml"/><Relationship Id="rId91" Type="http://schemas.openxmlformats.org/officeDocument/2006/relationships/slide" Target="slides/slide87.xml"/><Relationship Id="rId90" Type="http://schemas.openxmlformats.org/officeDocument/2006/relationships/slide" Target="slides/slide86.xml"/><Relationship Id="rId93" Type="http://schemas.openxmlformats.org/officeDocument/2006/relationships/slide" Target="slides/slide89.xml"/><Relationship Id="rId92" Type="http://schemas.openxmlformats.org/officeDocument/2006/relationships/slide" Target="slides/slide88.xml"/><Relationship Id="rId15" Type="http://schemas.openxmlformats.org/officeDocument/2006/relationships/slide" Target="slides/slide11.xml"/><Relationship Id="rId59" Type="http://schemas.openxmlformats.org/officeDocument/2006/relationships/slide" Target="slides/slide55.xml"/><Relationship Id="rId14" Type="http://schemas.openxmlformats.org/officeDocument/2006/relationships/slide" Target="slides/slide10.xml"/><Relationship Id="rId58" Type="http://schemas.openxmlformats.org/officeDocument/2006/relationships/slide" Target="slides/slide54.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 name="Google Shape;8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2" name="Google Shape;92;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8" name="Google Shape;98;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4" name="Google Shape;104;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0" name="Google Shape;110;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6" name="Google Shape;116;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2" name="Google Shape;122;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
        <p:nvSpPr>
          <p:cNvPr id="128" name="Google Shape;128;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
        <p:nvSpPr>
          <p:cNvPr id="134" name="Google Shape;134;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
        <p:nvSpPr>
          <p:cNvPr id="139" name="Google Shape;139;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4" name="Google Shape;144;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
        <p:nvSpPr>
          <p:cNvPr id="150" name="Google Shape;150;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6" name="Google Shape;156;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2" name="Google Shape;162;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
        <p:nvSpPr>
          <p:cNvPr id="168" name="Google Shape;168;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
        <p:nvSpPr>
          <p:cNvPr id="174" name="Google Shape;174;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0" name="Google Shape;180;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6" name="Google Shape;186;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
        <p:nvSpPr>
          <p:cNvPr id="192" name="Google Shape;192;p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
        <p:nvSpPr>
          <p:cNvPr id="197" name="Google Shape;197;p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
        <p:nvSpPr>
          <p:cNvPr id="203" name="Google Shape;203;p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
        <p:nvSpPr>
          <p:cNvPr id="209" name="Google Shape;209;p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
        <p:nvSpPr>
          <p:cNvPr id="215" name="Google Shape;215;p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
        <p:nvSpPr>
          <p:cNvPr id="221" name="Google Shape;221;p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
        <p:nvSpPr>
          <p:cNvPr id="227" name="Google Shape;227;p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
        <p:nvSpPr>
          <p:cNvPr id="233" name="Google Shape;233;p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
        <p:nvSpPr>
          <p:cNvPr id="239" name="Google Shape;239;p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
        <p:nvSpPr>
          <p:cNvPr id="245" name="Google Shape;245;p2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
        <p:nvSpPr>
          <p:cNvPr id="251" name="Google Shape;251;p2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
        <p:nvSpPr>
          <p:cNvPr id="257" name="Google Shape;257;p3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
        <p:nvSpPr>
          <p:cNvPr id="263" name="Google Shape;263;p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
        <p:nvSpPr>
          <p:cNvPr id="269" name="Google Shape;269;p3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3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5" name="Google Shape;275;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3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1" name="Google Shape;281;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p3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7" name="Google Shape;287;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p3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3" name="Google Shape;293;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p3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9" name="Google Shape;299;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p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
        <p:nvSpPr>
          <p:cNvPr id="305" name="Google Shape;305;p3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
        <p:nvSpPr>
          <p:cNvPr id="311" name="Google Shape;311;p3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p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
        <p:nvSpPr>
          <p:cNvPr id="317" name="Google Shape;317;p4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p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
        <p:nvSpPr>
          <p:cNvPr id="323" name="Google Shape;323;p4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p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
        <p:nvSpPr>
          <p:cNvPr id="329" name="Google Shape;329;p4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p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
        <p:nvSpPr>
          <p:cNvPr id="335" name="Google Shape;335;p4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
        <p:nvSpPr>
          <p:cNvPr id="341" name="Google Shape;341;p4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p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
        <p:nvSpPr>
          <p:cNvPr id="347" name="Google Shape;347;p4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p4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
        <p:nvSpPr>
          <p:cNvPr id="353" name="Google Shape;353;p4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p4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
        <p:nvSpPr>
          <p:cNvPr id="359" name="Google Shape;359;p4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p4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
        <p:nvSpPr>
          <p:cNvPr id="365" name="Google Shape;365;p4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4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
        <p:nvSpPr>
          <p:cNvPr id="371" name="Google Shape;371;p4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p5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
        <p:nvSpPr>
          <p:cNvPr id="377" name="Google Shape;377;p5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p5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3" name="Google Shape;383;p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p5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
        <p:nvSpPr>
          <p:cNvPr id="389" name="Google Shape;389;p5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p5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
        <p:nvSpPr>
          <p:cNvPr id="395" name="Google Shape;395;p5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p5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
        <p:nvSpPr>
          <p:cNvPr id="401" name="Google Shape;401;p5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p5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7" name="Google Shape;407;p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p5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
        <p:nvSpPr>
          <p:cNvPr id="413" name="Google Shape;413;p5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p5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
        <p:nvSpPr>
          <p:cNvPr id="419" name="Google Shape;419;p5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 name="Shape 423"/>
        <p:cNvGrpSpPr/>
        <p:nvPr/>
      </p:nvGrpSpPr>
      <p:grpSpPr>
        <a:xfrm>
          <a:off x="0" y="0"/>
          <a:ext cx="0" cy="0"/>
          <a:chOff x="0" y="0"/>
          <a:chExt cx="0" cy="0"/>
        </a:xfrm>
      </p:grpSpPr>
      <p:sp>
        <p:nvSpPr>
          <p:cNvPr id="424" name="Google Shape;424;p5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
        <p:nvSpPr>
          <p:cNvPr id="425" name="Google Shape;425;p5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p5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
        <p:nvSpPr>
          <p:cNvPr id="431" name="Google Shape;431;p5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p6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
        <p:nvSpPr>
          <p:cNvPr id="437" name="Google Shape;437;p6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 name="Shape 441"/>
        <p:cNvGrpSpPr/>
        <p:nvPr/>
      </p:nvGrpSpPr>
      <p:grpSpPr>
        <a:xfrm>
          <a:off x="0" y="0"/>
          <a:ext cx="0" cy="0"/>
          <a:chOff x="0" y="0"/>
          <a:chExt cx="0" cy="0"/>
        </a:xfrm>
      </p:grpSpPr>
      <p:sp>
        <p:nvSpPr>
          <p:cNvPr id="442" name="Google Shape;442;p6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
        <p:nvSpPr>
          <p:cNvPr id="443" name="Google Shape;443;p6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7" name="Shape 447"/>
        <p:cNvGrpSpPr/>
        <p:nvPr/>
      </p:nvGrpSpPr>
      <p:grpSpPr>
        <a:xfrm>
          <a:off x="0" y="0"/>
          <a:ext cx="0" cy="0"/>
          <a:chOff x="0" y="0"/>
          <a:chExt cx="0" cy="0"/>
        </a:xfrm>
      </p:grpSpPr>
      <p:sp>
        <p:nvSpPr>
          <p:cNvPr id="448" name="Google Shape;448;p6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
        <p:nvSpPr>
          <p:cNvPr id="449" name="Google Shape;449;p6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3" name="Shape 453"/>
        <p:cNvGrpSpPr/>
        <p:nvPr/>
      </p:nvGrpSpPr>
      <p:grpSpPr>
        <a:xfrm>
          <a:off x="0" y="0"/>
          <a:ext cx="0" cy="0"/>
          <a:chOff x="0" y="0"/>
          <a:chExt cx="0" cy="0"/>
        </a:xfrm>
      </p:grpSpPr>
      <p:sp>
        <p:nvSpPr>
          <p:cNvPr id="454" name="Google Shape;454;p6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
        <p:nvSpPr>
          <p:cNvPr id="455" name="Google Shape;455;p6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p6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
        <p:nvSpPr>
          <p:cNvPr id="460" name="Google Shape;460;p6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p6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
        <p:nvSpPr>
          <p:cNvPr id="466" name="Google Shape;466;p6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p6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
        <p:nvSpPr>
          <p:cNvPr id="472" name="Google Shape;472;p6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6" name="Shape 476"/>
        <p:cNvGrpSpPr/>
        <p:nvPr/>
      </p:nvGrpSpPr>
      <p:grpSpPr>
        <a:xfrm>
          <a:off x="0" y="0"/>
          <a:ext cx="0" cy="0"/>
          <a:chOff x="0" y="0"/>
          <a:chExt cx="0" cy="0"/>
        </a:xfrm>
      </p:grpSpPr>
      <p:sp>
        <p:nvSpPr>
          <p:cNvPr id="477" name="Google Shape;477;p6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
        <p:nvSpPr>
          <p:cNvPr id="478" name="Google Shape;478;p6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p6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4" name="Google Shape;484;p6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
        <p:nvSpPr>
          <p:cNvPr id="485" name="Google Shape;485;p6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1200"/>
              <a:buFont typeface="Calibri"/>
              <a:buNone/>
            </a:pPr>
            <a:fld id="{00000000-1234-1234-1234-123412341234}" type="slidenum">
              <a:rPr lang="en"/>
              <a:t>‹#›</a:t>
            </a:fld>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 name="Shape 488"/>
        <p:cNvGrpSpPr/>
        <p:nvPr/>
      </p:nvGrpSpPr>
      <p:grpSpPr>
        <a:xfrm>
          <a:off x="0" y="0"/>
          <a:ext cx="0" cy="0"/>
          <a:chOff x="0" y="0"/>
          <a:chExt cx="0" cy="0"/>
        </a:xfrm>
      </p:grpSpPr>
      <p:sp>
        <p:nvSpPr>
          <p:cNvPr id="489" name="Google Shape;489;p6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
        <p:nvSpPr>
          <p:cNvPr id="490" name="Google Shape;490;p6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p7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
        <p:nvSpPr>
          <p:cNvPr id="496" name="Google Shape;496;p7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0" name="Shape 500"/>
        <p:cNvGrpSpPr/>
        <p:nvPr/>
      </p:nvGrpSpPr>
      <p:grpSpPr>
        <a:xfrm>
          <a:off x="0" y="0"/>
          <a:ext cx="0" cy="0"/>
          <a:chOff x="0" y="0"/>
          <a:chExt cx="0" cy="0"/>
        </a:xfrm>
      </p:grpSpPr>
      <p:sp>
        <p:nvSpPr>
          <p:cNvPr id="501" name="Google Shape;501;p7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
        <p:nvSpPr>
          <p:cNvPr id="502" name="Google Shape;502;p7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6" name="Shape 506"/>
        <p:cNvGrpSpPr/>
        <p:nvPr/>
      </p:nvGrpSpPr>
      <p:grpSpPr>
        <a:xfrm>
          <a:off x="0" y="0"/>
          <a:ext cx="0" cy="0"/>
          <a:chOff x="0" y="0"/>
          <a:chExt cx="0" cy="0"/>
        </a:xfrm>
      </p:grpSpPr>
      <p:sp>
        <p:nvSpPr>
          <p:cNvPr id="507" name="Google Shape;507;p7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
        <p:nvSpPr>
          <p:cNvPr id="508" name="Google Shape;508;p7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2" name="Shape 512"/>
        <p:cNvGrpSpPr/>
        <p:nvPr/>
      </p:nvGrpSpPr>
      <p:grpSpPr>
        <a:xfrm>
          <a:off x="0" y="0"/>
          <a:ext cx="0" cy="0"/>
          <a:chOff x="0" y="0"/>
          <a:chExt cx="0" cy="0"/>
        </a:xfrm>
      </p:grpSpPr>
      <p:sp>
        <p:nvSpPr>
          <p:cNvPr id="513" name="Google Shape;513;p7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
        <p:nvSpPr>
          <p:cNvPr id="514" name="Google Shape;514;p7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8" name="Shape 518"/>
        <p:cNvGrpSpPr/>
        <p:nvPr/>
      </p:nvGrpSpPr>
      <p:grpSpPr>
        <a:xfrm>
          <a:off x="0" y="0"/>
          <a:ext cx="0" cy="0"/>
          <a:chOff x="0" y="0"/>
          <a:chExt cx="0" cy="0"/>
        </a:xfrm>
      </p:grpSpPr>
      <p:sp>
        <p:nvSpPr>
          <p:cNvPr id="519" name="Google Shape;519;p7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
        <p:nvSpPr>
          <p:cNvPr id="520" name="Google Shape;520;p7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p7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6" name="Google Shape;526;p7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0" name="Shape 530"/>
        <p:cNvGrpSpPr/>
        <p:nvPr/>
      </p:nvGrpSpPr>
      <p:grpSpPr>
        <a:xfrm>
          <a:off x="0" y="0"/>
          <a:ext cx="0" cy="0"/>
          <a:chOff x="0" y="0"/>
          <a:chExt cx="0" cy="0"/>
        </a:xfrm>
      </p:grpSpPr>
      <p:sp>
        <p:nvSpPr>
          <p:cNvPr id="531" name="Google Shape;531;p7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2" name="Google Shape;532;p7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6" name="Shape 536"/>
        <p:cNvGrpSpPr/>
        <p:nvPr/>
      </p:nvGrpSpPr>
      <p:grpSpPr>
        <a:xfrm>
          <a:off x="0" y="0"/>
          <a:ext cx="0" cy="0"/>
          <a:chOff x="0" y="0"/>
          <a:chExt cx="0" cy="0"/>
        </a:xfrm>
      </p:grpSpPr>
      <p:sp>
        <p:nvSpPr>
          <p:cNvPr id="537" name="Google Shape;537;p7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
        <p:nvSpPr>
          <p:cNvPr id="538" name="Google Shape;538;p7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2" name="Shape 542"/>
        <p:cNvGrpSpPr/>
        <p:nvPr/>
      </p:nvGrpSpPr>
      <p:grpSpPr>
        <a:xfrm>
          <a:off x="0" y="0"/>
          <a:ext cx="0" cy="0"/>
          <a:chOff x="0" y="0"/>
          <a:chExt cx="0" cy="0"/>
        </a:xfrm>
      </p:grpSpPr>
      <p:sp>
        <p:nvSpPr>
          <p:cNvPr id="543" name="Google Shape;543;p7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
        <p:nvSpPr>
          <p:cNvPr id="544" name="Google Shape;544;p7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8" name="Shape 548"/>
        <p:cNvGrpSpPr/>
        <p:nvPr/>
      </p:nvGrpSpPr>
      <p:grpSpPr>
        <a:xfrm>
          <a:off x="0" y="0"/>
          <a:ext cx="0" cy="0"/>
          <a:chOff x="0" y="0"/>
          <a:chExt cx="0" cy="0"/>
        </a:xfrm>
      </p:grpSpPr>
      <p:sp>
        <p:nvSpPr>
          <p:cNvPr id="549" name="Google Shape;549;p7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
        <p:nvSpPr>
          <p:cNvPr id="550" name="Google Shape;550;p7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3" name="Shape 553"/>
        <p:cNvGrpSpPr/>
        <p:nvPr/>
      </p:nvGrpSpPr>
      <p:grpSpPr>
        <a:xfrm>
          <a:off x="0" y="0"/>
          <a:ext cx="0" cy="0"/>
          <a:chOff x="0" y="0"/>
          <a:chExt cx="0" cy="0"/>
        </a:xfrm>
      </p:grpSpPr>
      <p:sp>
        <p:nvSpPr>
          <p:cNvPr id="554" name="Google Shape;554;p8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
        <p:nvSpPr>
          <p:cNvPr id="555" name="Google Shape;555;p8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p8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
        <p:nvSpPr>
          <p:cNvPr id="561" name="Google Shape;561;p8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p8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
        <p:nvSpPr>
          <p:cNvPr id="566" name="Google Shape;566;p8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0" name="Shape 570"/>
        <p:cNvGrpSpPr/>
        <p:nvPr/>
      </p:nvGrpSpPr>
      <p:grpSpPr>
        <a:xfrm>
          <a:off x="0" y="0"/>
          <a:ext cx="0" cy="0"/>
          <a:chOff x="0" y="0"/>
          <a:chExt cx="0" cy="0"/>
        </a:xfrm>
      </p:grpSpPr>
      <p:sp>
        <p:nvSpPr>
          <p:cNvPr id="571" name="Google Shape;571;p8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
        <p:nvSpPr>
          <p:cNvPr id="572" name="Google Shape;572;p8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6" name="Shape 576"/>
        <p:cNvGrpSpPr/>
        <p:nvPr/>
      </p:nvGrpSpPr>
      <p:grpSpPr>
        <a:xfrm>
          <a:off x="0" y="0"/>
          <a:ext cx="0" cy="0"/>
          <a:chOff x="0" y="0"/>
          <a:chExt cx="0" cy="0"/>
        </a:xfrm>
      </p:grpSpPr>
      <p:sp>
        <p:nvSpPr>
          <p:cNvPr id="577" name="Google Shape;577;p8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8" name="Google Shape;578;p8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2" name="Shape 582"/>
        <p:cNvGrpSpPr/>
        <p:nvPr/>
      </p:nvGrpSpPr>
      <p:grpSpPr>
        <a:xfrm>
          <a:off x="0" y="0"/>
          <a:ext cx="0" cy="0"/>
          <a:chOff x="0" y="0"/>
          <a:chExt cx="0" cy="0"/>
        </a:xfrm>
      </p:grpSpPr>
      <p:sp>
        <p:nvSpPr>
          <p:cNvPr id="583" name="Google Shape;583;p8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
        <p:nvSpPr>
          <p:cNvPr id="584" name="Google Shape;584;p8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8" name="Shape 588"/>
        <p:cNvGrpSpPr/>
        <p:nvPr/>
      </p:nvGrpSpPr>
      <p:grpSpPr>
        <a:xfrm>
          <a:off x="0" y="0"/>
          <a:ext cx="0" cy="0"/>
          <a:chOff x="0" y="0"/>
          <a:chExt cx="0" cy="0"/>
        </a:xfrm>
      </p:grpSpPr>
      <p:sp>
        <p:nvSpPr>
          <p:cNvPr id="589" name="Google Shape;589;p8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
        <p:nvSpPr>
          <p:cNvPr id="590" name="Google Shape;590;p8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4" name="Shape 594"/>
        <p:cNvGrpSpPr/>
        <p:nvPr/>
      </p:nvGrpSpPr>
      <p:grpSpPr>
        <a:xfrm>
          <a:off x="0" y="0"/>
          <a:ext cx="0" cy="0"/>
          <a:chOff x="0" y="0"/>
          <a:chExt cx="0" cy="0"/>
        </a:xfrm>
      </p:grpSpPr>
      <p:sp>
        <p:nvSpPr>
          <p:cNvPr id="595" name="Google Shape;595;p8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6" name="Google Shape;596;p8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0" name="Shape 600"/>
        <p:cNvGrpSpPr/>
        <p:nvPr/>
      </p:nvGrpSpPr>
      <p:grpSpPr>
        <a:xfrm>
          <a:off x="0" y="0"/>
          <a:ext cx="0" cy="0"/>
          <a:chOff x="0" y="0"/>
          <a:chExt cx="0" cy="0"/>
        </a:xfrm>
      </p:grpSpPr>
      <p:sp>
        <p:nvSpPr>
          <p:cNvPr id="601" name="Google Shape;601;p8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
        <p:nvSpPr>
          <p:cNvPr id="602" name="Google Shape;602;p8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6" name="Shape 606"/>
        <p:cNvGrpSpPr/>
        <p:nvPr/>
      </p:nvGrpSpPr>
      <p:grpSpPr>
        <a:xfrm>
          <a:off x="0" y="0"/>
          <a:ext cx="0" cy="0"/>
          <a:chOff x="0" y="0"/>
          <a:chExt cx="0" cy="0"/>
        </a:xfrm>
      </p:grpSpPr>
      <p:sp>
        <p:nvSpPr>
          <p:cNvPr id="607" name="Google Shape;607;p8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8" name="Google Shape;608;p8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2" name="Shape 612"/>
        <p:cNvGrpSpPr/>
        <p:nvPr/>
      </p:nvGrpSpPr>
      <p:grpSpPr>
        <a:xfrm>
          <a:off x="0" y="0"/>
          <a:ext cx="0" cy="0"/>
          <a:chOff x="0" y="0"/>
          <a:chExt cx="0" cy="0"/>
        </a:xfrm>
      </p:grpSpPr>
      <p:sp>
        <p:nvSpPr>
          <p:cNvPr id="613" name="Google Shape;613;p9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4" name="Google Shape;614;p9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92"/>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92"/>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9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9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9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9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9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9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9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9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94"/>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94"/>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0" name="Google Shape;30;p9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9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9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9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95"/>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95"/>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9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9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9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96"/>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96"/>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96"/>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96"/>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96"/>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9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9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9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9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9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9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9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9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9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9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9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9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9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9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9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9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10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100"/>
          <p:cNvSpPr/>
          <p:nvPr>
            <p:ph idx="2" type="pic"/>
          </p:nvPr>
        </p:nvSpPr>
        <p:spPr>
          <a:xfrm>
            <a:off x="5183188" y="987425"/>
            <a:ext cx="6172200" cy="4873625"/>
          </a:xfrm>
          <a:prstGeom prst="rect">
            <a:avLst/>
          </a:prstGeom>
          <a:noFill/>
          <a:ln>
            <a:noFill/>
          </a:ln>
        </p:spPr>
      </p:sp>
      <p:sp>
        <p:nvSpPr>
          <p:cNvPr id="68" name="Google Shape;68;p10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10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0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0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10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10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10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0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0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10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10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10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0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0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9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9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9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9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9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6000"/>
              <a:buFont typeface="Times New Roman"/>
              <a:buNone/>
            </a:pPr>
            <a:r>
              <a:rPr lang="en">
                <a:latin typeface="Times New Roman"/>
                <a:ea typeface="Times New Roman"/>
                <a:cs typeface="Times New Roman"/>
                <a:sym typeface="Times New Roman"/>
              </a:rPr>
              <a:t>CIVIL LITIGATION </a:t>
            </a:r>
            <a:br>
              <a:rPr lang="en">
                <a:latin typeface="Times New Roman"/>
                <a:ea typeface="Times New Roman"/>
                <a:cs typeface="Times New Roman"/>
                <a:sym typeface="Times New Roman"/>
              </a:rPr>
            </a:br>
            <a:r>
              <a:rPr lang="en">
                <a:latin typeface="Times New Roman"/>
                <a:ea typeface="Times New Roman"/>
                <a:cs typeface="Times New Roman"/>
                <a:sym typeface="Times New Roman"/>
              </a:rPr>
              <a:t>WEEK 7</a:t>
            </a:r>
            <a:endParaRPr>
              <a:latin typeface="Times New Roman"/>
              <a:ea typeface="Times New Roman"/>
              <a:cs typeface="Times New Roman"/>
              <a:sym typeface="Times New Roman"/>
            </a:endParaRPr>
          </a:p>
        </p:txBody>
      </p:sp>
      <p:sp>
        <p:nvSpPr>
          <p:cNvPr id="89" name="Google Shape;89;p1"/>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4000"/>
              <a:buNone/>
            </a:pPr>
            <a:r>
              <a:rPr lang="en" sz="4000">
                <a:latin typeface="Times New Roman"/>
                <a:ea typeface="Times New Roman"/>
                <a:cs typeface="Times New Roman"/>
                <a:sym typeface="Times New Roman"/>
              </a:rPr>
              <a:t>INTERLOCUTORY APPLICATIONS AND ORDERS</a:t>
            </a:r>
            <a:endParaRPr sz="4000">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2"/>
          <p:cNvSpPr txBox="1"/>
          <p:nvPr>
            <p:ph type="title"/>
          </p:nvPr>
        </p:nvSpPr>
        <p:spPr>
          <a:xfrm>
            <a:off x="838200" y="203076"/>
            <a:ext cx="10515600" cy="595574"/>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90000"/>
              </a:lnSpc>
              <a:spcBef>
                <a:spcPts val="0"/>
              </a:spcBef>
              <a:spcAft>
                <a:spcPts val="0"/>
              </a:spcAft>
              <a:buClr>
                <a:schemeClr val="dk1"/>
              </a:buClr>
              <a:buSzPct val="100000"/>
              <a:buFont typeface="Times New Roman"/>
              <a:buNone/>
            </a:pPr>
            <a:r>
              <a:rPr b="1" lang="en">
                <a:latin typeface="Times New Roman"/>
                <a:ea typeface="Times New Roman"/>
                <a:cs typeface="Times New Roman"/>
                <a:sym typeface="Times New Roman"/>
              </a:rPr>
              <a:t>CONTENTS</a:t>
            </a:r>
            <a:endParaRPr/>
          </a:p>
        </p:txBody>
      </p:sp>
      <p:sp>
        <p:nvSpPr>
          <p:cNvPr id="95" name="Google Shape;95;p2"/>
          <p:cNvSpPr txBox="1"/>
          <p:nvPr>
            <p:ph idx="1" type="body"/>
          </p:nvPr>
        </p:nvSpPr>
        <p:spPr>
          <a:xfrm>
            <a:off x="838200" y="1006997"/>
            <a:ext cx="10515600" cy="5169966"/>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en"/>
              <a:t>1. Meaning, nature, scope, and mode of interlocutory applications</a:t>
            </a:r>
            <a:endParaRPr/>
          </a:p>
          <a:p>
            <a:pPr indent="0" lvl="0" marL="0" rtl="0" algn="l">
              <a:lnSpc>
                <a:spcPct val="90000"/>
              </a:lnSpc>
              <a:spcBef>
                <a:spcPts val="1000"/>
              </a:spcBef>
              <a:spcAft>
                <a:spcPts val="0"/>
              </a:spcAft>
              <a:buClr>
                <a:schemeClr val="dk1"/>
              </a:buClr>
              <a:buSzPts val="2800"/>
              <a:buNone/>
            </a:pPr>
            <a:r>
              <a:rPr lang="en"/>
              <a:t>2. Interlocutory applications by mode of motion (meaning of motions, types of motion-ex parte and notice, contents of motion, drafting of motion, hearing of motion, moving of motion)</a:t>
            </a:r>
            <a:endParaRPr/>
          </a:p>
          <a:p>
            <a:pPr indent="0" lvl="0" marL="0" rtl="0" algn="l">
              <a:lnSpc>
                <a:spcPct val="90000"/>
              </a:lnSpc>
              <a:spcBef>
                <a:spcPts val="1000"/>
              </a:spcBef>
              <a:spcAft>
                <a:spcPts val="0"/>
              </a:spcAft>
              <a:buClr>
                <a:schemeClr val="dk1"/>
              </a:buClr>
              <a:buSzPts val="2800"/>
              <a:buNone/>
            </a:pPr>
            <a:r>
              <a:rPr lang="en"/>
              <a:t>3. Affidavit </a:t>
            </a:r>
            <a:endParaRPr/>
          </a:p>
          <a:p>
            <a:pPr indent="0" lvl="0" marL="0" rtl="0" algn="l">
              <a:lnSpc>
                <a:spcPct val="90000"/>
              </a:lnSpc>
              <a:spcBef>
                <a:spcPts val="1000"/>
              </a:spcBef>
              <a:spcAft>
                <a:spcPts val="0"/>
              </a:spcAft>
              <a:buClr>
                <a:schemeClr val="dk1"/>
              </a:buClr>
              <a:buSzPts val="2800"/>
              <a:buNone/>
            </a:pPr>
            <a:r>
              <a:rPr lang="en"/>
              <a:t>4. Written address</a:t>
            </a:r>
            <a:endParaRPr/>
          </a:p>
          <a:p>
            <a:pPr indent="0" lvl="0" marL="0" rtl="0" algn="l">
              <a:lnSpc>
                <a:spcPct val="90000"/>
              </a:lnSpc>
              <a:spcBef>
                <a:spcPts val="1000"/>
              </a:spcBef>
              <a:spcAft>
                <a:spcPts val="0"/>
              </a:spcAft>
              <a:buClr>
                <a:schemeClr val="dk1"/>
              </a:buClr>
              <a:buSzPts val="2800"/>
              <a:buNone/>
            </a:pPr>
            <a:r>
              <a:rPr lang="en"/>
              <a:t>5. Some specific interlocutory orders and application-interim injunction, interlocutory injunction, mareva injunction, anton piller injunction, interpleader proceedings</a:t>
            </a:r>
            <a:endParaRPr/>
          </a:p>
          <a:p>
            <a:pPr indent="0" lvl="0" marL="0" rtl="0" algn="l">
              <a:lnSpc>
                <a:spcPct val="90000"/>
              </a:lnSpc>
              <a:spcBef>
                <a:spcPts val="1000"/>
              </a:spcBef>
              <a:spcAft>
                <a:spcPts val="0"/>
              </a:spcAft>
              <a:buClr>
                <a:schemeClr val="dk1"/>
              </a:buClr>
              <a:buSzPts val="2800"/>
              <a:buNone/>
            </a:pPr>
            <a:r>
              <a:rPr lang="en"/>
              <a:t>6. Ethical issues relating to interlocutory applications </a:t>
            </a:r>
            <a:endParaRPr/>
          </a:p>
          <a:p>
            <a:pPr indent="0" lvl="0" marL="0" rtl="0" algn="l">
              <a:lnSpc>
                <a:spcPct val="90000"/>
              </a:lnSpc>
              <a:spcBef>
                <a:spcPts val="1000"/>
              </a:spcBef>
              <a:spcAft>
                <a:spcPts val="0"/>
              </a:spcAft>
              <a:buClr>
                <a:schemeClr val="dk1"/>
              </a:buClr>
              <a:buSzPts val="2800"/>
              <a:buNone/>
            </a:pPr>
            <a:r>
              <a:rPr lang="en"/>
              <a:t>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3"/>
          <p:cNvSpPr txBox="1"/>
          <p:nvPr>
            <p:ph type="title"/>
          </p:nvPr>
        </p:nvSpPr>
        <p:spPr>
          <a:xfrm>
            <a:off x="838200" y="365125"/>
            <a:ext cx="10515600" cy="688171"/>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90000"/>
              </a:lnSpc>
              <a:spcBef>
                <a:spcPts val="0"/>
              </a:spcBef>
              <a:spcAft>
                <a:spcPts val="0"/>
              </a:spcAft>
              <a:buClr>
                <a:schemeClr val="dk1"/>
              </a:buClr>
              <a:buSzPct val="100000"/>
              <a:buFont typeface="Times New Roman"/>
              <a:buNone/>
            </a:pPr>
            <a:r>
              <a:rPr b="1" lang="en">
                <a:latin typeface="Times New Roman"/>
                <a:ea typeface="Times New Roman"/>
                <a:cs typeface="Times New Roman"/>
                <a:sym typeface="Times New Roman"/>
              </a:rPr>
              <a:t>OUTCOMES</a:t>
            </a:r>
            <a:endParaRPr>
              <a:latin typeface="Times New Roman"/>
              <a:ea typeface="Times New Roman"/>
              <a:cs typeface="Times New Roman"/>
              <a:sym typeface="Times New Roman"/>
            </a:endParaRPr>
          </a:p>
        </p:txBody>
      </p:sp>
      <p:sp>
        <p:nvSpPr>
          <p:cNvPr id="101" name="Google Shape;101;p3"/>
          <p:cNvSpPr txBox="1"/>
          <p:nvPr>
            <p:ph idx="1" type="body"/>
          </p:nvPr>
        </p:nvSpPr>
        <p:spPr>
          <a:xfrm>
            <a:off x="838200" y="1203767"/>
            <a:ext cx="10515600" cy="4973196"/>
          </a:xfrm>
          <a:prstGeom prst="rect">
            <a:avLst/>
          </a:prstGeom>
          <a:noFill/>
          <a:ln>
            <a:noFill/>
          </a:ln>
        </p:spPr>
        <p:txBody>
          <a:bodyPr anchorCtr="0" anchor="t" bIns="45700" lIns="91425" spcFirstLastPara="1" rIns="91425" wrap="square" tIns="45700">
            <a:normAutofit fontScale="92500" lnSpcReduction="10000"/>
          </a:bodyPr>
          <a:lstStyle/>
          <a:p>
            <a:pPr indent="0" lvl="0" marL="0" rtl="0" algn="l">
              <a:lnSpc>
                <a:spcPct val="90000"/>
              </a:lnSpc>
              <a:spcBef>
                <a:spcPts val="0"/>
              </a:spcBef>
              <a:spcAft>
                <a:spcPts val="0"/>
              </a:spcAft>
              <a:buClr>
                <a:schemeClr val="dk1"/>
              </a:buClr>
              <a:buSzPct val="100000"/>
              <a:buNone/>
            </a:pPr>
            <a:r>
              <a:rPr lang="en"/>
              <a:t>At the end of this lesson students would be able to:</a:t>
            </a:r>
            <a:endParaRPr/>
          </a:p>
          <a:p>
            <a:pPr indent="0" lvl="0" marL="0" rtl="0" algn="l">
              <a:lnSpc>
                <a:spcPct val="90000"/>
              </a:lnSpc>
              <a:spcBef>
                <a:spcPts val="1000"/>
              </a:spcBef>
              <a:spcAft>
                <a:spcPts val="0"/>
              </a:spcAft>
              <a:buClr>
                <a:schemeClr val="dk1"/>
              </a:buClr>
              <a:buSzPct val="100000"/>
              <a:buNone/>
            </a:pPr>
            <a:r>
              <a:rPr lang="en"/>
              <a:t>i. explain the meaning of interlocutory applications and list examples;</a:t>
            </a:r>
            <a:endParaRPr/>
          </a:p>
          <a:p>
            <a:pPr indent="0" lvl="0" marL="0" rtl="0" algn="l">
              <a:lnSpc>
                <a:spcPct val="90000"/>
              </a:lnSpc>
              <a:spcBef>
                <a:spcPts val="1000"/>
              </a:spcBef>
              <a:spcAft>
                <a:spcPts val="0"/>
              </a:spcAft>
              <a:buClr>
                <a:schemeClr val="dk1"/>
              </a:buClr>
              <a:buSzPct val="100000"/>
              <a:buNone/>
            </a:pPr>
            <a:r>
              <a:rPr lang="en"/>
              <a:t>ii. identify and discuss the principles and scope of the following interlocutory orders and applications - Interim Injuctions, Interlocutory Injunctions, Mareva Injunction, Anton Piller Injunction; and Interpleader;</a:t>
            </a:r>
            <a:endParaRPr/>
          </a:p>
          <a:p>
            <a:pPr indent="0" lvl="0" marL="0" rtl="0" algn="l">
              <a:lnSpc>
                <a:spcPct val="90000"/>
              </a:lnSpc>
              <a:spcBef>
                <a:spcPts val="1000"/>
              </a:spcBef>
              <a:spcAft>
                <a:spcPts val="0"/>
              </a:spcAft>
              <a:buClr>
                <a:schemeClr val="dk1"/>
              </a:buClr>
              <a:buSzPct val="100000"/>
              <a:buNone/>
            </a:pPr>
            <a:r>
              <a:rPr lang="en"/>
              <a:t>iii. explain the meaning, types and list the contents of a motion;</a:t>
            </a:r>
            <a:endParaRPr/>
          </a:p>
          <a:p>
            <a:pPr indent="0" lvl="0" marL="0" rtl="0" algn="l">
              <a:lnSpc>
                <a:spcPct val="90000"/>
              </a:lnSpc>
              <a:spcBef>
                <a:spcPts val="1000"/>
              </a:spcBef>
              <a:spcAft>
                <a:spcPts val="0"/>
              </a:spcAft>
              <a:buClr>
                <a:schemeClr val="dk1"/>
              </a:buClr>
              <a:buSzPct val="100000"/>
              <a:buNone/>
            </a:pPr>
            <a:r>
              <a:rPr lang="en"/>
              <a:t>iv. state and explain the principles regarding affidavit evidence;</a:t>
            </a:r>
            <a:endParaRPr/>
          </a:p>
          <a:p>
            <a:pPr indent="0" lvl="0" marL="0" rtl="0" algn="l">
              <a:lnSpc>
                <a:spcPct val="90000"/>
              </a:lnSpc>
              <a:spcBef>
                <a:spcPts val="1000"/>
              </a:spcBef>
              <a:spcAft>
                <a:spcPts val="0"/>
              </a:spcAft>
              <a:buClr>
                <a:schemeClr val="dk1"/>
              </a:buClr>
              <a:buSzPct val="100000"/>
              <a:buNone/>
            </a:pPr>
            <a:r>
              <a:rPr lang="en"/>
              <a:t>v. draft and argue simple motions (affidavits in support inclusive); and </a:t>
            </a:r>
            <a:endParaRPr/>
          </a:p>
          <a:p>
            <a:pPr indent="0" lvl="0" marL="0" rtl="0" algn="l">
              <a:lnSpc>
                <a:spcPct val="90000"/>
              </a:lnSpc>
              <a:spcBef>
                <a:spcPts val="1000"/>
              </a:spcBef>
              <a:spcAft>
                <a:spcPts val="0"/>
              </a:spcAft>
              <a:buClr>
                <a:schemeClr val="dk1"/>
              </a:buClr>
              <a:buSzPct val="100000"/>
              <a:buNone/>
            </a:pPr>
            <a:r>
              <a:rPr lang="en"/>
              <a:t>vi. identify and state the ethical issues involved in interlocutory applications-abuse of ex-parte injunctions, swearing of affidavits by counsel, suppression of facts in ex parte applications, falsification/misrepresentation of facts in affidavits, and late filing of motions and counter affidavits.</a:t>
            </a:r>
            <a:endParaRPr/>
          </a:p>
          <a:p>
            <a:pPr indent="0" lvl="0" marL="0" rtl="0" algn="l">
              <a:lnSpc>
                <a:spcPct val="90000"/>
              </a:lnSpc>
              <a:spcBef>
                <a:spcPts val="1000"/>
              </a:spcBef>
              <a:spcAft>
                <a:spcPts val="0"/>
              </a:spcAft>
              <a:buClr>
                <a:schemeClr val="dk1"/>
              </a:buClr>
              <a:buSzPct val="100000"/>
              <a:buNone/>
            </a:pPr>
            <a:r>
              <a:t/>
            </a:r>
            <a:endParaRPr>
              <a:latin typeface="Times New Roman"/>
              <a:ea typeface="Times New Roman"/>
              <a:cs typeface="Times New Roman"/>
              <a:sym typeface="Times New Roman"/>
            </a:endParaRPr>
          </a:p>
          <a:p>
            <a:pPr indent="0" lvl="0" marL="0" rtl="0" algn="ctr">
              <a:lnSpc>
                <a:spcPct val="90000"/>
              </a:lnSpc>
              <a:spcBef>
                <a:spcPts val="1000"/>
              </a:spcBef>
              <a:spcAft>
                <a:spcPts val="0"/>
              </a:spcAft>
              <a:buClr>
                <a:schemeClr val="dk1"/>
              </a:buClr>
              <a:buSzPct val="100000"/>
              <a:buNone/>
            </a:pPr>
            <a:r>
              <a:t/>
            </a:r>
            <a:endParaRPr>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b="1" lang="en"/>
              <a:t>MEANING, NATURE, SCOPE, AND MODE OF INTERLOCUTORY APPLICATIONS</a:t>
            </a:r>
            <a:endParaRPr/>
          </a:p>
        </p:txBody>
      </p:sp>
      <p:sp>
        <p:nvSpPr>
          <p:cNvPr id="107" name="Google Shape;107;p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5"/>
          <p:cNvSpPr txBox="1"/>
          <p:nvPr>
            <p:ph type="title"/>
          </p:nvPr>
        </p:nvSpPr>
        <p:spPr>
          <a:xfrm>
            <a:off x="838200" y="365126"/>
            <a:ext cx="10515600" cy="1046986"/>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chemeClr val="dk1"/>
              </a:buClr>
              <a:buSzPts val="4000"/>
              <a:buFont typeface="Calibri"/>
              <a:buNone/>
            </a:pPr>
            <a:r>
              <a:rPr b="1" lang="en" sz="4000"/>
              <a:t>Meaning, nature and scope of interlocutory applications </a:t>
            </a:r>
            <a:endParaRPr b="1" sz="4000">
              <a:latin typeface="Times New Roman"/>
              <a:ea typeface="Times New Roman"/>
              <a:cs typeface="Times New Roman"/>
              <a:sym typeface="Times New Roman"/>
            </a:endParaRPr>
          </a:p>
        </p:txBody>
      </p:sp>
      <p:sp>
        <p:nvSpPr>
          <p:cNvPr id="113" name="Google Shape;113;p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54000" lvl="0" marL="228600" rtl="0" algn="l">
              <a:lnSpc>
                <a:spcPct val="90000"/>
              </a:lnSpc>
              <a:spcBef>
                <a:spcPts val="0"/>
              </a:spcBef>
              <a:spcAft>
                <a:spcPts val="0"/>
              </a:spcAft>
              <a:buClr>
                <a:schemeClr val="dk1"/>
              </a:buClr>
              <a:buSzPts val="4000"/>
              <a:buFont typeface="Noto Sans Symbols"/>
              <a:buChar char="⮚"/>
            </a:pPr>
            <a:r>
              <a:rPr lang="en">
                <a:latin typeface="Times New Roman"/>
                <a:ea typeface="Times New Roman"/>
                <a:cs typeface="Times New Roman"/>
                <a:sym typeface="Times New Roman"/>
              </a:rPr>
              <a:t>Interlocutory applications are applications made to the court while an action is pending.</a:t>
            </a:r>
            <a:endParaRPr/>
          </a:p>
          <a:p>
            <a:pPr indent="-254000" lvl="0" marL="228600" rtl="0" algn="l">
              <a:lnSpc>
                <a:spcPct val="90000"/>
              </a:lnSpc>
              <a:spcBef>
                <a:spcPts val="1067"/>
              </a:spcBef>
              <a:spcAft>
                <a:spcPts val="0"/>
              </a:spcAft>
              <a:buClr>
                <a:schemeClr val="dk1"/>
              </a:buClr>
              <a:buSzPts val="4000"/>
              <a:buFont typeface="Noto Sans Symbols"/>
              <a:buChar char="⮚"/>
            </a:pPr>
            <a:r>
              <a:rPr lang="en">
                <a:latin typeface="Times New Roman"/>
                <a:ea typeface="Times New Roman"/>
                <a:cs typeface="Times New Roman"/>
                <a:sym typeface="Times New Roman"/>
              </a:rPr>
              <a:t>It is  “interlocutory” because it is tied to a suit. </a:t>
            </a:r>
            <a:endParaRPr/>
          </a:p>
          <a:p>
            <a:pPr indent="-254000" lvl="0" marL="228600" rtl="0" algn="l">
              <a:lnSpc>
                <a:spcPct val="90000"/>
              </a:lnSpc>
              <a:spcBef>
                <a:spcPts val="1067"/>
              </a:spcBef>
              <a:spcAft>
                <a:spcPts val="0"/>
              </a:spcAft>
              <a:buClr>
                <a:schemeClr val="dk1"/>
              </a:buClr>
              <a:buSzPts val="4000"/>
              <a:buFont typeface="Noto Sans Symbols"/>
              <a:buChar char="⮚"/>
            </a:pPr>
            <a:r>
              <a:rPr lang="en">
                <a:latin typeface="Times New Roman"/>
                <a:ea typeface="Times New Roman"/>
                <a:cs typeface="Times New Roman"/>
                <a:sym typeface="Times New Roman"/>
              </a:rPr>
              <a:t>It can be made during or after trial.</a:t>
            </a:r>
            <a:endParaRPr/>
          </a:p>
          <a:p>
            <a:pPr indent="-254000" lvl="0" marL="228600" rtl="0" algn="l">
              <a:lnSpc>
                <a:spcPct val="90000"/>
              </a:lnSpc>
              <a:spcBef>
                <a:spcPts val="0"/>
              </a:spcBef>
              <a:spcAft>
                <a:spcPts val="0"/>
              </a:spcAft>
              <a:buClr>
                <a:schemeClr val="dk1"/>
              </a:buClr>
              <a:buSzPts val="4000"/>
              <a:buFont typeface="Noto Sans Symbols"/>
              <a:buChar char="⮚"/>
            </a:pPr>
            <a:r>
              <a:rPr lang="en">
                <a:latin typeface="Times New Roman"/>
                <a:ea typeface="Times New Roman"/>
                <a:cs typeface="Times New Roman"/>
                <a:sym typeface="Times New Roman"/>
              </a:rPr>
              <a:t>It is “interlocutory” because it results in an order other than a final decision in a suit.</a:t>
            </a:r>
            <a:endParaRPr/>
          </a:p>
          <a:p>
            <a:pPr indent="-118530" lvl="0" marL="457189" rtl="0" algn="l">
              <a:lnSpc>
                <a:spcPct val="90000"/>
              </a:lnSpc>
              <a:spcBef>
                <a:spcPts val="1067"/>
              </a:spcBef>
              <a:spcAft>
                <a:spcPts val="0"/>
              </a:spcAft>
              <a:buClr>
                <a:schemeClr val="dk1"/>
              </a:buClr>
              <a:buSzPts val="4000"/>
              <a:buNone/>
            </a:pPr>
            <a:r>
              <a:t/>
            </a:r>
            <a:endParaRPr>
              <a:latin typeface="Times New Roman"/>
              <a:ea typeface="Times New Roman"/>
              <a:cs typeface="Times New Roman"/>
              <a:sym typeface="Times New Roman"/>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b="1" lang="en"/>
              <a:t>Difference between interlocutory application and originating motion/application/ or process </a:t>
            </a:r>
            <a:endParaRPr b="1"/>
          </a:p>
        </p:txBody>
      </p:sp>
      <p:sp>
        <p:nvSpPr>
          <p:cNvPr id="119" name="Google Shape;119;p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85000" lnSpcReduction="20000"/>
          </a:bodyPr>
          <a:lstStyle/>
          <a:p>
            <a:pPr indent="-228600" lvl="0" marL="228600" rtl="0" algn="just">
              <a:lnSpc>
                <a:spcPct val="90000"/>
              </a:lnSpc>
              <a:spcBef>
                <a:spcPts val="0"/>
              </a:spcBef>
              <a:spcAft>
                <a:spcPts val="0"/>
              </a:spcAft>
              <a:buClr>
                <a:schemeClr val="dk1"/>
              </a:buClr>
              <a:buSzPct val="100000"/>
              <a:buFont typeface="Noto Sans Symbols"/>
              <a:buChar char="⮚"/>
            </a:pPr>
            <a:r>
              <a:rPr lang="en">
                <a:latin typeface="Times New Roman"/>
                <a:ea typeface="Times New Roman"/>
                <a:cs typeface="Times New Roman"/>
                <a:sym typeface="Times New Roman"/>
              </a:rPr>
              <a:t>Interlocutory -  interim or temporary, not final</a:t>
            </a:r>
            <a:endParaRPr>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ct val="100000"/>
              <a:buChar char="•"/>
            </a:pPr>
            <a:r>
              <a:rPr lang="en">
                <a:latin typeface="Times New Roman"/>
                <a:ea typeface="Times New Roman"/>
                <a:cs typeface="Times New Roman"/>
                <a:sym typeface="Times New Roman"/>
              </a:rPr>
              <a:t>See International Finance Corporation v D.S.N.L Offshore Ltd (2008) All FWLR Pt. 403 1264 at 1296:</a:t>
            </a:r>
            <a:endParaRPr>
              <a:latin typeface="Times New Roman"/>
              <a:ea typeface="Times New Roman"/>
              <a:cs typeface="Times New Roman"/>
              <a:sym typeface="Times New Roman"/>
            </a:endParaRPr>
          </a:p>
          <a:p>
            <a:pPr indent="0" lvl="0" marL="152396" rtl="0" algn="just">
              <a:lnSpc>
                <a:spcPct val="90000"/>
              </a:lnSpc>
              <a:spcBef>
                <a:spcPts val="1000"/>
              </a:spcBef>
              <a:spcAft>
                <a:spcPts val="0"/>
              </a:spcAft>
              <a:buClr>
                <a:schemeClr val="dk1"/>
              </a:buClr>
              <a:buSzPct val="100000"/>
              <a:buNone/>
            </a:pPr>
            <a:r>
              <a:rPr lang="en">
                <a:latin typeface="Times New Roman"/>
                <a:ea typeface="Times New Roman"/>
                <a:cs typeface="Times New Roman"/>
                <a:sym typeface="Times New Roman"/>
              </a:rPr>
              <a:t>      CA – defined it to mean ---- something ‘intervening, provisional, temporary</a:t>
            </a:r>
            <a:endParaRPr/>
          </a:p>
          <a:p>
            <a:pPr indent="0" lvl="0" marL="152396" rtl="0" algn="just">
              <a:lnSpc>
                <a:spcPct val="90000"/>
              </a:lnSpc>
              <a:spcBef>
                <a:spcPts val="1000"/>
              </a:spcBef>
              <a:spcAft>
                <a:spcPts val="0"/>
              </a:spcAft>
              <a:buClr>
                <a:schemeClr val="dk1"/>
              </a:buClr>
              <a:buSzPct val="100000"/>
              <a:buNone/>
            </a:pPr>
            <a:r>
              <a:rPr lang="en">
                <a:latin typeface="Times New Roman"/>
                <a:ea typeface="Times New Roman"/>
                <a:cs typeface="Times New Roman"/>
                <a:sym typeface="Times New Roman"/>
              </a:rPr>
              <a:t>“There is a world of difference between the legal words of interlocutory process and originating process. Interlocutory process is brought by way of motion and is always provisional, interim, temporary and therefore is not final. The intention of interlocutory relief is that there is something intervening between the commencement and the end of a suit that decides some point or matter. Interlocutory relief therefore is not a final decision of the dispute between an applicant and the respondent”. </a:t>
            </a:r>
            <a:endParaRPr/>
          </a:p>
          <a:p>
            <a:pPr indent="0" lvl="0" marL="152396" rtl="0" algn="just">
              <a:lnSpc>
                <a:spcPct val="90000"/>
              </a:lnSpc>
              <a:spcBef>
                <a:spcPts val="1000"/>
              </a:spcBef>
              <a:spcAft>
                <a:spcPts val="0"/>
              </a:spcAft>
              <a:buClr>
                <a:schemeClr val="dk1"/>
              </a:buClr>
              <a:buSzPct val="100000"/>
              <a:buNone/>
            </a:pPr>
            <a:r>
              <a:rPr lang="en">
                <a:latin typeface="Times New Roman"/>
                <a:ea typeface="Times New Roman"/>
                <a:cs typeface="Times New Roman"/>
                <a:sym typeface="Times New Roman"/>
              </a:rPr>
              <a:t>Thomas, J.C.A., </a:t>
            </a:r>
            <a:endParaRPr/>
          </a:p>
          <a:p>
            <a:pPr indent="-457200" lvl="0" marL="609596" rtl="0" algn="just">
              <a:lnSpc>
                <a:spcPct val="90000"/>
              </a:lnSpc>
              <a:spcBef>
                <a:spcPts val="1000"/>
              </a:spcBef>
              <a:spcAft>
                <a:spcPts val="0"/>
              </a:spcAft>
              <a:buClr>
                <a:schemeClr val="dk1"/>
              </a:buClr>
              <a:buSzPct val="100000"/>
              <a:buChar char="•"/>
            </a:pPr>
            <a:r>
              <a:rPr lang="en">
                <a:latin typeface="Times New Roman"/>
                <a:ea typeface="Times New Roman"/>
                <a:cs typeface="Times New Roman"/>
                <a:sym typeface="Times New Roman"/>
              </a:rPr>
              <a:t>Originating motion/application/ processes are processes for commencement of action as discussed in week 6.</a:t>
            </a:r>
            <a:endParaRPr>
              <a:latin typeface="Times New Roman"/>
              <a:ea typeface="Times New Roman"/>
              <a:cs typeface="Times New Roman"/>
              <a:sym typeface="Times New Roman"/>
            </a:endParaRPr>
          </a:p>
          <a:p>
            <a:pPr indent="-77470" lvl="0" marL="228600" rtl="0" algn="l">
              <a:lnSpc>
                <a:spcPct val="90000"/>
              </a:lnSpc>
              <a:spcBef>
                <a:spcPts val="1000"/>
              </a:spcBef>
              <a:spcAft>
                <a:spcPts val="0"/>
              </a:spcAft>
              <a:buClr>
                <a:schemeClr val="dk1"/>
              </a:buClr>
              <a:buSzPct val="100000"/>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b="1" lang="en"/>
              <a:t>Parties in Interlocutory Application</a:t>
            </a:r>
            <a:endParaRPr b="1"/>
          </a:p>
        </p:txBody>
      </p:sp>
      <p:sp>
        <p:nvSpPr>
          <p:cNvPr id="125" name="Google Shape;125;p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
                <a:latin typeface="Times New Roman"/>
                <a:ea typeface="Times New Roman"/>
                <a:cs typeface="Times New Roman"/>
                <a:sym typeface="Times New Roman"/>
              </a:rPr>
              <a:t>The parties in an interlocutory application are the “APPLICANT” and “RESPONDENT”</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8"/>
          <p:cNvSpPr txBox="1"/>
          <p:nvPr>
            <p:ph type="title"/>
          </p:nvPr>
        </p:nvSpPr>
        <p:spPr>
          <a:xfrm>
            <a:off x="838200" y="365125"/>
            <a:ext cx="10515600" cy="1325563"/>
          </a:xfrm>
          <a:prstGeom prst="rect">
            <a:avLst/>
          </a:prstGeom>
          <a:noFill/>
          <a:ln>
            <a:noFill/>
          </a:ln>
        </p:spPr>
        <p:txBody>
          <a:bodyPr anchorCtr="0" anchor="ctr" bIns="60925" lIns="121900" spcFirstLastPara="1" rIns="121900" wrap="square" tIns="60925">
            <a:noAutofit/>
          </a:bodyPr>
          <a:lstStyle/>
          <a:p>
            <a:pPr indent="0" lvl="0" marL="0" rtl="0" algn="ctr">
              <a:lnSpc>
                <a:spcPct val="90000"/>
              </a:lnSpc>
              <a:spcBef>
                <a:spcPts val="0"/>
              </a:spcBef>
              <a:spcAft>
                <a:spcPts val="0"/>
              </a:spcAft>
              <a:buClr>
                <a:schemeClr val="dk1"/>
              </a:buClr>
              <a:buSzPts val="3959"/>
              <a:buFont typeface="Times New Roman"/>
              <a:buNone/>
            </a:pPr>
            <a:r>
              <a:rPr lang="en">
                <a:latin typeface="Times New Roman"/>
                <a:ea typeface="Times New Roman"/>
                <a:cs typeface="Times New Roman"/>
                <a:sym typeface="Times New Roman"/>
              </a:rPr>
              <a:t>Uses of Interlocutory Applications</a:t>
            </a:r>
            <a:endParaRPr>
              <a:latin typeface="Times New Roman"/>
              <a:ea typeface="Times New Roman"/>
              <a:cs typeface="Times New Roman"/>
              <a:sym typeface="Times New Roman"/>
            </a:endParaRPr>
          </a:p>
        </p:txBody>
      </p:sp>
      <p:sp>
        <p:nvSpPr>
          <p:cNvPr id="131" name="Google Shape;131;p8"/>
          <p:cNvSpPr txBox="1"/>
          <p:nvPr>
            <p:ph idx="1" type="body"/>
          </p:nvPr>
        </p:nvSpPr>
        <p:spPr>
          <a:xfrm>
            <a:off x="838200" y="1825625"/>
            <a:ext cx="10515600" cy="4351338"/>
          </a:xfrm>
          <a:prstGeom prst="rect">
            <a:avLst/>
          </a:prstGeom>
          <a:noFill/>
          <a:ln>
            <a:noFill/>
          </a:ln>
        </p:spPr>
        <p:txBody>
          <a:bodyPr anchorCtr="0" anchor="t" bIns="60925" lIns="121900" spcFirstLastPara="1" rIns="121900" wrap="square" tIns="60925">
            <a:noAutofit/>
          </a:bodyPr>
          <a:lstStyle/>
          <a:p>
            <a:pPr indent="-457189" lvl="0" marL="457189" rtl="0" algn="l">
              <a:lnSpc>
                <a:spcPct val="90000"/>
              </a:lnSpc>
              <a:spcBef>
                <a:spcPts val="0"/>
              </a:spcBef>
              <a:spcAft>
                <a:spcPts val="0"/>
              </a:spcAft>
              <a:buClr>
                <a:schemeClr val="dk1"/>
              </a:buClr>
              <a:buSzPts val="3500"/>
              <a:buFont typeface="Noto Sans Symbols"/>
              <a:buChar char="✔"/>
            </a:pPr>
            <a:r>
              <a:rPr lang="en" sz="3733">
                <a:latin typeface="Times New Roman"/>
                <a:ea typeface="Times New Roman"/>
                <a:cs typeface="Times New Roman"/>
                <a:sym typeface="Times New Roman"/>
              </a:rPr>
              <a:t>It can be used to remedy some defects in a pending suit.</a:t>
            </a:r>
            <a:endParaRPr sz="3733"/>
          </a:p>
          <a:p>
            <a:pPr indent="-457189" lvl="0" marL="457189" rtl="0" algn="l">
              <a:lnSpc>
                <a:spcPct val="90000"/>
              </a:lnSpc>
              <a:spcBef>
                <a:spcPts val="933"/>
              </a:spcBef>
              <a:spcAft>
                <a:spcPts val="0"/>
              </a:spcAft>
              <a:buClr>
                <a:schemeClr val="dk1"/>
              </a:buClr>
              <a:buSzPts val="3500"/>
              <a:buFont typeface="Noto Sans Symbols"/>
              <a:buChar char="✔"/>
            </a:pPr>
            <a:r>
              <a:rPr lang="en" sz="3733">
                <a:latin typeface="Times New Roman"/>
                <a:ea typeface="Times New Roman"/>
                <a:cs typeface="Times New Roman"/>
                <a:sym typeface="Times New Roman"/>
              </a:rPr>
              <a:t>In some instances, it is condition precedent to the commencement of a substantive action. As is the case of application for leave to issue a writ especially when it is to be served out of jurisdiction or under exparte application for judicial review.</a:t>
            </a:r>
            <a:endParaRPr sz="3733"/>
          </a:p>
          <a:p>
            <a:pPr indent="-160863" lvl="0" marL="457189" rtl="0" algn="l">
              <a:lnSpc>
                <a:spcPct val="90000"/>
              </a:lnSpc>
              <a:spcBef>
                <a:spcPts val="933"/>
              </a:spcBef>
              <a:spcAft>
                <a:spcPts val="0"/>
              </a:spcAft>
              <a:buClr>
                <a:schemeClr val="dk1"/>
              </a:buClr>
              <a:buSzPts val="3500"/>
              <a:buNone/>
            </a:pPr>
            <a:r>
              <a:t/>
            </a:r>
            <a:endParaRPr sz="3733">
              <a:latin typeface="Times New Roman"/>
              <a:ea typeface="Times New Roman"/>
              <a:cs typeface="Times New Roman"/>
              <a:sym typeface="Times New Roman"/>
            </a:endParaRPr>
          </a:p>
          <a:p>
            <a:pPr indent="-160863" lvl="0" marL="457189" rtl="0" algn="l">
              <a:lnSpc>
                <a:spcPct val="90000"/>
              </a:lnSpc>
              <a:spcBef>
                <a:spcPts val="933"/>
              </a:spcBef>
              <a:spcAft>
                <a:spcPts val="0"/>
              </a:spcAft>
              <a:buClr>
                <a:schemeClr val="dk1"/>
              </a:buClr>
              <a:buSzPts val="3500"/>
              <a:buNone/>
            </a:pPr>
            <a:r>
              <a:t/>
            </a:r>
            <a:endParaRPr sz="3733"/>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9"/>
          <p:cNvSpPr txBox="1"/>
          <p:nvPr>
            <p:ph idx="1" type="body"/>
          </p:nvPr>
        </p:nvSpPr>
        <p:spPr>
          <a:xfrm>
            <a:off x="838200" y="1825625"/>
            <a:ext cx="10515600" cy="4351338"/>
          </a:xfrm>
          <a:prstGeom prst="rect">
            <a:avLst/>
          </a:prstGeom>
          <a:noFill/>
          <a:ln>
            <a:noFill/>
          </a:ln>
        </p:spPr>
        <p:txBody>
          <a:bodyPr anchorCtr="0" anchor="t" bIns="60925" lIns="121900" spcFirstLastPara="1" rIns="121900" wrap="square" tIns="60925">
            <a:noAutofit/>
          </a:bodyPr>
          <a:lstStyle/>
          <a:p>
            <a:pPr indent="-457189" lvl="0" marL="457189" rtl="0" algn="l">
              <a:lnSpc>
                <a:spcPct val="90000"/>
              </a:lnSpc>
              <a:spcBef>
                <a:spcPts val="0"/>
              </a:spcBef>
              <a:spcAft>
                <a:spcPts val="0"/>
              </a:spcAft>
              <a:buClr>
                <a:schemeClr val="dk1"/>
              </a:buClr>
              <a:buSzPts val="3600"/>
              <a:buFont typeface="Noto Sans Symbols"/>
              <a:buChar char="✔"/>
            </a:pPr>
            <a:r>
              <a:rPr lang="en" sz="3733">
                <a:latin typeface="Times New Roman"/>
                <a:ea typeface="Times New Roman"/>
                <a:cs typeface="Times New Roman"/>
                <a:sym typeface="Times New Roman"/>
              </a:rPr>
              <a:t>It can be used to seek some temporary reliefs or additional reliefs to the ones contained in the claim of the party.</a:t>
            </a:r>
            <a:endParaRPr sz="3733"/>
          </a:p>
          <a:p>
            <a:pPr indent="-457189" lvl="0" marL="457189" rtl="0" algn="l">
              <a:lnSpc>
                <a:spcPct val="90000"/>
              </a:lnSpc>
              <a:spcBef>
                <a:spcPts val="960"/>
              </a:spcBef>
              <a:spcAft>
                <a:spcPts val="0"/>
              </a:spcAft>
              <a:buClr>
                <a:schemeClr val="dk1"/>
              </a:buClr>
              <a:buSzPts val="3600"/>
              <a:buFont typeface="Noto Sans Symbols"/>
              <a:buChar char="✔"/>
            </a:pPr>
            <a:r>
              <a:rPr lang="en" sz="3733">
                <a:latin typeface="Times New Roman"/>
                <a:ea typeface="Times New Roman"/>
                <a:cs typeface="Times New Roman"/>
                <a:sym typeface="Times New Roman"/>
              </a:rPr>
              <a:t>It is also an effective tool in stopping or killing a substantive suit.</a:t>
            </a:r>
            <a:endParaRPr sz="3733"/>
          </a:p>
          <a:p>
            <a:pPr indent="-457189" lvl="0" marL="457189" rtl="0" algn="l">
              <a:lnSpc>
                <a:spcPct val="90000"/>
              </a:lnSpc>
              <a:spcBef>
                <a:spcPts val="960"/>
              </a:spcBef>
              <a:spcAft>
                <a:spcPts val="0"/>
              </a:spcAft>
              <a:buClr>
                <a:schemeClr val="dk1"/>
              </a:buClr>
              <a:buSzPts val="3600"/>
              <a:buFont typeface="Noto Sans Symbols"/>
              <a:buChar char="✔"/>
            </a:pPr>
            <a:r>
              <a:rPr lang="en" sz="3733">
                <a:latin typeface="Times New Roman"/>
                <a:ea typeface="Times New Roman"/>
                <a:cs typeface="Times New Roman"/>
                <a:sym typeface="Times New Roman"/>
              </a:rPr>
              <a:t>It is used to remedy delay when the applicant has ran out of time in doing a thing required  by the rules.</a:t>
            </a:r>
            <a:endParaRPr sz="3733">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10"/>
          <p:cNvSpPr txBox="1"/>
          <p:nvPr>
            <p:ph idx="1" type="body"/>
          </p:nvPr>
        </p:nvSpPr>
        <p:spPr>
          <a:xfrm>
            <a:off x="609600" y="639183"/>
            <a:ext cx="11037345" cy="5026511"/>
          </a:xfrm>
          <a:prstGeom prst="rect">
            <a:avLst/>
          </a:prstGeom>
          <a:noFill/>
          <a:ln>
            <a:noFill/>
          </a:ln>
        </p:spPr>
        <p:txBody>
          <a:bodyPr anchorCtr="0" anchor="t" bIns="60925" lIns="121900" spcFirstLastPara="1" rIns="121900" wrap="square" tIns="60925">
            <a:noAutofit/>
          </a:bodyPr>
          <a:lstStyle/>
          <a:p>
            <a:pPr indent="-457189" lvl="0" marL="457189" rtl="0" algn="l">
              <a:lnSpc>
                <a:spcPct val="90000"/>
              </a:lnSpc>
              <a:spcBef>
                <a:spcPts val="0"/>
              </a:spcBef>
              <a:spcAft>
                <a:spcPts val="0"/>
              </a:spcAft>
              <a:buClr>
                <a:schemeClr val="dk1"/>
              </a:buClr>
              <a:buSzPts val="3500"/>
              <a:buFont typeface="Noto Sans Symbols"/>
              <a:buChar char="✔"/>
            </a:pPr>
            <a:r>
              <a:rPr lang="en" sz="3733">
                <a:latin typeface="Times New Roman"/>
                <a:ea typeface="Times New Roman"/>
                <a:cs typeface="Times New Roman"/>
                <a:sym typeface="Times New Roman"/>
              </a:rPr>
              <a:t>The ultimate aim is to assist parties in the orderly  presentation of their cases and in getting speedy judgment. </a:t>
            </a:r>
            <a:endParaRPr sz="3733"/>
          </a:p>
          <a:p>
            <a:pPr indent="-457189" lvl="0" marL="457189" rtl="0" algn="l">
              <a:lnSpc>
                <a:spcPct val="90000"/>
              </a:lnSpc>
              <a:spcBef>
                <a:spcPts val="933"/>
              </a:spcBef>
              <a:spcAft>
                <a:spcPts val="0"/>
              </a:spcAft>
              <a:buClr>
                <a:schemeClr val="dk1"/>
              </a:buClr>
              <a:buSzPts val="3500"/>
              <a:buChar char="•"/>
            </a:pPr>
            <a:r>
              <a:rPr lang="en" sz="3733">
                <a:latin typeface="Times New Roman"/>
                <a:ea typeface="Times New Roman"/>
                <a:cs typeface="Times New Roman"/>
                <a:sym typeface="Times New Roman"/>
              </a:rPr>
              <a:t>It should be noted however, that some lawyers use it negatively as a delay tactics. See </a:t>
            </a:r>
            <a:r>
              <a:rPr b="1" lang="en" sz="3733">
                <a:latin typeface="Times New Roman"/>
                <a:ea typeface="Times New Roman"/>
                <a:cs typeface="Times New Roman"/>
                <a:sym typeface="Times New Roman"/>
              </a:rPr>
              <a:t>PROFESSOR STEVE UGBA V GAGRIEL SUSWAM (2014)  LPELR 22882 SC, OGBORU V UDUAGHAN (2011) 17 NWLR (PT 1232)</a:t>
            </a:r>
            <a:endParaRPr b="1" sz="3733">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Times New Roman"/>
              <a:buNone/>
            </a:pPr>
            <a:r>
              <a:rPr lang="en">
                <a:latin typeface="Times New Roman"/>
                <a:ea typeface="Times New Roman"/>
                <a:cs typeface="Times New Roman"/>
                <a:sym typeface="Times New Roman"/>
              </a:rPr>
              <a:t>Examples of Interlocutory Applications</a:t>
            </a:r>
            <a:endParaRPr>
              <a:latin typeface="Times New Roman"/>
              <a:ea typeface="Times New Roman"/>
              <a:cs typeface="Times New Roman"/>
              <a:sym typeface="Times New Roman"/>
            </a:endParaRPr>
          </a:p>
        </p:txBody>
      </p:sp>
      <p:sp>
        <p:nvSpPr>
          <p:cNvPr id="147" name="Google Shape;147;p1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p>
            <a:pPr indent="-457189" lvl="0" marL="457189" rtl="0" algn="l">
              <a:lnSpc>
                <a:spcPct val="90000"/>
              </a:lnSpc>
              <a:spcBef>
                <a:spcPts val="0"/>
              </a:spcBef>
              <a:spcAft>
                <a:spcPts val="0"/>
              </a:spcAft>
              <a:buClr>
                <a:schemeClr val="dk1"/>
              </a:buClr>
              <a:buSzPts val="2800"/>
              <a:buFont typeface="Times New Roman"/>
              <a:buChar char="-"/>
            </a:pPr>
            <a:r>
              <a:rPr lang="en">
                <a:latin typeface="Times New Roman"/>
                <a:ea typeface="Times New Roman"/>
                <a:cs typeface="Times New Roman"/>
                <a:sym typeface="Times New Roman"/>
              </a:rPr>
              <a:t>An order of court at pretrial on the order of hearing of the case is interlocutory</a:t>
            </a:r>
            <a:endParaRPr>
              <a:latin typeface="Times New Roman"/>
              <a:ea typeface="Times New Roman"/>
              <a:cs typeface="Times New Roman"/>
              <a:sym typeface="Times New Roman"/>
            </a:endParaRPr>
          </a:p>
          <a:p>
            <a:pPr indent="-457189" lvl="0" marL="457189" rtl="0" algn="l">
              <a:lnSpc>
                <a:spcPct val="90000"/>
              </a:lnSpc>
              <a:spcBef>
                <a:spcPts val="1000"/>
              </a:spcBef>
              <a:spcAft>
                <a:spcPts val="0"/>
              </a:spcAft>
              <a:buClr>
                <a:schemeClr val="dk1"/>
              </a:buClr>
              <a:buSzPts val="2800"/>
              <a:buFont typeface="Times New Roman"/>
              <a:buChar char="-"/>
            </a:pPr>
            <a:r>
              <a:rPr lang="en">
                <a:latin typeface="Times New Roman"/>
                <a:ea typeface="Times New Roman"/>
                <a:cs typeface="Times New Roman"/>
                <a:sym typeface="Times New Roman"/>
              </a:rPr>
              <a:t>Application for Extension of Time to file court process Application for Amendment of Statement of Claim </a:t>
            </a:r>
            <a:endParaRPr/>
          </a:p>
          <a:p>
            <a:pPr indent="-457189" lvl="0" marL="457189" rtl="0" algn="l">
              <a:lnSpc>
                <a:spcPct val="90000"/>
              </a:lnSpc>
              <a:spcBef>
                <a:spcPts val="1000"/>
              </a:spcBef>
              <a:spcAft>
                <a:spcPts val="0"/>
              </a:spcAft>
              <a:buClr>
                <a:schemeClr val="dk1"/>
              </a:buClr>
              <a:buSzPts val="2800"/>
              <a:buFont typeface="Times New Roman"/>
              <a:buChar char="-"/>
            </a:pPr>
            <a:r>
              <a:rPr lang="en">
                <a:latin typeface="Times New Roman"/>
                <a:ea typeface="Times New Roman"/>
                <a:cs typeface="Times New Roman"/>
                <a:sym typeface="Times New Roman"/>
              </a:rPr>
              <a:t>Application for Substituted service Application for order to produce Application for joinder of parties </a:t>
            </a:r>
            <a:endParaRPr/>
          </a:p>
          <a:p>
            <a:pPr indent="-457189" lvl="0" marL="457189" rtl="0" algn="l">
              <a:lnSpc>
                <a:spcPct val="90000"/>
              </a:lnSpc>
              <a:spcBef>
                <a:spcPts val="1000"/>
              </a:spcBef>
              <a:spcAft>
                <a:spcPts val="0"/>
              </a:spcAft>
              <a:buClr>
                <a:schemeClr val="dk1"/>
              </a:buClr>
              <a:buSzPts val="2800"/>
              <a:buFont typeface="Times New Roman"/>
              <a:buChar char="-"/>
            </a:pPr>
            <a:r>
              <a:rPr lang="en">
                <a:latin typeface="Times New Roman"/>
                <a:ea typeface="Times New Roman"/>
                <a:cs typeface="Times New Roman"/>
                <a:sym typeface="Times New Roman"/>
              </a:rPr>
              <a:t>Application for striking out a suit Application for Summary Judgement </a:t>
            </a:r>
            <a:endParaRPr/>
          </a:p>
          <a:p>
            <a:pPr indent="-457189" lvl="0" marL="457189" rtl="0" algn="l">
              <a:lnSpc>
                <a:spcPct val="90000"/>
              </a:lnSpc>
              <a:spcBef>
                <a:spcPts val="1000"/>
              </a:spcBef>
              <a:spcAft>
                <a:spcPts val="0"/>
              </a:spcAft>
              <a:buClr>
                <a:schemeClr val="dk1"/>
              </a:buClr>
              <a:buSzPts val="2800"/>
              <a:buFont typeface="Times New Roman"/>
              <a:buChar char="-"/>
            </a:pPr>
            <a:r>
              <a:rPr lang="en">
                <a:latin typeface="Times New Roman"/>
                <a:ea typeface="Times New Roman"/>
                <a:cs typeface="Times New Roman"/>
                <a:sym typeface="Times New Roman"/>
              </a:rPr>
              <a:t>Application for Default Judgement</a:t>
            </a:r>
            <a:br>
              <a:rPr lang="en">
                <a:latin typeface="Times New Roman"/>
                <a:ea typeface="Times New Roman"/>
                <a:cs typeface="Times New Roman"/>
                <a:sym typeface="Times New Roman"/>
              </a:rPr>
            </a:br>
            <a:r>
              <a:rPr lang="en">
                <a:latin typeface="Times New Roman"/>
                <a:ea typeface="Times New Roman"/>
                <a:cs typeface="Times New Roman"/>
                <a:sym typeface="Times New Roman"/>
              </a:rPr>
              <a:t>Application for setting a aside a default judgement </a:t>
            </a:r>
            <a:endParaRPr/>
          </a:p>
          <a:p>
            <a:pPr indent="0" lvl="0" marL="152396" rtl="0" algn="l">
              <a:lnSpc>
                <a:spcPct val="90000"/>
              </a:lnSpc>
              <a:spcBef>
                <a:spcPts val="1000"/>
              </a:spcBef>
              <a:spcAft>
                <a:spcPts val="0"/>
              </a:spcAft>
              <a:buClr>
                <a:schemeClr val="dk1"/>
              </a:buClr>
              <a:buSzPts val="2800"/>
              <a:buNone/>
            </a:pPr>
            <a:r>
              <a:t/>
            </a:r>
            <a:endParaRPr>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12"/>
          <p:cNvSpPr txBox="1"/>
          <p:nvPr>
            <p:ph type="title"/>
          </p:nvPr>
        </p:nvSpPr>
        <p:spPr>
          <a:xfrm>
            <a:off x="838200" y="365125"/>
            <a:ext cx="10515600" cy="1325563"/>
          </a:xfrm>
          <a:prstGeom prst="rect">
            <a:avLst/>
          </a:prstGeom>
          <a:noFill/>
          <a:ln>
            <a:noFill/>
          </a:ln>
        </p:spPr>
        <p:txBody>
          <a:bodyPr anchorCtr="0" anchor="ctr" bIns="60925" lIns="121900" spcFirstLastPara="1" rIns="121900" wrap="square" tIns="60925">
            <a:noAutofit/>
          </a:bodyPr>
          <a:lstStyle/>
          <a:p>
            <a:pPr indent="0" lvl="0" marL="0" rtl="0" algn="ctr">
              <a:lnSpc>
                <a:spcPct val="90000"/>
              </a:lnSpc>
              <a:spcBef>
                <a:spcPts val="0"/>
              </a:spcBef>
              <a:spcAft>
                <a:spcPts val="0"/>
              </a:spcAft>
              <a:buClr>
                <a:schemeClr val="dk1"/>
              </a:buClr>
              <a:buSzPts val="3959"/>
              <a:buFont typeface="Times New Roman"/>
              <a:buNone/>
            </a:pPr>
            <a:r>
              <a:rPr lang="en">
                <a:latin typeface="Times New Roman"/>
                <a:ea typeface="Times New Roman"/>
                <a:cs typeface="Times New Roman"/>
                <a:sym typeface="Times New Roman"/>
              </a:rPr>
              <a:t>Mode of making Interlocutory Applications to Court</a:t>
            </a:r>
            <a:endParaRPr>
              <a:latin typeface="Times New Roman"/>
              <a:ea typeface="Times New Roman"/>
              <a:cs typeface="Times New Roman"/>
              <a:sym typeface="Times New Roman"/>
            </a:endParaRPr>
          </a:p>
        </p:txBody>
      </p:sp>
      <p:sp>
        <p:nvSpPr>
          <p:cNvPr id="153" name="Google Shape;153;p12"/>
          <p:cNvSpPr txBox="1"/>
          <p:nvPr>
            <p:ph idx="1" type="body"/>
          </p:nvPr>
        </p:nvSpPr>
        <p:spPr>
          <a:xfrm>
            <a:off x="838200" y="1825625"/>
            <a:ext cx="10515600" cy="4351338"/>
          </a:xfrm>
          <a:prstGeom prst="rect">
            <a:avLst/>
          </a:prstGeom>
          <a:noFill/>
          <a:ln>
            <a:noFill/>
          </a:ln>
        </p:spPr>
        <p:txBody>
          <a:bodyPr anchorCtr="0" anchor="t" bIns="60925" lIns="121900" spcFirstLastPara="1" rIns="121900" wrap="square" tIns="60925">
            <a:noAutofit/>
          </a:bodyPr>
          <a:lstStyle/>
          <a:p>
            <a:pPr indent="-457189" lvl="0" marL="457189" rtl="0" algn="l">
              <a:lnSpc>
                <a:spcPct val="80000"/>
              </a:lnSpc>
              <a:spcBef>
                <a:spcPts val="0"/>
              </a:spcBef>
              <a:spcAft>
                <a:spcPts val="0"/>
              </a:spcAft>
              <a:buClr>
                <a:schemeClr val="dk1"/>
              </a:buClr>
              <a:buSzPts val="3409"/>
              <a:buChar char="•"/>
            </a:pPr>
            <a:r>
              <a:rPr lang="en" sz="3733">
                <a:latin typeface="Times New Roman"/>
                <a:ea typeface="Times New Roman"/>
                <a:cs typeface="Times New Roman"/>
                <a:sym typeface="Times New Roman"/>
              </a:rPr>
              <a:t>An interlocutory application is required to be made either in open court or to the Judge in chamber:</a:t>
            </a:r>
            <a:endParaRPr sz="3733"/>
          </a:p>
          <a:p>
            <a:pPr indent="-457189" lvl="0" marL="457189" rtl="0" algn="l">
              <a:lnSpc>
                <a:spcPct val="80000"/>
              </a:lnSpc>
              <a:spcBef>
                <a:spcPts val="909"/>
              </a:spcBef>
              <a:spcAft>
                <a:spcPts val="0"/>
              </a:spcAft>
              <a:buClr>
                <a:schemeClr val="dk1"/>
              </a:buClr>
              <a:buSzPts val="3409"/>
              <a:buFont typeface="Noto Sans Symbols"/>
              <a:buChar char="✔"/>
            </a:pPr>
            <a:r>
              <a:rPr lang="en" sz="3733">
                <a:latin typeface="Times New Roman"/>
                <a:ea typeface="Times New Roman"/>
                <a:cs typeface="Times New Roman"/>
                <a:sym typeface="Times New Roman"/>
              </a:rPr>
              <a:t>Orally;</a:t>
            </a:r>
            <a:endParaRPr sz="3733"/>
          </a:p>
          <a:p>
            <a:pPr indent="-457189" lvl="0" marL="457189" rtl="0" algn="l">
              <a:lnSpc>
                <a:spcPct val="80000"/>
              </a:lnSpc>
              <a:spcBef>
                <a:spcPts val="909"/>
              </a:spcBef>
              <a:spcAft>
                <a:spcPts val="0"/>
              </a:spcAft>
              <a:buClr>
                <a:schemeClr val="dk1"/>
              </a:buClr>
              <a:buSzPts val="3409"/>
              <a:buFont typeface="Noto Sans Symbols"/>
              <a:buChar char="✔"/>
            </a:pPr>
            <a:r>
              <a:rPr lang="en" sz="3733">
                <a:latin typeface="Times New Roman"/>
                <a:ea typeface="Times New Roman"/>
                <a:cs typeface="Times New Roman"/>
                <a:sym typeface="Times New Roman"/>
              </a:rPr>
              <a:t>By motion. See </a:t>
            </a:r>
            <a:r>
              <a:rPr b="1" lang="en" sz="3733">
                <a:solidFill>
                  <a:srgbClr val="FF0000"/>
                </a:solidFill>
                <a:latin typeface="Times New Roman"/>
                <a:ea typeface="Times New Roman"/>
                <a:cs typeface="Times New Roman"/>
                <a:sym typeface="Times New Roman"/>
              </a:rPr>
              <a:t>O 30 R1 &amp; 31 </a:t>
            </a:r>
            <a:r>
              <a:rPr lang="en" sz="3733">
                <a:solidFill>
                  <a:srgbClr val="FF0000"/>
                </a:solidFill>
                <a:latin typeface="Times New Roman"/>
                <a:ea typeface="Times New Roman"/>
                <a:cs typeface="Times New Roman"/>
                <a:sym typeface="Times New Roman"/>
              </a:rPr>
              <a:t>Abuja</a:t>
            </a:r>
            <a:r>
              <a:rPr lang="en" sz="3733">
                <a:latin typeface="Times New Roman"/>
                <a:ea typeface="Times New Roman"/>
                <a:cs typeface="Times New Roman"/>
                <a:sym typeface="Times New Roman"/>
              </a:rPr>
              <a:t>, </a:t>
            </a:r>
            <a:r>
              <a:rPr b="1" lang="en" sz="3733">
                <a:latin typeface="Times New Roman"/>
                <a:ea typeface="Times New Roman"/>
                <a:cs typeface="Times New Roman"/>
                <a:sym typeface="Times New Roman"/>
              </a:rPr>
              <a:t>O 43 R1 Lagos</a:t>
            </a:r>
            <a:r>
              <a:rPr lang="en" sz="3733">
                <a:latin typeface="Times New Roman"/>
                <a:ea typeface="Times New Roman"/>
                <a:cs typeface="Times New Roman"/>
                <a:sym typeface="Times New Roman"/>
              </a:rPr>
              <a:t>.</a:t>
            </a:r>
            <a:endParaRPr sz="3733"/>
          </a:p>
          <a:p>
            <a:pPr indent="-457189" lvl="0" marL="457189" rtl="0" algn="l">
              <a:lnSpc>
                <a:spcPct val="80000"/>
              </a:lnSpc>
              <a:spcBef>
                <a:spcPts val="909"/>
              </a:spcBef>
              <a:spcAft>
                <a:spcPts val="0"/>
              </a:spcAft>
              <a:buClr>
                <a:schemeClr val="dk1"/>
              </a:buClr>
              <a:buSzPts val="3409"/>
              <a:buFont typeface="Noto Sans Symbols"/>
              <a:buChar char="✔"/>
            </a:pPr>
            <a:r>
              <a:rPr lang="en" sz="3733">
                <a:latin typeface="Times New Roman"/>
                <a:ea typeface="Times New Roman"/>
                <a:cs typeface="Times New Roman"/>
                <a:sym typeface="Times New Roman"/>
              </a:rPr>
              <a:t>Summons (where the rules of court provides for it) e.g. interpleader proceedings. </a:t>
            </a:r>
            <a:r>
              <a:rPr b="1" lang="en" sz="3733">
                <a:latin typeface="Times New Roman"/>
                <a:ea typeface="Times New Roman"/>
                <a:cs typeface="Times New Roman"/>
                <a:sym typeface="Times New Roman"/>
              </a:rPr>
              <a:t>See </a:t>
            </a:r>
            <a:r>
              <a:rPr b="1" lang="en" sz="3733">
                <a:solidFill>
                  <a:srgbClr val="FF0000"/>
                </a:solidFill>
                <a:latin typeface="Times New Roman"/>
                <a:ea typeface="Times New Roman"/>
                <a:cs typeface="Times New Roman"/>
                <a:sym typeface="Times New Roman"/>
              </a:rPr>
              <a:t>O 26 R 5</a:t>
            </a:r>
            <a:r>
              <a:rPr lang="en" sz="3733">
                <a:solidFill>
                  <a:srgbClr val="FF0000"/>
                </a:solidFill>
                <a:latin typeface="Times New Roman"/>
                <a:ea typeface="Times New Roman"/>
                <a:cs typeface="Times New Roman"/>
                <a:sym typeface="Times New Roman"/>
              </a:rPr>
              <a:t> Abuja</a:t>
            </a:r>
            <a:r>
              <a:rPr lang="en" sz="3733">
                <a:latin typeface="Times New Roman"/>
                <a:ea typeface="Times New Roman"/>
                <a:cs typeface="Times New Roman"/>
                <a:sym typeface="Times New Roman"/>
              </a:rPr>
              <a:t> and </a:t>
            </a:r>
            <a:r>
              <a:rPr b="1" lang="en" sz="3733">
                <a:latin typeface="Times New Roman"/>
                <a:ea typeface="Times New Roman"/>
                <a:cs typeface="Times New Roman"/>
                <a:sym typeface="Times New Roman"/>
              </a:rPr>
              <a:t>O 47 R 2</a:t>
            </a:r>
            <a:r>
              <a:rPr lang="en" sz="3733">
                <a:latin typeface="Times New Roman"/>
                <a:ea typeface="Times New Roman"/>
                <a:cs typeface="Times New Roman"/>
                <a:sym typeface="Times New Roman"/>
              </a:rPr>
              <a:t>Lagos</a:t>
            </a:r>
            <a:endParaRPr sz="3733">
              <a:latin typeface="Times New Roman"/>
              <a:ea typeface="Times New Roman"/>
              <a:cs typeface="Times New Roman"/>
              <a:sym typeface="Times New Roman"/>
            </a:endParaRPr>
          </a:p>
          <a:p>
            <a:pPr indent="-168482" lvl="0" marL="457189" rtl="0" algn="l">
              <a:lnSpc>
                <a:spcPct val="80000"/>
              </a:lnSpc>
              <a:spcBef>
                <a:spcPts val="909"/>
              </a:spcBef>
              <a:spcAft>
                <a:spcPts val="0"/>
              </a:spcAft>
              <a:buClr>
                <a:schemeClr val="dk1"/>
              </a:buClr>
              <a:buSzPts val="3410"/>
              <a:buNone/>
            </a:pPr>
            <a:r>
              <a:t/>
            </a:r>
            <a:endParaRPr sz="3733">
              <a:latin typeface="Times New Roman"/>
              <a:ea typeface="Times New Roman"/>
              <a:cs typeface="Times New Roman"/>
              <a:sym typeface="Times New Roman"/>
            </a:endParaRPr>
          </a:p>
          <a:p>
            <a:pPr indent="0" lvl="0" marL="0" rtl="0" algn="l">
              <a:lnSpc>
                <a:spcPct val="80000"/>
              </a:lnSpc>
              <a:spcBef>
                <a:spcPts val="909"/>
              </a:spcBef>
              <a:spcAft>
                <a:spcPts val="0"/>
              </a:spcAft>
              <a:buClr>
                <a:schemeClr val="dk1"/>
              </a:buClr>
              <a:buSzPts val="3410"/>
              <a:buNone/>
            </a:pPr>
            <a:r>
              <a:t/>
            </a:r>
            <a:endParaRPr sz="3733">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1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Times New Roman"/>
              <a:buNone/>
            </a:pPr>
            <a:r>
              <a:rPr lang="en">
                <a:latin typeface="Times New Roman"/>
                <a:ea typeface="Times New Roman"/>
                <a:cs typeface="Times New Roman"/>
                <a:sym typeface="Times New Roman"/>
              </a:rPr>
              <a:t>Limits to filing of Interlocutory Application</a:t>
            </a:r>
            <a:endParaRPr/>
          </a:p>
        </p:txBody>
      </p:sp>
      <p:sp>
        <p:nvSpPr>
          <p:cNvPr id="159" name="Google Shape;159;p1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457189" lvl="0" marL="457189" rtl="0" algn="l">
              <a:lnSpc>
                <a:spcPct val="90000"/>
              </a:lnSpc>
              <a:spcBef>
                <a:spcPts val="0"/>
              </a:spcBef>
              <a:spcAft>
                <a:spcPts val="0"/>
              </a:spcAft>
              <a:buClr>
                <a:schemeClr val="dk1"/>
              </a:buClr>
              <a:buSzPts val="3200"/>
              <a:buChar char="•"/>
            </a:pPr>
            <a:r>
              <a:rPr lang="en">
                <a:latin typeface="Times New Roman"/>
                <a:ea typeface="Times New Roman"/>
                <a:cs typeface="Times New Roman"/>
                <a:sym typeface="Times New Roman"/>
              </a:rPr>
              <a:t>As a general rule there is no limit to the number of application to be filed in a particular suit. </a:t>
            </a:r>
            <a:endParaRPr/>
          </a:p>
          <a:p>
            <a:pPr indent="-457189" lvl="0" marL="457189" rtl="0" algn="l">
              <a:lnSpc>
                <a:spcPct val="90000"/>
              </a:lnSpc>
              <a:spcBef>
                <a:spcPts val="853"/>
              </a:spcBef>
              <a:spcAft>
                <a:spcPts val="0"/>
              </a:spcAft>
              <a:buClr>
                <a:schemeClr val="dk1"/>
              </a:buClr>
              <a:buSzPts val="3200"/>
              <a:buChar char="•"/>
            </a:pPr>
            <a:r>
              <a:rPr lang="en">
                <a:latin typeface="Times New Roman"/>
                <a:ea typeface="Times New Roman"/>
                <a:cs typeface="Times New Roman"/>
                <a:sym typeface="Times New Roman"/>
              </a:rPr>
              <a:t>Where an application is meant to delay proceedings or it is frivolous it will be struck out.</a:t>
            </a:r>
            <a:endParaRPr/>
          </a:p>
          <a:p>
            <a:pPr indent="-457189" lvl="0" marL="457189" rtl="0" algn="l">
              <a:lnSpc>
                <a:spcPct val="90000"/>
              </a:lnSpc>
              <a:spcBef>
                <a:spcPts val="853"/>
              </a:spcBef>
              <a:spcAft>
                <a:spcPts val="0"/>
              </a:spcAft>
              <a:buClr>
                <a:schemeClr val="dk1"/>
              </a:buClr>
              <a:buSzPts val="3200"/>
              <a:buChar char="•"/>
            </a:pPr>
            <a:r>
              <a:rPr lang="en">
                <a:latin typeface="Times New Roman"/>
                <a:ea typeface="Times New Roman"/>
                <a:cs typeface="Times New Roman"/>
                <a:sym typeface="Times New Roman"/>
              </a:rPr>
              <a:t>In Abuja, an application for amendment of pleadings can be brought only twice during trial. See </a:t>
            </a:r>
            <a:r>
              <a:rPr b="1" lang="en">
                <a:latin typeface="Times New Roman"/>
                <a:ea typeface="Times New Roman"/>
                <a:cs typeface="Times New Roman"/>
                <a:sym typeface="Times New Roman"/>
              </a:rPr>
              <a:t>O 24 R1</a:t>
            </a:r>
            <a:endParaRPr/>
          </a:p>
          <a:p>
            <a:pPr indent="-457189" lvl="0" marL="457189" rtl="0" algn="l">
              <a:lnSpc>
                <a:spcPct val="90000"/>
              </a:lnSpc>
              <a:spcBef>
                <a:spcPts val="853"/>
              </a:spcBef>
              <a:spcAft>
                <a:spcPts val="0"/>
              </a:spcAft>
              <a:buClr>
                <a:schemeClr val="dk1"/>
              </a:buClr>
              <a:buSzPts val="3200"/>
              <a:buChar char="•"/>
            </a:pPr>
            <a:r>
              <a:rPr lang="en">
                <a:latin typeface="Times New Roman"/>
                <a:ea typeface="Times New Roman"/>
                <a:cs typeface="Times New Roman"/>
                <a:sym typeface="Times New Roman"/>
              </a:rPr>
              <a:t>In Lagos, an application for amendment of pleadings can be brought only twice during trial. </a:t>
            </a:r>
            <a:r>
              <a:rPr b="1" lang="en">
                <a:latin typeface="Times New Roman"/>
                <a:ea typeface="Times New Roman"/>
                <a:cs typeface="Times New Roman"/>
                <a:sym typeface="Times New Roman"/>
              </a:rPr>
              <a:t>See</a:t>
            </a:r>
            <a:r>
              <a:rPr lang="en">
                <a:latin typeface="Times New Roman"/>
                <a:ea typeface="Times New Roman"/>
                <a:cs typeface="Times New Roman"/>
                <a:sym typeface="Times New Roman"/>
              </a:rPr>
              <a:t> </a:t>
            </a:r>
            <a:r>
              <a:rPr b="1" lang="en">
                <a:latin typeface="Times New Roman"/>
                <a:ea typeface="Times New Roman"/>
                <a:cs typeface="Times New Roman"/>
                <a:sym typeface="Times New Roman"/>
              </a:rPr>
              <a:t>O 26 R1</a:t>
            </a:r>
            <a:endParaRPr/>
          </a:p>
          <a:p>
            <a:pPr indent="-253989" lvl="0" marL="457189" rtl="0" algn="l">
              <a:lnSpc>
                <a:spcPct val="90000"/>
              </a:lnSpc>
              <a:spcBef>
                <a:spcPts val="853"/>
              </a:spcBef>
              <a:spcAft>
                <a:spcPts val="0"/>
              </a:spcAft>
              <a:buClr>
                <a:schemeClr val="dk1"/>
              </a:buClr>
              <a:buSzPts val="3200"/>
              <a:buNone/>
            </a:pPr>
            <a:r>
              <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1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
              <a:t>INTERLOCUTORY APPLICATIONS BY MOTION</a:t>
            </a:r>
            <a:endParaRPr b="1"/>
          </a:p>
        </p:txBody>
      </p:sp>
      <p:sp>
        <p:nvSpPr>
          <p:cNvPr id="165" name="Google Shape;165;p1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15"/>
          <p:cNvSpPr txBox="1"/>
          <p:nvPr>
            <p:ph type="title"/>
          </p:nvPr>
        </p:nvSpPr>
        <p:spPr>
          <a:xfrm>
            <a:off x="838200" y="365125"/>
            <a:ext cx="10515600" cy="1325563"/>
          </a:xfrm>
          <a:prstGeom prst="rect">
            <a:avLst/>
          </a:prstGeom>
          <a:noFill/>
          <a:ln>
            <a:noFill/>
          </a:ln>
        </p:spPr>
        <p:txBody>
          <a:bodyPr anchorCtr="0" anchor="ctr" bIns="60925" lIns="121900" spcFirstLastPara="1" rIns="121900" wrap="square" tIns="60925">
            <a:noAutofit/>
          </a:bodyPr>
          <a:lstStyle/>
          <a:p>
            <a:pPr indent="0" lvl="0" marL="0" rtl="0" algn="ctr">
              <a:lnSpc>
                <a:spcPct val="90000"/>
              </a:lnSpc>
              <a:spcBef>
                <a:spcPts val="0"/>
              </a:spcBef>
              <a:spcAft>
                <a:spcPts val="0"/>
              </a:spcAft>
              <a:buClr>
                <a:schemeClr val="dk1"/>
              </a:buClr>
              <a:buSzPts val="4400"/>
              <a:buFont typeface="Times New Roman"/>
              <a:buNone/>
            </a:pPr>
            <a:r>
              <a:rPr b="1" lang="en">
                <a:latin typeface="Times New Roman"/>
                <a:ea typeface="Times New Roman"/>
                <a:cs typeface="Times New Roman"/>
                <a:sym typeface="Times New Roman"/>
              </a:rPr>
              <a:t>Meaning of Motion</a:t>
            </a:r>
            <a:endParaRPr b="1">
              <a:latin typeface="Times New Roman"/>
              <a:ea typeface="Times New Roman"/>
              <a:cs typeface="Times New Roman"/>
              <a:sym typeface="Times New Roman"/>
            </a:endParaRPr>
          </a:p>
        </p:txBody>
      </p:sp>
      <p:sp>
        <p:nvSpPr>
          <p:cNvPr id="171" name="Google Shape;171;p15"/>
          <p:cNvSpPr txBox="1"/>
          <p:nvPr>
            <p:ph idx="1" type="body"/>
          </p:nvPr>
        </p:nvSpPr>
        <p:spPr>
          <a:xfrm>
            <a:off x="838200" y="1825625"/>
            <a:ext cx="10515600" cy="4351338"/>
          </a:xfrm>
          <a:prstGeom prst="rect">
            <a:avLst/>
          </a:prstGeom>
          <a:noFill/>
          <a:ln>
            <a:noFill/>
          </a:ln>
        </p:spPr>
        <p:txBody>
          <a:bodyPr anchorCtr="0" anchor="t" bIns="60925" lIns="121900" spcFirstLastPara="1" rIns="121900" wrap="square" tIns="60925">
            <a:noAutofit/>
          </a:bodyPr>
          <a:lstStyle/>
          <a:p>
            <a:pPr indent="-457189" lvl="0" marL="457189" rtl="0" algn="l">
              <a:lnSpc>
                <a:spcPct val="90000"/>
              </a:lnSpc>
              <a:spcBef>
                <a:spcPts val="0"/>
              </a:spcBef>
              <a:spcAft>
                <a:spcPts val="0"/>
              </a:spcAft>
              <a:buClr>
                <a:schemeClr val="dk1"/>
              </a:buClr>
              <a:buSzPts val="5400"/>
              <a:buChar char="•"/>
            </a:pPr>
            <a:r>
              <a:rPr lang="en" sz="3733">
                <a:latin typeface="Times New Roman"/>
                <a:ea typeface="Times New Roman"/>
                <a:cs typeface="Times New Roman"/>
                <a:sym typeface="Times New Roman"/>
              </a:rPr>
              <a:t>A motion is an application, usually in writing made to the court for an order in terms of the prayers sought in the application.</a:t>
            </a:r>
            <a:endParaRPr/>
          </a:p>
          <a:p>
            <a:pPr indent="0" lvl="0" marL="0" rtl="0" algn="l">
              <a:lnSpc>
                <a:spcPct val="90000"/>
              </a:lnSpc>
              <a:spcBef>
                <a:spcPts val="0"/>
              </a:spcBef>
              <a:spcAft>
                <a:spcPts val="0"/>
              </a:spcAft>
              <a:buClr>
                <a:schemeClr val="dk1"/>
              </a:buClr>
              <a:buSzPts val="5400"/>
              <a:buNone/>
            </a:pPr>
            <a:r>
              <a:t/>
            </a:r>
            <a:endParaRPr sz="3733">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16"/>
          <p:cNvSpPr txBox="1"/>
          <p:nvPr>
            <p:ph type="title"/>
          </p:nvPr>
        </p:nvSpPr>
        <p:spPr>
          <a:xfrm>
            <a:off x="838200" y="365125"/>
            <a:ext cx="10515600" cy="1325563"/>
          </a:xfrm>
          <a:prstGeom prst="rect">
            <a:avLst/>
          </a:prstGeom>
          <a:noFill/>
          <a:ln>
            <a:noFill/>
          </a:ln>
        </p:spPr>
        <p:txBody>
          <a:bodyPr anchorCtr="0" anchor="ctr" bIns="60925" lIns="121900" spcFirstLastPara="1" rIns="121900" wrap="square" tIns="60925">
            <a:noAutofit/>
          </a:bodyPr>
          <a:lstStyle/>
          <a:p>
            <a:pPr indent="0" lvl="0" marL="0" rtl="0" algn="ctr">
              <a:lnSpc>
                <a:spcPct val="90000"/>
              </a:lnSpc>
              <a:spcBef>
                <a:spcPts val="0"/>
              </a:spcBef>
              <a:spcAft>
                <a:spcPts val="0"/>
              </a:spcAft>
              <a:buClr>
                <a:schemeClr val="dk1"/>
              </a:buClr>
              <a:buSzPts val="4400"/>
              <a:buFont typeface="Times New Roman"/>
              <a:buNone/>
            </a:pPr>
            <a:r>
              <a:rPr b="1" lang="en">
                <a:latin typeface="Times New Roman"/>
                <a:ea typeface="Times New Roman"/>
                <a:cs typeface="Times New Roman"/>
                <a:sym typeface="Times New Roman"/>
              </a:rPr>
              <a:t>Types of Motion</a:t>
            </a:r>
            <a:endParaRPr b="1">
              <a:latin typeface="Times New Roman"/>
              <a:ea typeface="Times New Roman"/>
              <a:cs typeface="Times New Roman"/>
              <a:sym typeface="Times New Roman"/>
            </a:endParaRPr>
          </a:p>
        </p:txBody>
      </p:sp>
      <p:sp>
        <p:nvSpPr>
          <p:cNvPr id="177" name="Google Shape;177;p16"/>
          <p:cNvSpPr txBox="1"/>
          <p:nvPr>
            <p:ph idx="1" type="body"/>
          </p:nvPr>
        </p:nvSpPr>
        <p:spPr>
          <a:xfrm>
            <a:off x="838200" y="1825625"/>
            <a:ext cx="10515600" cy="4351338"/>
          </a:xfrm>
          <a:prstGeom prst="rect">
            <a:avLst/>
          </a:prstGeom>
          <a:noFill/>
          <a:ln>
            <a:noFill/>
          </a:ln>
        </p:spPr>
        <p:txBody>
          <a:bodyPr anchorCtr="0" anchor="t" bIns="60925" lIns="121900" spcFirstLastPara="1" rIns="121900" wrap="square" tIns="60925">
            <a:noAutofit/>
          </a:bodyPr>
          <a:lstStyle/>
          <a:p>
            <a:pPr indent="-457189" lvl="0" marL="457189" rtl="0" algn="l">
              <a:lnSpc>
                <a:spcPct val="90000"/>
              </a:lnSpc>
              <a:spcBef>
                <a:spcPts val="0"/>
              </a:spcBef>
              <a:spcAft>
                <a:spcPts val="0"/>
              </a:spcAft>
              <a:buClr>
                <a:schemeClr val="dk1"/>
              </a:buClr>
              <a:buSzPts val="4000"/>
              <a:buChar char="•"/>
            </a:pPr>
            <a:r>
              <a:rPr lang="en" sz="5333">
                <a:latin typeface="Times New Roman"/>
                <a:ea typeface="Times New Roman"/>
                <a:cs typeface="Times New Roman"/>
                <a:sym typeface="Times New Roman"/>
              </a:rPr>
              <a:t>Motion </a:t>
            </a:r>
            <a:r>
              <a:rPr i="1" lang="en" sz="5333">
                <a:latin typeface="Times New Roman"/>
                <a:ea typeface="Times New Roman"/>
                <a:cs typeface="Times New Roman"/>
                <a:sym typeface="Times New Roman"/>
              </a:rPr>
              <a:t>Ex-parte</a:t>
            </a:r>
            <a:br>
              <a:rPr lang="en" sz="5333">
                <a:latin typeface="Times New Roman"/>
                <a:ea typeface="Times New Roman"/>
                <a:cs typeface="Times New Roman"/>
                <a:sym typeface="Times New Roman"/>
              </a:rPr>
            </a:br>
            <a:r>
              <a:rPr lang="en" sz="5333">
                <a:latin typeface="Times New Roman"/>
                <a:ea typeface="Times New Roman"/>
                <a:cs typeface="Times New Roman"/>
                <a:sym typeface="Times New Roman"/>
              </a:rPr>
              <a:t>Motion on Notice</a:t>
            </a:r>
            <a:endParaRPr sz="5333">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Times New Roman"/>
              <a:buNone/>
            </a:pPr>
            <a:r>
              <a:rPr b="1" lang="en">
                <a:latin typeface="Times New Roman"/>
                <a:ea typeface="Times New Roman"/>
                <a:cs typeface="Times New Roman"/>
                <a:sym typeface="Times New Roman"/>
              </a:rPr>
              <a:t>Motion </a:t>
            </a:r>
            <a:r>
              <a:rPr b="1" i="1" lang="en">
                <a:latin typeface="Times New Roman"/>
                <a:ea typeface="Times New Roman"/>
                <a:cs typeface="Times New Roman"/>
                <a:sym typeface="Times New Roman"/>
              </a:rPr>
              <a:t>Ex-parte</a:t>
            </a:r>
            <a:endParaRPr/>
          </a:p>
        </p:txBody>
      </p:sp>
      <p:sp>
        <p:nvSpPr>
          <p:cNvPr id="183" name="Google Shape;183;p1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
                <a:latin typeface="Times New Roman"/>
                <a:ea typeface="Times New Roman"/>
                <a:cs typeface="Times New Roman"/>
                <a:sym typeface="Times New Roman"/>
              </a:rPr>
              <a:t>It is an application for an order of court without the notice of the other party to the suit. Even where the party to be affected is in court he cannot respond to same. See </a:t>
            </a:r>
            <a:r>
              <a:rPr b="1" lang="en">
                <a:latin typeface="Times New Roman"/>
                <a:ea typeface="Times New Roman"/>
                <a:cs typeface="Times New Roman"/>
                <a:sym typeface="Times New Roman"/>
              </a:rPr>
              <a:t>7-UP BOTTLING CO. V ABIOLA &amp; SONS LTD (1995)2 SCNJ37, GOMBE V. PW NIG LTD (1995) 2 SCNJ 37. </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1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b="1" lang="en"/>
              <a:t>When to use Motion Ex parte</a:t>
            </a:r>
            <a:endParaRPr b="1"/>
          </a:p>
        </p:txBody>
      </p:sp>
      <p:sp>
        <p:nvSpPr>
          <p:cNvPr id="189" name="Google Shape;189;p1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600"/>
              <a:buNone/>
            </a:pPr>
            <a:r>
              <a:rPr i="1" lang="en">
                <a:latin typeface="Times New Roman"/>
                <a:ea typeface="Times New Roman"/>
                <a:cs typeface="Times New Roman"/>
                <a:sym typeface="Times New Roman"/>
              </a:rPr>
              <a:t>Ex parte </a:t>
            </a:r>
            <a:r>
              <a:rPr lang="en">
                <a:latin typeface="Times New Roman"/>
                <a:ea typeface="Times New Roman"/>
                <a:cs typeface="Times New Roman"/>
                <a:sym typeface="Times New Roman"/>
              </a:rPr>
              <a:t>applications are normally permitted in two circumstances:</a:t>
            </a:r>
            <a:endParaRPr/>
          </a:p>
          <a:p>
            <a:pPr indent="-457189" lvl="0" marL="457189" rtl="0" algn="l">
              <a:lnSpc>
                <a:spcPct val="90000"/>
              </a:lnSpc>
              <a:spcBef>
                <a:spcPts val="960"/>
              </a:spcBef>
              <a:spcAft>
                <a:spcPts val="0"/>
              </a:spcAft>
              <a:buClr>
                <a:schemeClr val="dk1"/>
              </a:buClr>
              <a:buSzPts val="3600"/>
              <a:buFont typeface="Noto Sans Symbols"/>
              <a:buChar char="⮚"/>
            </a:pPr>
            <a:r>
              <a:rPr lang="en">
                <a:latin typeface="Times New Roman"/>
                <a:ea typeface="Times New Roman"/>
                <a:cs typeface="Times New Roman"/>
                <a:sym typeface="Times New Roman"/>
              </a:rPr>
              <a:t>Where time is of the essence</a:t>
            </a:r>
            <a:endParaRPr/>
          </a:p>
          <a:p>
            <a:pPr indent="-457189" lvl="0" marL="457189" rtl="0" algn="l">
              <a:lnSpc>
                <a:spcPct val="90000"/>
              </a:lnSpc>
              <a:spcBef>
                <a:spcPts val="960"/>
              </a:spcBef>
              <a:spcAft>
                <a:spcPts val="0"/>
              </a:spcAft>
              <a:buClr>
                <a:schemeClr val="dk1"/>
              </a:buClr>
              <a:buSzPts val="3600"/>
              <a:buFont typeface="Noto Sans Symbols"/>
              <a:buChar char="⮚"/>
            </a:pPr>
            <a:r>
              <a:rPr lang="en">
                <a:latin typeface="Times New Roman"/>
                <a:ea typeface="Times New Roman"/>
                <a:cs typeface="Times New Roman"/>
                <a:sym typeface="Times New Roman"/>
              </a:rPr>
              <a:t>Where from the nature of the application, the interest of the adverse party will not be affected negatively. </a:t>
            </a:r>
            <a:r>
              <a:rPr b="1" lang="en">
                <a:latin typeface="Times New Roman"/>
                <a:ea typeface="Times New Roman"/>
                <a:cs typeface="Times New Roman"/>
                <a:sym typeface="Times New Roman"/>
              </a:rPr>
              <a:t>See LEEDO PRESIDENTIAL MOTEL LTD V BANK OF THE NORTH LTD (1998)7 SCJN 328 </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19"/>
          <p:cNvSpPr txBox="1"/>
          <p:nvPr>
            <p:ph idx="1" type="body"/>
          </p:nvPr>
        </p:nvSpPr>
        <p:spPr>
          <a:xfrm>
            <a:off x="838200" y="1825625"/>
            <a:ext cx="10515600" cy="4351338"/>
          </a:xfrm>
          <a:prstGeom prst="rect">
            <a:avLst/>
          </a:prstGeom>
          <a:noFill/>
          <a:ln>
            <a:noFill/>
          </a:ln>
        </p:spPr>
        <p:txBody>
          <a:bodyPr anchorCtr="0" anchor="t" bIns="60925" lIns="121900" spcFirstLastPara="1" rIns="121900" wrap="square" tIns="60925">
            <a:noAutofit/>
          </a:bodyPr>
          <a:lstStyle/>
          <a:p>
            <a:pPr indent="-457189" lvl="0" marL="457189" rtl="0" algn="l">
              <a:lnSpc>
                <a:spcPct val="90000"/>
              </a:lnSpc>
              <a:spcBef>
                <a:spcPts val="0"/>
              </a:spcBef>
              <a:spcAft>
                <a:spcPts val="0"/>
              </a:spcAft>
              <a:buClr>
                <a:schemeClr val="dk1"/>
              </a:buClr>
              <a:buSzPts val="4400"/>
              <a:buChar char="•"/>
            </a:pPr>
            <a:r>
              <a:rPr b="1" lang="en" sz="3733">
                <a:latin typeface="Times New Roman"/>
                <a:ea typeface="Times New Roman"/>
                <a:cs typeface="Times New Roman"/>
                <a:sym typeface="Times New Roman"/>
              </a:rPr>
              <a:t>NOTE: </a:t>
            </a:r>
            <a:r>
              <a:rPr lang="en" sz="3733">
                <a:latin typeface="Times New Roman"/>
                <a:ea typeface="Times New Roman"/>
                <a:cs typeface="Times New Roman"/>
                <a:sym typeface="Times New Roman"/>
              </a:rPr>
              <a:t>no application for an injunction can be made </a:t>
            </a:r>
            <a:r>
              <a:rPr i="1" lang="en" sz="3733">
                <a:latin typeface="Times New Roman"/>
                <a:ea typeface="Times New Roman"/>
                <a:cs typeface="Times New Roman"/>
                <a:sym typeface="Times New Roman"/>
              </a:rPr>
              <a:t>ex parte </a:t>
            </a:r>
            <a:r>
              <a:rPr lang="en" sz="3733">
                <a:latin typeface="Times New Roman"/>
                <a:ea typeface="Times New Roman"/>
                <a:cs typeface="Times New Roman"/>
                <a:sym typeface="Times New Roman"/>
              </a:rPr>
              <a:t>except the applicant files with it a motion on notice. See </a:t>
            </a:r>
            <a:r>
              <a:rPr b="1" lang="en" sz="3733">
                <a:solidFill>
                  <a:srgbClr val="FF0000"/>
                </a:solidFill>
                <a:latin typeface="Times New Roman"/>
                <a:ea typeface="Times New Roman"/>
                <a:cs typeface="Times New Roman"/>
                <a:sym typeface="Times New Roman"/>
              </a:rPr>
              <a:t>O 30 R 3(1) </a:t>
            </a:r>
            <a:r>
              <a:rPr lang="en" sz="3733">
                <a:solidFill>
                  <a:srgbClr val="FF0000"/>
                </a:solidFill>
                <a:latin typeface="Times New Roman"/>
                <a:ea typeface="Times New Roman"/>
                <a:cs typeface="Times New Roman"/>
                <a:sym typeface="Times New Roman"/>
              </a:rPr>
              <a:t>Abuja</a:t>
            </a:r>
            <a:r>
              <a:rPr lang="en" sz="3733">
                <a:latin typeface="Times New Roman"/>
                <a:ea typeface="Times New Roman"/>
                <a:cs typeface="Times New Roman"/>
                <a:sym typeface="Times New Roman"/>
              </a:rPr>
              <a:t> and </a:t>
            </a:r>
            <a:r>
              <a:rPr b="1" lang="en" sz="3733">
                <a:latin typeface="Times New Roman"/>
                <a:ea typeface="Times New Roman"/>
                <a:cs typeface="Times New Roman"/>
                <a:sym typeface="Times New Roman"/>
              </a:rPr>
              <a:t>O 43 R 3(2) Lagos</a:t>
            </a:r>
            <a:endParaRPr b="1" sz="3733">
              <a:latin typeface="Times New Roman"/>
              <a:ea typeface="Times New Roman"/>
              <a:cs typeface="Times New Roman"/>
              <a:sym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20"/>
          <p:cNvSpPr txBox="1"/>
          <p:nvPr>
            <p:ph type="title"/>
          </p:nvPr>
        </p:nvSpPr>
        <p:spPr>
          <a:xfrm>
            <a:off x="838200" y="365125"/>
            <a:ext cx="10515600" cy="1325563"/>
          </a:xfrm>
          <a:prstGeom prst="rect">
            <a:avLst/>
          </a:prstGeom>
          <a:noFill/>
          <a:ln>
            <a:noFill/>
          </a:ln>
        </p:spPr>
        <p:txBody>
          <a:bodyPr anchorCtr="0" anchor="ctr" bIns="60925" lIns="121900" spcFirstLastPara="1" rIns="121900" wrap="square" tIns="60925">
            <a:noAutofit/>
          </a:bodyPr>
          <a:lstStyle/>
          <a:p>
            <a:pPr indent="0" lvl="0" marL="0" rtl="0" algn="ctr">
              <a:lnSpc>
                <a:spcPct val="90000"/>
              </a:lnSpc>
              <a:spcBef>
                <a:spcPts val="0"/>
              </a:spcBef>
              <a:spcAft>
                <a:spcPts val="0"/>
              </a:spcAft>
              <a:buClr>
                <a:schemeClr val="dk1"/>
              </a:buClr>
              <a:buSzPts val="3600"/>
              <a:buFont typeface="Times New Roman"/>
              <a:buNone/>
            </a:pPr>
            <a:r>
              <a:rPr b="1" lang="en" sz="4800">
                <a:latin typeface="Times New Roman"/>
                <a:ea typeface="Times New Roman"/>
                <a:cs typeface="Times New Roman"/>
                <a:sym typeface="Times New Roman"/>
              </a:rPr>
              <a:t>Examples of Application that can be made by Motion Ex parte</a:t>
            </a:r>
            <a:endParaRPr i="1" sz="4800"/>
          </a:p>
        </p:txBody>
      </p:sp>
      <p:sp>
        <p:nvSpPr>
          <p:cNvPr id="200" name="Google Shape;200;p20"/>
          <p:cNvSpPr txBox="1"/>
          <p:nvPr>
            <p:ph idx="1" type="body"/>
          </p:nvPr>
        </p:nvSpPr>
        <p:spPr>
          <a:xfrm>
            <a:off x="838200" y="1825625"/>
            <a:ext cx="10515600" cy="4351338"/>
          </a:xfrm>
          <a:prstGeom prst="rect">
            <a:avLst/>
          </a:prstGeom>
          <a:noFill/>
          <a:ln>
            <a:noFill/>
          </a:ln>
        </p:spPr>
        <p:txBody>
          <a:bodyPr anchorCtr="0" anchor="t" bIns="60925" lIns="121900" spcFirstLastPara="1" rIns="121900" wrap="square" tIns="60925">
            <a:noAutofit/>
          </a:bodyPr>
          <a:lstStyle/>
          <a:p>
            <a:pPr indent="-457189" lvl="0" marL="457189" rtl="0" algn="l">
              <a:lnSpc>
                <a:spcPct val="90000"/>
              </a:lnSpc>
              <a:spcBef>
                <a:spcPts val="0"/>
              </a:spcBef>
              <a:spcAft>
                <a:spcPts val="0"/>
              </a:spcAft>
              <a:buClr>
                <a:schemeClr val="dk1"/>
              </a:buClr>
              <a:buSzPts val="3600"/>
              <a:buFont typeface="Noto Sans Symbols"/>
              <a:buChar char="✔"/>
            </a:pPr>
            <a:r>
              <a:rPr lang="en" sz="2667">
                <a:latin typeface="Times New Roman"/>
                <a:ea typeface="Times New Roman"/>
                <a:cs typeface="Times New Roman"/>
                <a:sym typeface="Times New Roman"/>
              </a:rPr>
              <a:t>Application for leave to bring a suit in a representative capacity</a:t>
            </a:r>
            <a:endParaRPr sz="2667"/>
          </a:p>
          <a:p>
            <a:pPr indent="-457189" lvl="0" marL="457189" rtl="0" algn="l">
              <a:lnSpc>
                <a:spcPct val="90000"/>
              </a:lnSpc>
              <a:spcBef>
                <a:spcPts val="960"/>
              </a:spcBef>
              <a:spcAft>
                <a:spcPts val="0"/>
              </a:spcAft>
              <a:buClr>
                <a:schemeClr val="dk1"/>
              </a:buClr>
              <a:buSzPts val="3600"/>
              <a:buFont typeface="Noto Sans Symbols"/>
              <a:buChar char="✔"/>
            </a:pPr>
            <a:r>
              <a:rPr lang="en" sz="2667">
                <a:latin typeface="Times New Roman"/>
                <a:ea typeface="Times New Roman"/>
                <a:cs typeface="Times New Roman"/>
                <a:sym typeface="Times New Roman"/>
              </a:rPr>
              <a:t>Application for substituted service</a:t>
            </a:r>
            <a:endParaRPr sz="2667"/>
          </a:p>
          <a:p>
            <a:pPr indent="-457189" lvl="0" marL="457189" rtl="0" algn="l">
              <a:lnSpc>
                <a:spcPct val="90000"/>
              </a:lnSpc>
              <a:spcBef>
                <a:spcPts val="960"/>
              </a:spcBef>
              <a:spcAft>
                <a:spcPts val="0"/>
              </a:spcAft>
              <a:buClr>
                <a:schemeClr val="dk1"/>
              </a:buClr>
              <a:buSzPts val="3600"/>
              <a:buFont typeface="Noto Sans Symbols"/>
              <a:buChar char="✔"/>
            </a:pPr>
            <a:r>
              <a:rPr lang="en" sz="2667">
                <a:latin typeface="Times New Roman"/>
                <a:ea typeface="Times New Roman"/>
                <a:cs typeface="Times New Roman"/>
                <a:sym typeface="Times New Roman"/>
              </a:rPr>
              <a:t>Application for interim injunction</a:t>
            </a:r>
            <a:endParaRPr sz="2667"/>
          </a:p>
          <a:p>
            <a:pPr indent="-457189" lvl="0" marL="457189" rtl="0" algn="l">
              <a:lnSpc>
                <a:spcPct val="90000"/>
              </a:lnSpc>
              <a:spcBef>
                <a:spcPts val="960"/>
              </a:spcBef>
              <a:spcAft>
                <a:spcPts val="0"/>
              </a:spcAft>
              <a:buClr>
                <a:schemeClr val="dk1"/>
              </a:buClr>
              <a:buSzPts val="3600"/>
              <a:buFont typeface="Noto Sans Symbols"/>
              <a:buChar char="✔"/>
            </a:pPr>
            <a:r>
              <a:rPr lang="en" sz="2667">
                <a:latin typeface="Times New Roman"/>
                <a:ea typeface="Times New Roman"/>
                <a:cs typeface="Times New Roman"/>
                <a:sym typeface="Times New Roman"/>
              </a:rPr>
              <a:t>Application to renew a writ</a:t>
            </a:r>
            <a:endParaRPr sz="2667"/>
          </a:p>
          <a:p>
            <a:pPr indent="-457189" lvl="0" marL="457189" rtl="0" algn="l">
              <a:lnSpc>
                <a:spcPct val="90000"/>
              </a:lnSpc>
              <a:spcBef>
                <a:spcPts val="960"/>
              </a:spcBef>
              <a:spcAft>
                <a:spcPts val="0"/>
              </a:spcAft>
              <a:buClr>
                <a:schemeClr val="dk1"/>
              </a:buClr>
              <a:buSzPts val="3600"/>
              <a:buFont typeface="Noto Sans Symbols"/>
              <a:buChar char="✔"/>
            </a:pPr>
            <a:r>
              <a:rPr lang="en" sz="2667">
                <a:latin typeface="Times New Roman"/>
                <a:ea typeface="Times New Roman"/>
                <a:cs typeface="Times New Roman"/>
                <a:sym typeface="Times New Roman"/>
              </a:rPr>
              <a:t>Application for garnishee order nisi</a:t>
            </a:r>
            <a:endParaRPr sz="2667"/>
          </a:p>
          <a:p>
            <a:pPr indent="-457189" lvl="0" marL="457189" rtl="0" algn="l">
              <a:lnSpc>
                <a:spcPct val="90000"/>
              </a:lnSpc>
              <a:spcBef>
                <a:spcPts val="960"/>
              </a:spcBef>
              <a:spcAft>
                <a:spcPts val="0"/>
              </a:spcAft>
              <a:buClr>
                <a:schemeClr val="dk1"/>
              </a:buClr>
              <a:buSzPts val="3600"/>
              <a:buFont typeface="Noto Sans Symbols"/>
              <a:buChar char="✔"/>
            </a:pPr>
            <a:r>
              <a:rPr lang="en" sz="2667">
                <a:latin typeface="Times New Roman"/>
                <a:ea typeface="Times New Roman"/>
                <a:cs typeface="Times New Roman"/>
                <a:sym typeface="Times New Roman"/>
              </a:rPr>
              <a:t>Anton pillar injunction</a:t>
            </a:r>
            <a:endParaRPr sz="2667"/>
          </a:p>
          <a:p>
            <a:pPr indent="-457189" lvl="0" marL="457189" rtl="0" algn="l">
              <a:lnSpc>
                <a:spcPct val="90000"/>
              </a:lnSpc>
              <a:spcBef>
                <a:spcPts val="960"/>
              </a:spcBef>
              <a:spcAft>
                <a:spcPts val="0"/>
              </a:spcAft>
              <a:buClr>
                <a:schemeClr val="dk1"/>
              </a:buClr>
              <a:buSzPts val="3600"/>
              <a:buFont typeface="Noto Sans Symbols"/>
              <a:buChar char="✔"/>
            </a:pPr>
            <a:r>
              <a:rPr lang="en" sz="2667">
                <a:latin typeface="Times New Roman"/>
                <a:ea typeface="Times New Roman"/>
                <a:cs typeface="Times New Roman"/>
                <a:sym typeface="Times New Roman"/>
              </a:rPr>
              <a:t>Mareva injunction etc.</a:t>
            </a:r>
            <a:endParaRPr sz="2667"/>
          </a:p>
          <a:p>
            <a:pPr indent="-152396" lvl="0" marL="457189" rtl="0" algn="l">
              <a:lnSpc>
                <a:spcPct val="90000"/>
              </a:lnSpc>
              <a:spcBef>
                <a:spcPts val="960"/>
              </a:spcBef>
              <a:spcAft>
                <a:spcPts val="0"/>
              </a:spcAft>
              <a:buClr>
                <a:schemeClr val="dk1"/>
              </a:buClr>
              <a:buSzPts val="3600"/>
              <a:buNone/>
            </a:pPr>
            <a:r>
              <a:t/>
            </a:r>
            <a:endParaRPr sz="2667"/>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21"/>
          <p:cNvSpPr txBox="1"/>
          <p:nvPr>
            <p:ph type="title"/>
          </p:nvPr>
        </p:nvSpPr>
        <p:spPr>
          <a:xfrm>
            <a:off x="838200" y="365125"/>
            <a:ext cx="10515600" cy="1325563"/>
          </a:xfrm>
          <a:prstGeom prst="rect">
            <a:avLst/>
          </a:prstGeom>
          <a:noFill/>
          <a:ln>
            <a:noFill/>
          </a:ln>
        </p:spPr>
        <p:txBody>
          <a:bodyPr anchorCtr="0" anchor="ctr" bIns="60925" lIns="121900" spcFirstLastPara="1" rIns="121900" wrap="square" tIns="60925">
            <a:noAutofit/>
          </a:bodyPr>
          <a:lstStyle/>
          <a:p>
            <a:pPr indent="0" lvl="0" marL="0" rtl="0" algn="ctr">
              <a:lnSpc>
                <a:spcPct val="90000"/>
              </a:lnSpc>
              <a:spcBef>
                <a:spcPts val="0"/>
              </a:spcBef>
              <a:spcAft>
                <a:spcPts val="0"/>
              </a:spcAft>
              <a:buClr>
                <a:schemeClr val="dk1"/>
              </a:buClr>
              <a:buSzPts val="3959"/>
              <a:buFont typeface="Times New Roman"/>
              <a:buNone/>
            </a:pPr>
            <a:r>
              <a:rPr b="1" lang="en" sz="4267">
                <a:latin typeface="Times New Roman"/>
                <a:ea typeface="Times New Roman"/>
                <a:cs typeface="Times New Roman"/>
                <a:sym typeface="Times New Roman"/>
              </a:rPr>
              <a:t>Orders the Court may make after hearing Ex parte Application</a:t>
            </a:r>
            <a:endParaRPr b="1" sz="4267">
              <a:latin typeface="Times New Roman"/>
              <a:ea typeface="Times New Roman"/>
              <a:cs typeface="Times New Roman"/>
              <a:sym typeface="Times New Roman"/>
            </a:endParaRPr>
          </a:p>
        </p:txBody>
      </p:sp>
      <p:sp>
        <p:nvSpPr>
          <p:cNvPr id="206" name="Google Shape;206;p21"/>
          <p:cNvSpPr txBox="1"/>
          <p:nvPr>
            <p:ph idx="1" type="body"/>
          </p:nvPr>
        </p:nvSpPr>
        <p:spPr>
          <a:xfrm>
            <a:off x="609600" y="2106705"/>
            <a:ext cx="10972800" cy="4297200"/>
          </a:xfrm>
          <a:prstGeom prst="rect">
            <a:avLst/>
          </a:prstGeom>
          <a:noFill/>
          <a:ln>
            <a:noFill/>
          </a:ln>
        </p:spPr>
        <p:txBody>
          <a:bodyPr anchorCtr="0" anchor="t" bIns="60925" lIns="121900" spcFirstLastPara="1" rIns="121900" wrap="square" tIns="60925">
            <a:noAutofit/>
          </a:bodyPr>
          <a:lstStyle/>
          <a:p>
            <a:pPr indent="-457189" lvl="0" marL="457189" rtl="0" algn="l">
              <a:lnSpc>
                <a:spcPct val="90000"/>
              </a:lnSpc>
              <a:spcBef>
                <a:spcPts val="0"/>
              </a:spcBef>
              <a:spcAft>
                <a:spcPts val="0"/>
              </a:spcAft>
              <a:buClr>
                <a:schemeClr val="dk1"/>
              </a:buClr>
              <a:buSzPts val="3400"/>
              <a:buFont typeface="Noto Sans Symbols"/>
              <a:buChar char="⮚"/>
            </a:pPr>
            <a:r>
              <a:rPr lang="en" sz="2667">
                <a:latin typeface="Times New Roman"/>
                <a:ea typeface="Times New Roman"/>
                <a:cs typeface="Times New Roman"/>
                <a:sym typeface="Times New Roman"/>
              </a:rPr>
              <a:t>Grant the application</a:t>
            </a:r>
            <a:endParaRPr sz="2667"/>
          </a:p>
          <a:p>
            <a:pPr indent="-457189" lvl="0" marL="457189" rtl="0" algn="l">
              <a:lnSpc>
                <a:spcPct val="90000"/>
              </a:lnSpc>
              <a:spcBef>
                <a:spcPts val="907"/>
              </a:spcBef>
              <a:spcAft>
                <a:spcPts val="0"/>
              </a:spcAft>
              <a:buClr>
                <a:schemeClr val="dk1"/>
              </a:buClr>
              <a:buSzPts val="3400"/>
              <a:buFont typeface="Noto Sans Symbols"/>
              <a:buChar char="⮚"/>
            </a:pPr>
            <a:r>
              <a:rPr lang="en" sz="2667">
                <a:latin typeface="Times New Roman"/>
                <a:ea typeface="Times New Roman"/>
                <a:cs typeface="Times New Roman"/>
                <a:sym typeface="Times New Roman"/>
              </a:rPr>
              <a:t>Refuse the application</a:t>
            </a:r>
            <a:endParaRPr sz="2667"/>
          </a:p>
          <a:p>
            <a:pPr indent="-457189" lvl="0" marL="457189" rtl="0" algn="l">
              <a:lnSpc>
                <a:spcPct val="90000"/>
              </a:lnSpc>
              <a:spcBef>
                <a:spcPts val="907"/>
              </a:spcBef>
              <a:spcAft>
                <a:spcPts val="0"/>
              </a:spcAft>
              <a:buClr>
                <a:schemeClr val="dk1"/>
              </a:buClr>
              <a:buSzPts val="3400"/>
              <a:buFont typeface="Noto Sans Symbols"/>
              <a:buChar char="⮚"/>
            </a:pPr>
            <a:r>
              <a:rPr lang="en" sz="2667">
                <a:latin typeface="Times New Roman"/>
                <a:ea typeface="Times New Roman"/>
                <a:cs typeface="Times New Roman"/>
                <a:sym typeface="Times New Roman"/>
              </a:rPr>
              <a:t>Direct that the motion be served on the other party</a:t>
            </a:r>
            <a:endParaRPr sz="2667"/>
          </a:p>
          <a:p>
            <a:pPr indent="-457189" lvl="0" marL="457189" rtl="0" algn="l">
              <a:lnSpc>
                <a:spcPct val="90000"/>
              </a:lnSpc>
              <a:spcBef>
                <a:spcPts val="907"/>
              </a:spcBef>
              <a:spcAft>
                <a:spcPts val="0"/>
              </a:spcAft>
              <a:buClr>
                <a:schemeClr val="dk1"/>
              </a:buClr>
              <a:buSzPts val="3400"/>
              <a:buFont typeface="Noto Sans Symbols"/>
              <a:buChar char="⮚"/>
            </a:pPr>
            <a:r>
              <a:rPr lang="en" sz="2667">
                <a:latin typeface="Times New Roman"/>
                <a:ea typeface="Times New Roman"/>
                <a:cs typeface="Times New Roman"/>
                <a:sym typeface="Times New Roman"/>
              </a:rPr>
              <a:t>Order that the party sought to be affected appear in court within a given time and show cause why the order should not be granted.</a:t>
            </a:r>
            <a:endParaRPr sz="2667"/>
          </a:p>
          <a:p>
            <a:pPr indent="0" lvl="0" marL="0" rtl="0" algn="l">
              <a:lnSpc>
                <a:spcPct val="90000"/>
              </a:lnSpc>
              <a:spcBef>
                <a:spcPts val="907"/>
              </a:spcBef>
              <a:spcAft>
                <a:spcPts val="0"/>
              </a:spcAft>
              <a:buClr>
                <a:schemeClr val="dk1"/>
              </a:buClr>
              <a:buSzPts val="3400"/>
              <a:buNone/>
            </a:pPr>
            <a:r>
              <a:rPr lang="en" sz="2667">
                <a:latin typeface="Times New Roman"/>
                <a:ea typeface="Times New Roman"/>
                <a:cs typeface="Times New Roman"/>
                <a:sym typeface="Times New Roman"/>
              </a:rPr>
              <a:t>See </a:t>
            </a:r>
            <a:r>
              <a:rPr b="1" lang="en" sz="2667">
                <a:solidFill>
                  <a:srgbClr val="FF0000"/>
                </a:solidFill>
                <a:latin typeface="Times New Roman"/>
                <a:ea typeface="Times New Roman"/>
                <a:cs typeface="Times New Roman"/>
                <a:sym typeface="Times New Roman"/>
              </a:rPr>
              <a:t>O 30 R 7 </a:t>
            </a:r>
            <a:r>
              <a:rPr lang="en" sz="2667">
                <a:solidFill>
                  <a:srgbClr val="FF0000"/>
                </a:solidFill>
                <a:latin typeface="Times New Roman"/>
                <a:ea typeface="Times New Roman"/>
                <a:cs typeface="Times New Roman"/>
                <a:sym typeface="Times New Roman"/>
              </a:rPr>
              <a:t>Abuja</a:t>
            </a:r>
            <a:r>
              <a:rPr lang="en" sz="2667">
                <a:latin typeface="Times New Roman"/>
                <a:ea typeface="Times New Roman"/>
                <a:cs typeface="Times New Roman"/>
                <a:sym typeface="Times New Roman"/>
              </a:rPr>
              <a:t>, </a:t>
            </a:r>
            <a:r>
              <a:rPr b="1" lang="en" sz="2667">
                <a:latin typeface="Times New Roman"/>
                <a:ea typeface="Times New Roman"/>
                <a:cs typeface="Times New Roman"/>
                <a:sym typeface="Times New Roman"/>
              </a:rPr>
              <a:t>O 43 R 5 </a:t>
            </a:r>
            <a:r>
              <a:rPr lang="en" sz="2667">
                <a:latin typeface="Times New Roman"/>
                <a:ea typeface="Times New Roman"/>
                <a:cs typeface="Times New Roman"/>
                <a:sym typeface="Times New Roman"/>
              </a:rPr>
              <a:t>Lagos.</a:t>
            </a:r>
            <a:endParaRPr sz="2667">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22"/>
          <p:cNvSpPr txBox="1"/>
          <p:nvPr>
            <p:ph type="title"/>
          </p:nvPr>
        </p:nvSpPr>
        <p:spPr>
          <a:xfrm>
            <a:off x="609600" y="-36059"/>
            <a:ext cx="10972800" cy="1143200"/>
          </a:xfrm>
          <a:prstGeom prst="rect">
            <a:avLst/>
          </a:prstGeom>
          <a:noFill/>
          <a:ln>
            <a:noFill/>
          </a:ln>
        </p:spPr>
        <p:txBody>
          <a:bodyPr anchorCtr="0" anchor="ctr" bIns="60925" lIns="121900" spcFirstLastPara="1" rIns="121900" wrap="square" tIns="60925">
            <a:noAutofit/>
          </a:bodyPr>
          <a:lstStyle/>
          <a:p>
            <a:pPr indent="0" lvl="0" marL="0" rtl="0" algn="ctr">
              <a:lnSpc>
                <a:spcPct val="90000"/>
              </a:lnSpc>
              <a:spcBef>
                <a:spcPts val="0"/>
              </a:spcBef>
              <a:spcAft>
                <a:spcPts val="0"/>
              </a:spcAft>
              <a:buClr>
                <a:schemeClr val="dk1"/>
              </a:buClr>
              <a:buSzPts val="3959"/>
              <a:buFont typeface="Times New Roman"/>
              <a:buNone/>
            </a:pPr>
            <a:r>
              <a:rPr b="1" lang="en" sz="4267">
                <a:latin typeface="Times New Roman"/>
                <a:ea typeface="Times New Roman"/>
                <a:cs typeface="Times New Roman"/>
                <a:sym typeface="Times New Roman"/>
              </a:rPr>
              <a:t>Life Span of Ex parte Order</a:t>
            </a:r>
            <a:endParaRPr b="1" sz="4267">
              <a:latin typeface="Times New Roman"/>
              <a:ea typeface="Times New Roman"/>
              <a:cs typeface="Times New Roman"/>
              <a:sym typeface="Times New Roman"/>
            </a:endParaRPr>
          </a:p>
        </p:txBody>
      </p:sp>
      <p:sp>
        <p:nvSpPr>
          <p:cNvPr id="212" name="Google Shape;212;p22"/>
          <p:cNvSpPr txBox="1"/>
          <p:nvPr>
            <p:ph idx="1" type="body"/>
          </p:nvPr>
        </p:nvSpPr>
        <p:spPr>
          <a:xfrm>
            <a:off x="609600" y="1107141"/>
            <a:ext cx="11277600" cy="5059200"/>
          </a:xfrm>
          <a:prstGeom prst="rect">
            <a:avLst/>
          </a:prstGeom>
          <a:noFill/>
          <a:ln>
            <a:noFill/>
          </a:ln>
        </p:spPr>
        <p:txBody>
          <a:bodyPr anchorCtr="0" anchor="t" bIns="60925" lIns="121900" spcFirstLastPara="1" rIns="121900" wrap="square" tIns="60925">
            <a:noAutofit/>
          </a:bodyPr>
          <a:lstStyle/>
          <a:p>
            <a:pPr indent="-457189" lvl="0" marL="457189" rtl="0" algn="l">
              <a:lnSpc>
                <a:spcPct val="90000"/>
              </a:lnSpc>
              <a:spcBef>
                <a:spcPts val="0"/>
              </a:spcBef>
              <a:spcAft>
                <a:spcPts val="0"/>
              </a:spcAft>
              <a:buClr>
                <a:schemeClr val="dk1"/>
              </a:buClr>
              <a:buSzPts val="4000"/>
              <a:buChar char="•"/>
            </a:pPr>
            <a:r>
              <a:rPr lang="en" sz="3733">
                <a:latin typeface="Times New Roman"/>
                <a:ea typeface="Times New Roman"/>
                <a:cs typeface="Times New Roman"/>
                <a:sym typeface="Times New Roman"/>
              </a:rPr>
              <a:t>Any order obtained </a:t>
            </a:r>
            <a:r>
              <a:rPr i="1" lang="en" sz="3733">
                <a:latin typeface="Times New Roman"/>
                <a:ea typeface="Times New Roman"/>
                <a:cs typeface="Times New Roman"/>
                <a:sym typeface="Times New Roman"/>
              </a:rPr>
              <a:t>ex parte </a:t>
            </a:r>
            <a:r>
              <a:rPr lang="en" sz="3733">
                <a:latin typeface="Times New Roman"/>
                <a:ea typeface="Times New Roman"/>
                <a:cs typeface="Times New Roman"/>
                <a:sym typeface="Times New Roman"/>
              </a:rPr>
              <a:t>is expected to last for a short period.</a:t>
            </a:r>
            <a:endParaRPr sz="3733"/>
          </a:p>
          <a:p>
            <a:pPr indent="-457189" lvl="0" marL="457189" rtl="0" algn="l">
              <a:lnSpc>
                <a:spcPct val="90000"/>
              </a:lnSpc>
              <a:spcBef>
                <a:spcPts val="1067"/>
              </a:spcBef>
              <a:spcAft>
                <a:spcPts val="0"/>
              </a:spcAft>
              <a:buClr>
                <a:schemeClr val="dk1"/>
              </a:buClr>
              <a:buSzPts val="4000"/>
              <a:buChar char="•"/>
            </a:pPr>
            <a:r>
              <a:rPr lang="en" sz="3733">
                <a:latin typeface="Times New Roman"/>
                <a:ea typeface="Times New Roman"/>
                <a:cs typeface="Times New Roman"/>
                <a:sym typeface="Times New Roman"/>
              </a:rPr>
              <a:t>In Lagos and Abuja, it shall abate after 7 days see </a:t>
            </a:r>
            <a:r>
              <a:rPr b="1" lang="en" sz="3733">
                <a:latin typeface="Times New Roman"/>
                <a:ea typeface="Times New Roman"/>
                <a:cs typeface="Times New Roman"/>
                <a:sym typeface="Times New Roman"/>
              </a:rPr>
              <a:t>O 43 R 3(3)</a:t>
            </a:r>
            <a:r>
              <a:rPr lang="en" sz="3733">
                <a:latin typeface="Times New Roman"/>
                <a:ea typeface="Times New Roman"/>
                <a:cs typeface="Times New Roman"/>
                <a:sym typeface="Times New Roman"/>
              </a:rPr>
              <a:t>Lagos</a:t>
            </a:r>
            <a:r>
              <a:rPr b="1" lang="en" sz="3733">
                <a:latin typeface="Times New Roman"/>
                <a:ea typeface="Times New Roman"/>
                <a:cs typeface="Times New Roman"/>
                <a:sym typeface="Times New Roman"/>
              </a:rPr>
              <a:t> </a:t>
            </a:r>
            <a:r>
              <a:rPr lang="en" sz="3733">
                <a:latin typeface="Times New Roman"/>
                <a:ea typeface="Times New Roman"/>
                <a:cs typeface="Times New Roman"/>
                <a:sym typeface="Times New Roman"/>
              </a:rPr>
              <a:t>and</a:t>
            </a:r>
            <a:r>
              <a:rPr b="1" lang="en" sz="3733">
                <a:latin typeface="Times New Roman"/>
                <a:ea typeface="Times New Roman"/>
                <a:cs typeface="Times New Roman"/>
                <a:sym typeface="Times New Roman"/>
              </a:rPr>
              <a:t> </a:t>
            </a:r>
            <a:r>
              <a:rPr b="1" lang="en" sz="3733">
                <a:solidFill>
                  <a:srgbClr val="FF0000"/>
                </a:solidFill>
                <a:latin typeface="Times New Roman"/>
                <a:ea typeface="Times New Roman"/>
                <a:cs typeface="Times New Roman"/>
                <a:sym typeface="Times New Roman"/>
              </a:rPr>
              <a:t>O 30 3(2) </a:t>
            </a:r>
            <a:r>
              <a:rPr lang="en" sz="3733">
                <a:solidFill>
                  <a:srgbClr val="FF0000"/>
                </a:solidFill>
                <a:latin typeface="Times New Roman"/>
                <a:ea typeface="Times New Roman"/>
                <a:cs typeface="Times New Roman"/>
                <a:sym typeface="Times New Roman"/>
              </a:rPr>
              <a:t>Abuja</a:t>
            </a:r>
            <a:r>
              <a:rPr lang="en" sz="3733">
                <a:latin typeface="Times New Roman"/>
                <a:ea typeface="Times New Roman"/>
                <a:cs typeface="Times New Roman"/>
                <a:sym typeface="Times New Roman"/>
              </a:rPr>
              <a:t>. </a:t>
            </a:r>
            <a:endParaRPr sz="3733"/>
          </a:p>
          <a:p>
            <a:pPr indent="-457189" lvl="0" marL="457189" rtl="0" algn="l">
              <a:lnSpc>
                <a:spcPct val="90000"/>
              </a:lnSpc>
              <a:spcBef>
                <a:spcPts val="1067"/>
              </a:spcBef>
              <a:spcAft>
                <a:spcPts val="0"/>
              </a:spcAft>
              <a:buClr>
                <a:schemeClr val="dk1"/>
              </a:buClr>
              <a:buSzPts val="4000"/>
              <a:buChar char="•"/>
            </a:pPr>
            <a:r>
              <a:rPr lang="en" sz="3733">
                <a:latin typeface="Times New Roman"/>
                <a:ea typeface="Times New Roman"/>
                <a:cs typeface="Times New Roman"/>
                <a:sym typeface="Times New Roman"/>
              </a:rPr>
              <a:t>However, </a:t>
            </a:r>
            <a:r>
              <a:rPr b="1" lang="en" sz="3733">
                <a:latin typeface="Times New Roman"/>
                <a:ea typeface="Times New Roman"/>
                <a:cs typeface="Times New Roman"/>
                <a:sym typeface="Times New Roman"/>
              </a:rPr>
              <a:t>O 43 R3(4) </a:t>
            </a:r>
            <a:r>
              <a:rPr lang="en" sz="3733">
                <a:latin typeface="Times New Roman"/>
                <a:ea typeface="Times New Roman"/>
                <a:cs typeface="Times New Roman"/>
                <a:sym typeface="Times New Roman"/>
              </a:rPr>
              <a:t>Lagos and </a:t>
            </a:r>
            <a:r>
              <a:rPr b="1" lang="en" sz="3733">
                <a:solidFill>
                  <a:srgbClr val="FF0000"/>
                </a:solidFill>
                <a:latin typeface="Times New Roman"/>
                <a:ea typeface="Times New Roman"/>
                <a:cs typeface="Times New Roman"/>
                <a:sym typeface="Times New Roman"/>
              </a:rPr>
              <a:t>O 30 R 3 (3) </a:t>
            </a:r>
            <a:r>
              <a:rPr lang="en" sz="3733">
                <a:solidFill>
                  <a:srgbClr val="FF0000"/>
                </a:solidFill>
                <a:latin typeface="Times New Roman"/>
                <a:ea typeface="Times New Roman"/>
                <a:cs typeface="Times New Roman"/>
                <a:sym typeface="Times New Roman"/>
              </a:rPr>
              <a:t>Abuja</a:t>
            </a:r>
            <a:r>
              <a:rPr b="1" lang="en" sz="3733">
                <a:solidFill>
                  <a:srgbClr val="FF0000"/>
                </a:solidFill>
                <a:latin typeface="Times New Roman"/>
                <a:ea typeface="Times New Roman"/>
                <a:cs typeface="Times New Roman"/>
                <a:sym typeface="Times New Roman"/>
              </a:rPr>
              <a:t> </a:t>
            </a:r>
            <a:r>
              <a:rPr lang="en" sz="3733">
                <a:latin typeface="Times New Roman"/>
                <a:ea typeface="Times New Roman"/>
                <a:cs typeface="Times New Roman"/>
                <a:sym typeface="Times New Roman"/>
              </a:rPr>
              <a:t>gives the judge power to extend the period where necessary, but such extension shall not exceed 7 days.</a:t>
            </a:r>
            <a:endParaRPr sz="3733"/>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23"/>
          <p:cNvSpPr txBox="1"/>
          <p:nvPr>
            <p:ph type="title"/>
          </p:nvPr>
        </p:nvSpPr>
        <p:spPr>
          <a:xfrm>
            <a:off x="838200" y="365125"/>
            <a:ext cx="10515600" cy="1325563"/>
          </a:xfrm>
          <a:prstGeom prst="rect">
            <a:avLst/>
          </a:prstGeom>
          <a:noFill/>
          <a:ln>
            <a:noFill/>
          </a:ln>
        </p:spPr>
        <p:txBody>
          <a:bodyPr anchorCtr="0" anchor="ctr" bIns="60925" lIns="121900" spcFirstLastPara="1" rIns="121900" wrap="square" tIns="60925">
            <a:noAutofit/>
          </a:bodyPr>
          <a:lstStyle/>
          <a:p>
            <a:pPr indent="0" lvl="0" marL="0" rtl="0" algn="ctr">
              <a:lnSpc>
                <a:spcPct val="90000"/>
              </a:lnSpc>
              <a:spcBef>
                <a:spcPts val="0"/>
              </a:spcBef>
              <a:spcAft>
                <a:spcPts val="0"/>
              </a:spcAft>
              <a:buClr>
                <a:schemeClr val="dk1"/>
              </a:buClr>
              <a:buSzPts val="4400"/>
              <a:buFont typeface="Times New Roman"/>
              <a:buNone/>
            </a:pPr>
            <a:r>
              <a:rPr b="1" lang="en">
                <a:latin typeface="Times New Roman"/>
                <a:ea typeface="Times New Roman"/>
                <a:cs typeface="Times New Roman"/>
                <a:sym typeface="Times New Roman"/>
              </a:rPr>
              <a:t>Motion on Notice</a:t>
            </a:r>
            <a:endParaRPr b="1">
              <a:latin typeface="Times New Roman"/>
              <a:ea typeface="Times New Roman"/>
              <a:cs typeface="Times New Roman"/>
              <a:sym typeface="Times New Roman"/>
            </a:endParaRPr>
          </a:p>
        </p:txBody>
      </p:sp>
      <p:sp>
        <p:nvSpPr>
          <p:cNvPr id="218" name="Google Shape;218;p23"/>
          <p:cNvSpPr txBox="1"/>
          <p:nvPr>
            <p:ph idx="1" type="body"/>
          </p:nvPr>
        </p:nvSpPr>
        <p:spPr>
          <a:xfrm>
            <a:off x="838200" y="1825625"/>
            <a:ext cx="10515600" cy="4351338"/>
          </a:xfrm>
          <a:prstGeom prst="rect">
            <a:avLst/>
          </a:prstGeom>
          <a:noFill/>
          <a:ln>
            <a:noFill/>
          </a:ln>
        </p:spPr>
        <p:txBody>
          <a:bodyPr anchorCtr="0" anchor="t" bIns="60925" lIns="121900" spcFirstLastPara="1" rIns="121900" wrap="square" tIns="60925">
            <a:noAutofit/>
          </a:bodyPr>
          <a:lstStyle/>
          <a:p>
            <a:pPr indent="-457189" lvl="0" marL="457189" rtl="0" algn="l">
              <a:lnSpc>
                <a:spcPct val="90000"/>
              </a:lnSpc>
              <a:spcBef>
                <a:spcPts val="0"/>
              </a:spcBef>
              <a:spcAft>
                <a:spcPts val="0"/>
              </a:spcAft>
              <a:buClr>
                <a:schemeClr val="dk1"/>
              </a:buClr>
              <a:buSzPts val="4400"/>
              <a:buChar char="•"/>
            </a:pPr>
            <a:r>
              <a:rPr lang="en" sz="3733">
                <a:latin typeface="Times New Roman"/>
                <a:ea typeface="Times New Roman"/>
                <a:cs typeface="Times New Roman"/>
                <a:sym typeface="Times New Roman"/>
              </a:rPr>
              <a:t>A motion on notice is one which is served on the other party and asking him to appear in court on a named date for the hearing of same. Personal service of motion is not required unlike originating processes.</a:t>
            </a:r>
            <a:endParaRPr sz="3733"/>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24"/>
          <p:cNvSpPr txBox="1"/>
          <p:nvPr>
            <p:ph type="title"/>
          </p:nvPr>
        </p:nvSpPr>
        <p:spPr>
          <a:xfrm>
            <a:off x="838200" y="179926"/>
            <a:ext cx="10515600" cy="734470"/>
          </a:xfrm>
          <a:prstGeom prst="rect">
            <a:avLst/>
          </a:prstGeom>
          <a:noFill/>
          <a:ln>
            <a:noFill/>
          </a:ln>
        </p:spPr>
        <p:txBody>
          <a:bodyPr anchorCtr="0" anchor="ctr" bIns="60925" lIns="121900" spcFirstLastPara="1" rIns="121900" wrap="square" tIns="60925">
            <a:noAutofit/>
          </a:bodyPr>
          <a:lstStyle/>
          <a:p>
            <a:pPr indent="0" lvl="0" marL="0" rtl="0" algn="ctr">
              <a:lnSpc>
                <a:spcPct val="90000"/>
              </a:lnSpc>
              <a:spcBef>
                <a:spcPts val="0"/>
              </a:spcBef>
              <a:spcAft>
                <a:spcPts val="0"/>
              </a:spcAft>
              <a:buClr>
                <a:schemeClr val="dk1"/>
              </a:buClr>
              <a:buSzPts val="4400"/>
              <a:buFont typeface="Times New Roman"/>
              <a:buNone/>
            </a:pPr>
            <a:r>
              <a:rPr b="1" lang="en">
                <a:latin typeface="Times New Roman"/>
                <a:ea typeface="Times New Roman"/>
                <a:cs typeface="Times New Roman"/>
                <a:sym typeface="Times New Roman"/>
              </a:rPr>
              <a:t>Service of Motion on Notice</a:t>
            </a:r>
            <a:endParaRPr b="1">
              <a:latin typeface="Times New Roman"/>
              <a:ea typeface="Times New Roman"/>
              <a:cs typeface="Times New Roman"/>
              <a:sym typeface="Times New Roman"/>
            </a:endParaRPr>
          </a:p>
        </p:txBody>
      </p:sp>
      <p:sp>
        <p:nvSpPr>
          <p:cNvPr id="224" name="Google Shape;224;p24"/>
          <p:cNvSpPr txBox="1"/>
          <p:nvPr>
            <p:ph idx="1" type="body"/>
          </p:nvPr>
        </p:nvSpPr>
        <p:spPr>
          <a:xfrm>
            <a:off x="838200" y="995423"/>
            <a:ext cx="10515600" cy="5181540"/>
          </a:xfrm>
          <a:prstGeom prst="rect">
            <a:avLst/>
          </a:prstGeom>
          <a:noFill/>
          <a:ln>
            <a:noFill/>
          </a:ln>
        </p:spPr>
        <p:txBody>
          <a:bodyPr anchorCtr="0" anchor="t" bIns="60925" lIns="121900" spcFirstLastPara="1" rIns="121900" wrap="square" tIns="60925">
            <a:noAutofit/>
          </a:bodyPr>
          <a:lstStyle/>
          <a:p>
            <a:pPr indent="-228600" lvl="0" marL="228600" rtl="0" algn="l">
              <a:lnSpc>
                <a:spcPct val="90000"/>
              </a:lnSpc>
              <a:spcBef>
                <a:spcPts val="0"/>
              </a:spcBef>
              <a:spcAft>
                <a:spcPts val="0"/>
              </a:spcAft>
              <a:buClr>
                <a:schemeClr val="dk1"/>
              </a:buClr>
              <a:buSzPts val="3600"/>
              <a:buFont typeface="Noto Sans Symbols"/>
              <a:buChar char="⮚"/>
            </a:pPr>
            <a:r>
              <a:rPr b="1" lang="en" sz="4400">
                <a:latin typeface="Times New Roman"/>
                <a:ea typeface="Times New Roman"/>
                <a:cs typeface="Times New Roman"/>
                <a:sym typeface="Times New Roman"/>
              </a:rPr>
              <a:t>In Abuja</a:t>
            </a:r>
            <a:r>
              <a:rPr lang="en" sz="4400">
                <a:latin typeface="Times New Roman"/>
                <a:ea typeface="Times New Roman"/>
                <a:cs typeface="Times New Roman"/>
                <a:sym typeface="Times New Roman"/>
              </a:rPr>
              <a:t>, there shall be at least 2 clear days between the date of service and hearing except there is leave of court to the contrary. </a:t>
            </a:r>
            <a:r>
              <a:rPr b="1" lang="en" sz="4400">
                <a:solidFill>
                  <a:srgbClr val="FF0000"/>
                </a:solidFill>
                <a:latin typeface="Times New Roman"/>
                <a:ea typeface="Times New Roman"/>
                <a:cs typeface="Times New Roman"/>
                <a:sym typeface="Times New Roman"/>
              </a:rPr>
              <a:t>O 30 R6 Abuja</a:t>
            </a:r>
            <a:endParaRPr b="1" sz="4400">
              <a:solidFill>
                <a:srgbClr val="FF0000"/>
              </a:solidFill>
              <a:latin typeface="Times New Roman"/>
              <a:ea typeface="Times New Roman"/>
              <a:cs typeface="Times New Roman"/>
              <a:sym typeface="Times New Roman"/>
            </a:endParaRPr>
          </a:p>
          <a:p>
            <a:pPr indent="-228600" lvl="0" marL="228600" rtl="0" algn="l">
              <a:lnSpc>
                <a:spcPct val="90000"/>
              </a:lnSpc>
              <a:spcBef>
                <a:spcPts val="960"/>
              </a:spcBef>
              <a:spcAft>
                <a:spcPts val="0"/>
              </a:spcAft>
              <a:buClr>
                <a:schemeClr val="dk1"/>
              </a:buClr>
              <a:buSzPts val="3600"/>
              <a:buFont typeface="Noto Sans Symbols"/>
              <a:buChar char="⮚"/>
            </a:pPr>
            <a:r>
              <a:rPr lang="en" sz="4400">
                <a:latin typeface="Times New Roman"/>
                <a:ea typeface="Times New Roman"/>
                <a:cs typeface="Times New Roman"/>
                <a:sym typeface="Times New Roman"/>
              </a:rPr>
              <a:t>The respondent is expected to file counter affidavit within 7 days. </a:t>
            </a:r>
            <a:r>
              <a:rPr b="1" lang="en" sz="4400">
                <a:solidFill>
                  <a:srgbClr val="FF0000"/>
                </a:solidFill>
                <a:latin typeface="Times New Roman"/>
                <a:ea typeface="Times New Roman"/>
                <a:cs typeface="Times New Roman"/>
                <a:sym typeface="Times New Roman"/>
              </a:rPr>
              <a:t>O 30 R 1(3) ABJ</a:t>
            </a:r>
            <a:endParaRPr sz="4400">
              <a:solidFill>
                <a:srgbClr val="FF0000"/>
              </a:solidFill>
              <a:latin typeface="Times New Roman"/>
              <a:ea typeface="Times New Roman"/>
              <a:cs typeface="Times New Roman"/>
              <a:sym typeface="Times New Roman"/>
            </a:endParaRPr>
          </a:p>
          <a:p>
            <a:pPr indent="-228600" lvl="0" marL="228600" rtl="0" algn="l">
              <a:lnSpc>
                <a:spcPct val="90000"/>
              </a:lnSpc>
              <a:spcBef>
                <a:spcPts val="960"/>
              </a:spcBef>
              <a:spcAft>
                <a:spcPts val="0"/>
              </a:spcAft>
              <a:buClr>
                <a:schemeClr val="dk1"/>
              </a:buClr>
              <a:buSzPts val="3600"/>
              <a:buFont typeface="Noto Sans Symbols"/>
              <a:buChar char="⮚"/>
            </a:pPr>
            <a:r>
              <a:rPr lang="en" sz="4400">
                <a:latin typeface="Times New Roman"/>
                <a:ea typeface="Times New Roman"/>
                <a:cs typeface="Times New Roman"/>
                <a:sym typeface="Times New Roman"/>
              </a:rPr>
              <a:t>The Applicant has 7 days to file reply if any. See</a:t>
            </a:r>
            <a:r>
              <a:rPr b="1" lang="en" sz="4400">
                <a:latin typeface="Times New Roman"/>
                <a:ea typeface="Times New Roman"/>
                <a:cs typeface="Times New Roman"/>
                <a:sym typeface="Times New Roman"/>
              </a:rPr>
              <a:t> </a:t>
            </a:r>
            <a:r>
              <a:rPr b="1" lang="en" sz="4400">
                <a:solidFill>
                  <a:srgbClr val="FF0000"/>
                </a:solidFill>
                <a:latin typeface="Times New Roman"/>
                <a:ea typeface="Times New Roman"/>
                <a:cs typeface="Times New Roman"/>
                <a:sym typeface="Times New Roman"/>
              </a:rPr>
              <a:t>O 30 R1(4) Abuja</a:t>
            </a:r>
            <a:endParaRPr b="1" sz="4400">
              <a:solidFill>
                <a:srgbClr val="FF0000"/>
              </a:solidFill>
              <a:latin typeface="Times New Roman"/>
              <a:ea typeface="Times New Roman"/>
              <a:cs typeface="Times New Roman"/>
              <a:sym typeface="Times New Roman"/>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25"/>
          <p:cNvSpPr txBox="1"/>
          <p:nvPr>
            <p:ph type="title"/>
          </p:nvPr>
        </p:nvSpPr>
        <p:spPr>
          <a:xfrm>
            <a:off x="838200" y="365126"/>
            <a:ext cx="10515600" cy="502976"/>
          </a:xfrm>
          <a:prstGeom prst="rect">
            <a:avLst/>
          </a:prstGeom>
          <a:noFill/>
          <a:ln>
            <a:noFill/>
          </a:ln>
        </p:spPr>
        <p:txBody>
          <a:bodyPr anchorCtr="0" anchor="ctr" bIns="60925" lIns="121900" spcFirstLastPara="1" rIns="121900" wrap="square" tIns="60925">
            <a:noAutofit/>
          </a:bodyPr>
          <a:lstStyle/>
          <a:p>
            <a:pPr indent="0" lvl="0" marL="0" rtl="0" algn="ctr">
              <a:lnSpc>
                <a:spcPct val="90000"/>
              </a:lnSpc>
              <a:spcBef>
                <a:spcPts val="0"/>
              </a:spcBef>
              <a:spcAft>
                <a:spcPts val="0"/>
              </a:spcAft>
              <a:buClr>
                <a:schemeClr val="dk1"/>
              </a:buClr>
              <a:buSzPts val="4400"/>
              <a:buFont typeface="Calibri"/>
              <a:buNone/>
            </a:pPr>
            <a:r>
              <a:t/>
            </a:r>
            <a:endParaRPr b="1">
              <a:latin typeface="Times New Roman"/>
              <a:ea typeface="Times New Roman"/>
              <a:cs typeface="Times New Roman"/>
              <a:sym typeface="Times New Roman"/>
            </a:endParaRPr>
          </a:p>
        </p:txBody>
      </p:sp>
      <p:sp>
        <p:nvSpPr>
          <p:cNvPr id="230" name="Google Shape;230;p25"/>
          <p:cNvSpPr txBox="1"/>
          <p:nvPr>
            <p:ph idx="1" type="body"/>
          </p:nvPr>
        </p:nvSpPr>
        <p:spPr>
          <a:xfrm>
            <a:off x="838200" y="868102"/>
            <a:ext cx="10515600" cy="5308861"/>
          </a:xfrm>
          <a:prstGeom prst="rect">
            <a:avLst/>
          </a:prstGeom>
          <a:noFill/>
          <a:ln>
            <a:noFill/>
          </a:ln>
        </p:spPr>
        <p:txBody>
          <a:bodyPr anchorCtr="0" anchor="t" bIns="60925" lIns="121900" spcFirstLastPara="1" rIns="121900" wrap="square" tIns="60925">
            <a:noAutofit/>
          </a:bodyPr>
          <a:lstStyle/>
          <a:p>
            <a:pPr indent="-457189" lvl="0" marL="457189" rtl="0" algn="l">
              <a:lnSpc>
                <a:spcPct val="90000"/>
              </a:lnSpc>
              <a:spcBef>
                <a:spcPts val="0"/>
              </a:spcBef>
              <a:spcAft>
                <a:spcPts val="0"/>
              </a:spcAft>
              <a:buClr>
                <a:schemeClr val="dk1"/>
              </a:buClr>
              <a:buSzPts val="3600"/>
              <a:buChar char="•"/>
            </a:pPr>
            <a:r>
              <a:rPr b="1" lang="en" sz="4800">
                <a:latin typeface="Times New Roman"/>
                <a:ea typeface="Times New Roman"/>
                <a:cs typeface="Times New Roman"/>
                <a:sym typeface="Times New Roman"/>
              </a:rPr>
              <a:t>In Lagos </a:t>
            </a:r>
            <a:r>
              <a:rPr lang="en" sz="4800">
                <a:latin typeface="Times New Roman"/>
                <a:ea typeface="Times New Roman"/>
                <a:cs typeface="Times New Roman"/>
                <a:sym typeface="Times New Roman"/>
              </a:rPr>
              <a:t>every motion must be served within 5 days of filing see </a:t>
            </a:r>
            <a:r>
              <a:rPr b="1" lang="en" sz="4800">
                <a:latin typeface="Times New Roman"/>
                <a:ea typeface="Times New Roman"/>
                <a:cs typeface="Times New Roman"/>
                <a:sym typeface="Times New Roman"/>
              </a:rPr>
              <a:t>O 43 R 1(2b) </a:t>
            </a:r>
            <a:r>
              <a:rPr lang="en" sz="4800">
                <a:latin typeface="Times New Roman"/>
                <a:ea typeface="Times New Roman"/>
                <a:cs typeface="Times New Roman"/>
                <a:sym typeface="Times New Roman"/>
              </a:rPr>
              <a:t>Lagos.</a:t>
            </a:r>
            <a:endParaRPr/>
          </a:p>
          <a:p>
            <a:pPr indent="-457189" lvl="0" marL="457189" rtl="0" algn="l">
              <a:lnSpc>
                <a:spcPct val="90000"/>
              </a:lnSpc>
              <a:spcBef>
                <a:spcPts val="960"/>
              </a:spcBef>
              <a:spcAft>
                <a:spcPts val="0"/>
              </a:spcAft>
              <a:buClr>
                <a:schemeClr val="dk1"/>
              </a:buClr>
              <a:buSzPts val="3600"/>
              <a:buChar char="•"/>
            </a:pPr>
            <a:r>
              <a:rPr lang="en" sz="4800">
                <a:latin typeface="Times New Roman"/>
                <a:ea typeface="Times New Roman"/>
                <a:cs typeface="Times New Roman"/>
                <a:sym typeface="Times New Roman"/>
              </a:rPr>
              <a:t>The respondent is expected to file counter affidavit within 7 days. See </a:t>
            </a:r>
            <a:r>
              <a:rPr b="1" lang="en" sz="4800">
                <a:latin typeface="Times New Roman"/>
                <a:ea typeface="Times New Roman"/>
                <a:cs typeface="Times New Roman"/>
                <a:sym typeface="Times New Roman"/>
              </a:rPr>
              <a:t>O 43 R 1(3) </a:t>
            </a:r>
            <a:r>
              <a:rPr lang="en" sz="4800">
                <a:latin typeface="Times New Roman"/>
                <a:ea typeface="Times New Roman"/>
                <a:cs typeface="Times New Roman"/>
                <a:sym typeface="Times New Roman"/>
              </a:rPr>
              <a:t> Lag</a:t>
            </a:r>
            <a:endParaRPr b="1" sz="4800">
              <a:latin typeface="Times New Roman"/>
              <a:ea typeface="Times New Roman"/>
              <a:cs typeface="Times New Roman"/>
              <a:sym typeface="Times New Roman"/>
            </a:endParaRPr>
          </a:p>
          <a:p>
            <a:pPr indent="-457189" lvl="0" marL="457189" rtl="0" algn="l">
              <a:lnSpc>
                <a:spcPct val="90000"/>
              </a:lnSpc>
              <a:spcBef>
                <a:spcPts val="960"/>
              </a:spcBef>
              <a:spcAft>
                <a:spcPts val="0"/>
              </a:spcAft>
              <a:buClr>
                <a:schemeClr val="dk1"/>
              </a:buClr>
              <a:buSzPts val="3600"/>
              <a:buChar char="•"/>
            </a:pPr>
            <a:r>
              <a:rPr lang="en" sz="4800">
                <a:latin typeface="Times New Roman"/>
                <a:ea typeface="Times New Roman"/>
                <a:cs typeface="Times New Roman"/>
                <a:sym typeface="Times New Roman"/>
              </a:rPr>
              <a:t>The Applicant has 7 days to file reply if any. See </a:t>
            </a:r>
            <a:r>
              <a:rPr b="1" lang="en" sz="4800">
                <a:latin typeface="Times New Roman"/>
                <a:ea typeface="Times New Roman"/>
                <a:cs typeface="Times New Roman"/>
                <a:sym typeface="Times New Roman"/>
              </a:rPr>
              <a:t>O 43 R1(4)</a:t>
            </a:r>
            <a:endParaRPr sz="4800">
              <a:latin typeface="Times New Roman"/>
              <a:ea typeface="Times New Roman"/>
              <a:cs typeface="Times New Roman"/>
              <a:sym typeface="Times New Roman"/>
            </a:endParaRPr>
          </a:p>
          <a:p>
            <a:pPr indent="-152396" lvl="0" marL="457189" rtl="0" algn="l">
              <a:lnSpc>
                <a:spcPct val="90000"/>
              </a:lnSpc>
              <a:spcBef>
                <a:spcPts val="960"/>
              </a:spcBef>
              <a:spcAft>
                <a:spcPts val="0"/>
              </a:spcAft>
              <a:buClr>
                <a:schemeClr val="dk1"/>
              </a:buClr>
              <a:buSzPts val="3600"/>
              <a:buNone/>
            </a:pPr>
            <a:r>
              <a:t/>
            </a:r>
            <a:endParaRPr sz="4800"/>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26"/>
          <p:cNvSpPr txBox="1"/>
          <p:nvPr>
            <p:ph type="title"/>
          </p:nvPr>
        </p:nvSpPr>
        <p:spPr>
          <a:xfrm>
            <a:off x="838200" y="307250"/>
            <a:ext cx="10515600" cy="1325563"/>
          </a:xfrm>
          <a:prstGeom prst="rect">
            <a:avLst/>
          </a:prstGeom>
          <a:noFill/>
          <a:ln>
            <a:noFill/>
          </a:ln>
        </p:spPr>
        <p:txBody>
          <a:bodyPr anchorCtr="0" anchor="ctr" bIns="60925" lIns="121900" spcFirstLastPara="1" rIns="121900" wrap="square" tIns="60925">
            <a:noAutofit/>
          </a:bodyPr>
          <a:lstStyle/>
          <a:p>
            <a:pPr indent="0" lvl="0" marL="0" rtl="0" algn="ctr">
              <a:lnSpc>
                <a:spcPct val="90000"/>
              </a:lnSpc>
              <a:spcBef>
                <a:spcPts val="0"/>
              </a:spcBef>
              <a:spcAft>
                <a:spcPts val="0"/>
              </a:spcAft>
              <a:buClr>
                <a:schemeClr val="dk1"/>
              </a:buClr>
              <a:buSzPts val="3600"/>
              <a:buFont typeface="Times New Roman"/>
              <a:buNone/>
            </a:pPr>
            <a:r>
              <a:rPr b="1" lang="en" sz="4800">
                <a:latin typeface="Times New Roman"/>
                <a:ea typeface="Times New Roman"/>
                <a:cs typeface="Times New Roman"/>
                <a:sym typeface="Times New Roman"/>
              </a:rPr>
              <a:t>Examples of Applications that can be made by Motion on Notice</a:t>
            </a:r>
            <a:endParaRPr sz="4800"/>
          </a:p>
        </p:txBody>
      </p:sp>
      <p:sp>
        <p:nvSpPr>
          <p:cNvPr id="236" name="Google Shape;236;p26"/>
          <p:cNvSpPr txBox="1"/>
          <p:nvPr>
            <p:ph idx="1" type="body"/>
          </p:nvPr>
        </p:nvSpPr>
        <p:spPr>
          <a:xfrm>
            <a:off x="838200" y="1582550"/>
            <a:ext cx="10515600" cy="4351338"/>
          </a:xfrm>
          <a:prstGeom prst="rect">
            <a:avLst/>
          </a:prstGeom>
          <a:noFill/>
          <a:ln>
            <a:noFill/>
          </a:ln>
        </p:spPr>
        <p:txBody>
          <a:bodyPr anchorCtr="0" anchor="t" bIns="60925" lIns="121900" spcFirstLastPara="1" rIns="121900" wrap="square" tIns="60925">
            <a:noAutofit/>
          </a:bodyPr>
          <a:lstStyle/>
          <a:p>
            <a:pPr indent="-457189" lvl="0" marL="457189" rtl="0" algn="l">
              <a:lnSpc>
                <a:spcPct val="90000"/>
              </a:lnSpc>
              <a:spcBef>
                <a:spcPts val="0"/>
              </a:spcBef>
              <a:spcAft>
                <a:spcPts val="0"/>
              </a:spcAft>
              <a:buClr>
                <a:schemeClr val="dk1"/>
              </a:buClr>
              <a:buSzPts val="3600"/>
              <a:buChar char="•"/>
            </a:pPr>
            <a:r>
              <a:rPr lang="en" sz="4800">
                <a:latin typeface="Times New Roman"/>
                <a:ea typeface="Times New Roman"/>
                <a:cs typeface="Times New Roman"/>
                <a:sym typeface="Times New Roman"/>
              </a:rPr>
              <a:t>Application for joinder of parties</a:t>
            </a:r>
            <a:endParaRPr/>
          </a:p>
          <a:p>
            <a:pPr indent="-457189" lvl="0" marL="457189" rtl="0" algn="l">
              <a:lnSpc>
                <a:spcPct val="90000"/>
              </a:lnSpc>
              <a:spcBef>
                <a:spcPts val="960"/>
              </a:spcBef>
              <a:spcAft>
                <a:spcPts val="0"/>
              </a:spcAft>
              <a:buClr>
                <a:schemeClr val="dk1"/>
              </a:buClr>
              <a:buSzPts val="3600"/>
              <a:buChar char="•"/>
            </a:pPr>
            <a:r>
              <a:rPr lang="en" sz="4800">
                <a:latin typeface="Times New Roman"/>
                <a:ea typeface="Times New Roman"/>
                <a:cs typeface="Times New Roman"/>
                <a:sym typeface="Times New Roman"/>
              </a:rPr>
              <a:t>Application for interlocutory injunction</a:t>
            </a:r>
            <a:endParaRPr/>
          </a:p>
          <a:p>
            <a:pPr indent="-457189" lvl="0" marL="457189" rtl="0" algn="l">
              <a:lnSpc>
                <a:spcPct val="90000"/>
              </a:lnSpc>
              <a:spcBef>
                <a:spcPts val="960"/>
              </a:spcBef>
              <a:spcAft>
                <a:spcPts val="0"/>
              </a:spcAft>
              <a:buClr>
                <a:schemeClr val="dk1"/>
              </a:buClr>
              <a:buSzPts val="3600"/>
              <a:buChar char="•"/>
            </a:pPr>
            <a:r>
              <a:rPr lang="en" sz="4800">
                <a:latin typeface="Times New Roman"/>
                <a:ea typeface="Times New Roman"/>
                <a:cs typeface="Times New Roman"/>
                <a:sym typeface="Times New Roman"/>
              </a:rPr>
              <a:t>Application for amendment of pleadings</a:t>
            </a:r>
            <a:endParaRPr/>
          </a:p>
          <a:p>
            <a:pPr indent="-457189" lvl="0" marL="457189" rtl="0" algn="l">
              <a:lnSpc>
                <a:spcPct val="90000"/>
              </a:lnSpc>
              <a:spcBef>
                <a:spcPts val="960"/>
              </a:spcBef>
              <a:spcAft>
                <a:spcPts val="0"/>
              </a:spcAft>
              <a:buClr>
                <a:schemeClr val="dk1"/>
              </a:buClr>
              <a:buSzPts val="3600"/>
              <a:buChar char="•"/>
            </a:pPr>
            <a:r>
              <a:rPr lang="en" sz="4800">
                <a:latin typeface="Times New Roman"/>
                <a:ea typeface="Times New Roman"/>
                <a:cs typeface="Times New Roman"/>
                <a:sym typeface="Times New Roman"/>
              </a:rPr>
              <a:t>Application for striking out of pleadings </a:t>
            </a:r>
            <a:endParaRPr/>
          </a:p>
          <a:p>
            <a:pPr indent="-457189" lvl="0" marL="457189" rtl="0" algn="l">
              <a:lnSpc>
                <a:spcPct val="90000"/>
              </a:lnSpc>
              <a:spcBef>
                <a:spcPts val="960"/>
              </a:spcBef>
              <a:spcAft>
                <a:spcPts val="0"/>
              </a:spcAft>
              <a:buClr>
                <a:schemeClr val="dk1"/>
              </a:buClr>
              <a:buSzPts val="3600"/>
              <a:buChar char="•"/>
            </a:pPr>
            <a:r>
              <a:rPr lang="en" sz="4800">
                <a:latin typeface="Times New Roman"/>
                <a:ea typeface="Times New Roman"/>
                <a:cs typeface="Times New Roman"/>
                <a:sym typeface="Times New Roman"/>
              </a:rPr>
              <a:t>Application for stay of execution etc.</a:t>
            </a:r>
            <a:endParaRPr sz="4800">
              <a:latin typeface="Times New Roman"/>
              <a:ea typeface="Times New Roman"/>
              <a:cs typeface="Times New Roman"/>
              <a:sym typeface="Times New Roman"/>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27"/>
          <p:cNvSpPr txBox="1"/>
          <p:nvPr>
            <p:ph type="title"/>
          </p:nvPr>
        </p:nvSpPr>
        <p:spPr>
          <a:xfrm>
            <a:off x="838200" y="365125"/>
            <a:ext cx="10515600" cy="1325563"/>
          </a:xfrm>
          <a:prstGeom prst="rect">
            <a:avLst/>
          </a:prstGeom>
          <a:noFill/>
          <a:ln>
            <a:noFill/>
          </a:ln>
        </p:spPr>
        <p:txBody>
          <a:bodyPr anchorCtr="0" anchor="ctr" bIns="60925" lIns="121900" spcFirstLastPara="1" rIns="121900" wrap="square" tIns="60925">
            <a:noAutofit/>
          </a:bodyPr>
          <a:lstStyle/>
          <a:p>
            <a:pPr indent="0" lvl="0" marL="0" rtl="0" algn="ctr">
              <a:lnSpc>
                <a:spcPct val="90000"/>
              </a:lnSpc>
              <a:spcBef>
                <a:spcPts val="0"/>
              </a:spcBef>
              <a:spcAft>
                <a:spcPts val="0"/>
              </a:spcAft>
              <a:buClr>
                <a:schemeClr val="dk1"/>
              </a:buClr>
              <a:buSzPts val="3600"/>
              <a:buFont typeface="Times New Roman"/>
              <a:buNone/>
            </a:pPr>
            <a:r>
              <a:rPr b="1" lang="en" sz="4000">
                <a:latin typeface="Times New Roman"/>
                <a:ea typeface="Times New Roman"/>
                <a:cs typeface="Times New Roman"/>
                <a:sym typeface="Times New Roman"/>
              </a:rPr>
              <a:t>Orders the Court may make after hearing Motion on Notice</a:t>
            </a:r>
            <a:endParaRPr sz="3733"/>
          </a:p>
        </p:txBody>
      </p:sp>
      <p:sp>
        <p:nvSpPr>
          <p:cNvPr id="242" name="Google Shape;242;p27"/>
          <p:cNvSpPr txBox="1"/>
          <p:nvPr>
            <p:ph idx="1" type="body"/>
          </p:nvPr>
        </p:nvSpPr>
        <p:spPr>
          <a:xfrm>
            <a:off x="838200" y="1825625"/>
            <a:ext cx="10515600" cy="4351338"/>
          </a:xfrm>
          <a:prstGeom prst="rect">
            <a:avLst/>
          </a:prstGeom>
          <a:noFill/>
          <a:ln>
            <a:noFill/>
          </a:ln>
        </p:spPr>
        <p:txBody>
          <a:bodyPr anchorCtr="0" anchor="t" bIns="60925" lIns="121900" spcFirstLastPara="1" rIns="121900" wrap="square" tIns="60925">
            <a:noAutofit/>
          </a:bodyPr>
          <a:lstStyle/>
          <a:p>
            <a:pPr indent="-457189" lvl="0" marL="457189" rtl="0" algn="l">
              <a:lnSpc>
                <a:spcPct val="90000"/>
              </a:lnSpc>
              <a:spcBef>
                <a:spcPts val="0"/>
              </a:spcBef>
              <a:spcAft>
                <a:spcPts val="0"/>
              </a:spcAft>
              <a:buClr>
                <a:schemeClr val="dk1"/>
              </a:buClr>
              <a:buSzPts val="3600"/>
              <a:buFont typeface="Noto Sans Symbols"/>
              <a:buChar char="✔"/>
            </a:pPr>
            <a:r>
              <a:rPr lang="en" sz="3733">
                <a:latin typeface="Times New Roman"/>
                <a:ea typeface="Times New Roman"/>
                <a:cs typeface="Times New Roman"/>
                <a:sym typeface="Times New Roman"/>
              </a:rPr>
              <a:t>Grant the order as prayed</a:t>
            </a:r>
            <a:endParaRPr sz="3733"/>
          </a:p>
          <a:p>
            <a:pPr indent="-457189" lvl="0" marL="457189" rtl="0" algn="l">
              <a:lnSpc>
                <a:spcPct val="90000"/>
              </a:lnSpc>
              <a:spcBef>
                <a:spcPts val="960"/>
              </a:spcBef>
              <a:spcAft>
                <a:spcPts val="0"/>
              </a:spcAft>
              <a:buClr>
                <a:schemeClr val="dk1"/>
              </a:buClr>
              <a:buSzPts val="3600"/>
              <a:buFont typeface="Noto Sans Symbols"/>
              <a:buChar char="✔"/>
            </a:pPr>
            <a:r>
              <a:rPr lang="en" sz="3733">
                <a:latin typeface="Times New Roman"/>
                <a:ea typeface="Times New Roman"/>
                <a:cs typeface="Times New Roman"/>
                <a:sym typeface="Times New Roman"/>
              </a:rPr>
              <a:t>Grant an order less than what was prayed</a:t>
            </a:r>
            <a:endParaRPr sz="3733"/>
          </a:p>
          <a:p>
            <a:pPr indent="-457189" lvl="0" marL="457189" rtl="0" algn="l">
              <a:lnSpc>
                <a:spcPct val="90000"/>
              </a:lnSpc>
              <a:spcBef>
                <a:spcPts val="960"/>
              </a:spcBef>
              <a:spcAft>
                <a:spcPts val="0"/>
              </a:spcAft>
              <a:buClr>
                <a:schemeClr val="dk1"/>
              </a:buClr>
              <a:buSzPts val="3600"/>
              <a:buFont typeface="Noto Sans Symbols"/>
              <a:buChar char="✔"/>
            </a:pPr>
            <a:r>
              <a:rPr lang="en" sz="3733">
                <a:latin typeface="Times New Roman"/>
                <a:ea typeface="Times New Roman"/>
                <a:cs typeface="Times New Roman"/>
                <a:sym typeface="Times New Roman"/>
              </a:rPr>
              <a:t>Make an order striking out or dismissing the application</a:t>
            </a:r>
            <a:endParaRPr sz="3733"/>
          </a:p>
          <a:p>
            <a:pPr indent="0" lvl="0" marL="0" rtl="0" algn="l">
              <a:lnSpc>
                <a:spcPct val="90000"/>
              </a:lnSpc>
              <a:spcBef>
                <a:spcPts val="960"/>
              </a:spcBef>
              <a:spcAft>
                <a:spcPts val="0"/>
              </a:spcAft>
              <a:buClr>
                <a:schemeClr val="dk1"/>
              </a:buClr>
              <a:buSzPts val="3600"/>
              <a:buNone/>
            </a:pPr>
            <a:r>
              <a:rPr lang="en" sz="3733">
                <a:latin typeface="Times New Roman"/>
                <a:ea typeface="Times New Roman"/>
                <a:cs typeface="Times New Roman"/>
                <a:sym typeface="Times New Roman"/>
              </a:rPr>
              <a:t>NOTE: the court cannot make an order over and above what has been prayed or sought for.</a:t>
            </a:r>
            <a:endParaRPr sz="3733">
              <a:latin typeface="Times New Roman"/>
              <a:ea typeface="Times New Roman"/>
              <a:cs typeface="Times New Roman"/>
              <a:sym typeface="Times New Roman"/>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28"/>
          <p:cNvSpPr txBox="1"/>
          <p:nvPr>
            <p:ph type="title"/>
          </p:nvPr>
        </p:nvSpPr>
        <p:spPr>
          <a:xfrm>
            <a:off x="508000" y="-83127"/>
            <a:ext cx="11074400" cy="1265200"/>
          </a:xfrm>
          <a:prstGeom prst="rect">
            <a:avLst/>
          </a:prstGeom>
          <a:noFill/>
          <a:ln>
            <a:noFill/>
          </a:ln>
        </p:spPr>
        <p:txBody>
          <a:bodyPr anchorCtr="0" anchor="ctr" bIns="60925" lIns="121900" spcFirstLastPara="1" rIns="121900" wrap="square" tIns="60925">
            <a:noAutofit/>
          </a:bodyPr>
          <a:lstStyle/>
          <a:p>
            <a:pPr indent="0" lvl="0" marL="0" rtl="0" algn="ctr">
              <a:lnSpc>
                <a:spcPct val="90000"/>
              </a:lnSpc>
              <a:spcBef>
                <a:spcPts val="0"/>
              </a:spcBef>
              <a:spcAft>
                <a:spcPts val="0"/>
              </a:spcAft>
              <a:buClr>
                <a:schemeClr val="dk1"/>
              </a:buClr>
              <a:buSzPts val="4400"/>
              <a:buFont typeface="Times New Roman"/>
              <a:buNone/>
            </a:pPr>
            <a:r>
              <a:rPr b="1" lang="en" sz="4800">
                <a:latin typeface="Times New Roman"/>
                <a:ea typeface="Times New Roman"/>
                <a:cs typeface="Times New Roman"/>
                <a:sym typeface="Times New Roman"/>
              </a:rPr>
              <a:t>Contents and Drafting of a Motion</a:t>
            </a:r>
            <a:endParaRPr b="1" sz="4800">
              <a:latin typeface="Times New Roman"/>
              <a:ea typeface="Times New Roman"/>
              <a:cs typeface="Times New Roman"/>
              <a:sym typeface="Times New Roman"/>
            </a:endParaRPr>
          </a:p>
        </p:txBody>
      </p:sp>
      <p:sp>
        <p:nvSpPr>
          <p:cNvPr id="248" name="Google Shape;248;p28"/>
          <p:cNvSpPr txBox="1"/>
          <p:nvPr>
            <p:ph idx="1" type="body"/>
          </p:nvPr>
        </p:nvSpPr>
        <p:spPr>
          <a:xfrm>
            <a:off x="406400" y="914399"/>
            <a:ext cx="11176000" cy="5798372"/>
          </a:xfrm>
          <a:prstGeom prst="rect">
            <a:avLst/>
          </a:prstGeom>
          <a:noFill/>
          <a:ln>
            <a:noFill/>
          </a:ln>
        </p:spPr>
        <p:txBody>
          <a:bodyPr anchorCtr="0" anchor="t" bIns="60925" lIns="121900" spcFirstLastPara="1" rIns="121900" wrap="square" tIns="60925">
            <a:noAutofit/>
          </a:bodyPr>
          <a:lstStyle/>
          <a:p>
            <a:pPr indent="-457189" lvl="0" marL="457189" rtl="0" algn="l">
              <a:lnSpc>
                <a:spcPct val="90000"/>
              </a:lnSpc>
              <a:spcBef>
                <a:spcPts val="0"/>
              </a:spcBef>
              <a:spcAft>
                <a:spcPts val="0"/>
              </a:spcAft>
              <a:buClr>
                <a:schemeClr val="dk1"/>
              </a:buClr>
              <a:buSzPts val="3500"/>
              <a:buChar char="•"/>
            </a:pPr>
            <a:r>
              <a:rPr lang="en" sz="3733">
                <a:latin typeface="Times New Roman"/>
                <a:ea typeface="Times New Roman"/>
                <a:cs typeface="Times New Roman"/>
                <a:sym typeface="Times New Roman"/>
              </a:rPr>
              <a:t>Heading of the court</a:t>
            </a:r>
            <a:endParaRPr sz="3733"/>
          </a:p>
          <a:p>
            <a:pPr indent="-457189" lvl="0" marL="457189" rtl="0" algn="l">
              <a:lnSpc>
                <a:spcPct val="90000"/>
              </a:lnSpc>
              <a:spcBef>
                <a:spcPts val="933"/>
              </a:spcBef>
              <a:spcAft>
                <a:spcPts val="0"/>
              </a:spcAft>
              <a:buClr>
                <a:schemeClr val="dk1"/>
              </a:buClr>
              <a:buSzPts val="3500"/>
              <a:buChar char="•"/>
            </a:pPr>
            <a:r>
              <a:rPr lang="en" sz="3733">
                <a:latin typeface="Times New Roman"/>
                <a:ea typeface="Times New Roman"/>
                <a:cs typeface="Times New Roman"/>
                <a:sym typeface="Times New Roman"/>
              </a:rPr>
              <a:t>The suit number</a:t>
            </a:r>
            <a:endParaRPr sz="3733"/>
          </a:p>
          <a:p>
            <a:pPr indent="-457189" lvl="0" marL="457189" rtl="0" algn="l">
              <a:lnSpc>
                <a:spcPct val="90000"/>
              </a:lnSpc>
              <a:spcBef>
                <a:spcPts val="933"/>
              </a:spcBef>
              <a:spcAft>
                <a:spcPts val="0"/>
              </a:spcAft>
              <a:buClr>
                <a:schemeClr val="dk1"/>
              </a:buClr>
              <a:buSzPts val="3500"/>
              <a:buChar char="•"/>
            </a:pPr>
            <a:r>
              <a:rPr lang="en" sz="3733">
                <a:latin typeface="Times New Roman"/>
                <a:ea typeface="Times New Roman"/>
                <a:cs typeface="Times New Roman"/>
                <a:sym typeface="Times New Roman"/>
              </a:rPr>
              <a:t>Parties(‘applicant’, ‘respondent’)</a:t>
            </a:r>
            <a:endParaRPr sz="3733"/>
          </a:p>
          <a:p>
            <a:pPr indent="-457189" lvl="0" marL="457189" rtl="0" algn="l">
              <a:lnSpc>
                <a:spcPct val="90000"/>
              </a:lnSpc>
              <a:spcBef>
                <a:spcPts val="933"/>
              </a:spcBef>
              <a:spcAft>
                <a:spcPts val="0"/>
              </a:spcAft>
              <a:buClr>
                <a:schemeClr val="dk1"/>
              </a:buClr>
              <a:buSzPts val="3500"/>
              <a:buChar char="•"/>
            </a:pPr>
            <a:r>
              <a:rPr lang="en" sz="3733">
                <a:latin typeface="Times New Roman"/>
                <a:ea typeface="Times New Roman"/>
                <a:cs typeface="Times New Roman"/>
                <a:sym typeface="Times New Roman"/>
              </a:rPr>
              <a:t>Type of motion </a:t>
            </a:r>
            <a:r>
              <a:rPr i="1" lang="en" sz="3733">
                <a:latin typeface="Times New Roman"/>
                <a:ea typeface="Times New Roman"/>
                <a:cs typeface="Times New Roman"/>
                <a:sym typeface="Times New Roman"/>
              </a:rPr>
              <a:t>( ex parte </a:t>
            </a:r>
            <a:r>
              <a:rPr lang="en" sz="3733">
                <a:latin typeface="Times New Roman"/>
                <a:ea typeface="Times New Roman"/>
                <a:cs typeface="Times New Roman"/>
                <a:sym typeface="Times New Roman"/>
              </a:rPr>
              <a:t>or on notice)</a:t>
            </a:r>
            <a:endParaRPr sz="3733"/>
          </a:p>
          <a:p>
            <a:pPr indent="-457189" lvl="0" marL="457189" rtl="0" algn="l">
              <a:lnSpc>
                <a:spcPct val="90000"/>
              </a:lnSpc>
              <a:spcBef>
                <a:spcPts val="933"/>
              </a:spcBef>
              <a:spcAft>
                <a:spcPts val="0"/>
              </a:spcAft>
              <a:buClr>
                <a:schemeClr val="dk1"/>
              </a:buClr>
              <a:buSzPts val="3500"/>
              <a:buChar char="•"/>
            </a:pPr>
            <a:r>
              <a:rPr lang="en" sz="3733">
                <a:latin typeface="Times New Roman"/>
                <a:ea typeface="Times New Roman"/>
                <a:cs typeface="Times New Roman"/>
                <a:sym typeface="Times New Roman"/>
              </a:rPr>
              <a:t>The order/ rule or law under which the application is brought.  </a:t>
            </a:r>
            <a:r>
              <a:rPr b="1" lang="en" sz="3733">
                <a:latin typeface="Times New Roman"/>
                <a:ea typeface="Times New Roman"/>
                <a:cs typeface="Times New Roman"/>
                <a:sym typeface="Times New Roman"/>
              </a:rPr>
              <a:t>O. 43 R1 Lag, </a:t>
            </a:r>
            <a:r>
              <a:rPr b="1" lang="en" sz="3733">
                <a:solidFill>
                  <a:srgbClr val="FF0000"/>
                </a:solidFill>
                <a:latin typeface="Times New Roman"/>
                <a:ea typeface="Times New Roman"/>
                <a:cs typeface="Times New Roman"/>
                <a:sym typeface="Times New Roman"/>
              </a:rPr>
              <a:t>O. 30 R 1 Abuja</a:t>
            </a:r>
            <a:r>
              <a:rPr b="1" lang="en" sz="3733">
                <a:latin typeface="Times New Roman"/>
                <a:ea typeface="Times New Roman"/>
                <a:cs typeface="Times New Roman"/>
                <a:sym typeface="Times New Roman"/>
              </a:rPr>
              <a:t>, FALOBI V FALOBI (1979) 1 NMLR 169 UCHENDU V OGBONI (1999) 4 SCNJ 64, MAJA V SAMOURIS ( 2002) 7 NWLR (PT 765) 78</a:t>
            </a:r>
            <a:endParaRPr sz="3733"/>
          </a:p>
          <a:p>
            <a:pPr indent="-160863" lvl="0" marL="457189" rtl="0" algn="l">
              <a:lnSpc>
                <a:spcPct val="90000"/>
              </a:lnSpc>
              <a:spcBef>
                <a:spcPts val="933"/>
              </a:spcBef>
              <a:spcAft>
                <a:spcPts val="0"/>
              </a:spcAft>
              <a:buClr>
                <a:schemeClr val="dk1"/>
              </a:buClr>
              <a:buSzPts val="3500"/>
              <a:buNone/>
            </a:pPr>
            <a:r>
              <a:t/>
            </a:r>
            <a:endParaRPr sz="3733">
              <a:latin typeface="Times New Roman"/>
              <a:ea typeface="Times New Roman"/>
              <a:cs typeface="Times New Roman"/>
              <a:sym typeface="Times New Roman"/>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29"/>
          <p:cNvSpPr txBox="1"/>
          <p:nvPr>
            <p:ph type="title"/>
          </p:nvPr>
        </p:nvSpPr>
        <p:spPr>
          <a:xfrm>
            <a:off x="838200" y="365125"/>
            <a:ext cx="10515600" cy="1325563"/>
          </a:xfrm>
          <a:prstGeom prst="rect">
            <a:avLst/>
          </a:prstGeom>
          <a:noFill/>
          <a:ln>
            <a:noFill/>
          </a:ln>
        </p:spPr>
        <p:txBody>
          <a:bodyPr anchorCtr="0" anchor="ctr" bIns="60925" lIns="121900" spcFirstLastPara="1" rIns="121900" wrap="square" tIns="60925">
            <a:noAutofit/>
          </a:bodyPr>
          <a:lstStyle/>
          <a:p>
            <a:pPr indent="0" lvl="0" marL="0" rtl="0" algn="ctr">
              <a:lnSpc>
                <a:spcPct val="90000"/>
              </a:lnSpc>
              <a:spcBef>
                <a:spcPts val="0"/>
              </a:spcBef>
              <a:spcAft>
                <a:spcPts val="0"/>
              </a:spcAft>
              <a:buClr>
                <a:schemeClr val="dk1"/>
              </a:buClr>
              <a:buSzPts val="4400"/>
              <a:buFont typeface="Calibri"/>
              <a:buNone/>
            </a:pPr>
            <a:r>
              <a:rPr lang="en"/>
              <a:t> </a:t>
            </a:r>
            <a:endParaRPr/>
          </a:p>
        </p:txBody>
      </p:sp>
      <p:sp>
        <p:nvSpPr>
          <p:cNvPr id="254" name="Google Shape;254;p29"/>
          <p:cNvSpPr txBox="1"/>
          <p:nvPr>
            <p:ph idx="1" type="body"/>
          </p:nvPr>
        </p:nvSpPr>
        <p:spPr>
          <a:xfrm>
            <a:off x="609600" y="914400"/>
            <a:ext cx="10972800" cy="5059200"/>
          </a:xfrm>
          <a:prstGeom prst="rect">
            <a:avLst/>
          </a:prstGeom>
          <a:noFill/>
          <a:ln>
            <a:noFill/>
          </a:ln>
        </p:spPr>
        <p:txBody>
          <a:bodyPr anchorCtr="0" anchor="t" bIns="60925" lIns="121900" spcFirstLastPara="1" rIns="121900" wrap="square" tIns="60925">
            <a:noAutofit/>
          </a:bodyPr>
          <a:lstStyle/>
          <a:p>
            <a:pPr indent="-457189" lvl="0" marL="457189" rtl="0" algn="l">
              <a:lnSpc>
                <a:spcPct val="90000"/>
              </a:lnSpc>
              <a:spcBef>
                <a:spcPts val="0"/>
              </a:spcBef>
              <a:spcAft>
                <a:spcPts val="0"/>
              </a:spcAft>
              <a:buClr>
                <a:schemeClr val="dk1"/>
              </a:buClr>
              <a:buSzPts val="3300"/>
              <a:buChar char="•"/>
            </a:pPr>
            <a:r>
              <a:rPr lang="en" sz="3200">
                <a:latin typeface="Times New Roman"/>
                <a:ea typeface="Times New Roman"/>
                <a:cs typeface="Times New Roman"/>
                <a:sym typeface="Times New Roman"/>
              </a:rPr>
              <a:t>The notice itself.( </a:t>
            </a:r>
            <a:r>
              <a:rPr b="1" lang="en" sz="3200">
                <a:latin typeface="Times New Roman"/>
                <a:ea typeface="Times New Roman"/>
                <a:cs typeface="Times New Roman"/>
                <a:sym typeface="Times New Roman"/>
              </a:rPr>
              <a:t>TAKE NOTICE </a:t>
            </a:r>
            <a:r>
              <a:rPr lang="en" sz="3200">
                <a:latin typeface="Times New Roman"/>
                <a:ea typeface="Times New Roman"/>
                <a:cs typeface="Times New Roman"/>
                <a:sym typeface="Times New Roman"/>
              </a:rPr>
              <a:t>that….)</a:t>
            </a:r>
            <a:endParaRPr sz="3200"/>
          </a:p>
          <a:p>
            <a:pPr indent="-457189" lvl="0" marL="457189" rtl="0" algn="l">
              <a:lnSpc>
                <a:spcPct val="90000"/>
              </a:lnSpc>
              <a:spcBef>
                <a:spcPts val="880"/>
              </a:spcBef>
              <a:spcAft>
                <a:spcPts val="0"/>
              </a:spcAft>
              <a:buClr>
                <a:schemeClr val="dk1"/>
              </a:buClr>
              <a:buSzPts val="3300"/>
              <a:buChar char="•"/>
            </a:pPr>
            <a:r>
              <a:rPr lang="en" sz="3200">
                <a:latin typeface="Times New Roman"/>
                <a:ea typeface="Times New Roman"/>
                <a:cs typeface="Times New Roman"/>
                <a:sym typeface="Times New Roman"/>
              </a:rPr>
              <a:t>The order or relief sought</a:t>
            </a:r>
            <a:endParaRPr sz="3200"/>
          </a:p>
          <a:p>
            <a:pPr indent="-457189" lvl="0" marL="457189" rtl="0" algn="l">
              <a:lnSpc>
                <a:spcPct val="90000"/>
              </a:lnSpc>
              <a:spcBef>
                <a:spcPts val="880"/>
              </a:spcBef>
              <a:spcAft>
                <a:spcPts val="0"/>
              </a:spcAft>
              <a:buClr>
                <a:schemeClr val="dk1"/>
              </a:buClr>
              <a:buSzPts val="3300"/>
              <a:buChar char="•"/>
            </a:pPr>
            <a:r>
              <a:rPr lang="en" sz="3200">
                <a:latin typeface="Times New Roman"/>
                <a:ea typeface="Times New Roman"/>
                <a:cs typeface="Times New Roman"/>
                <a:sym typeface="Times New Roman"/>
              </a:rPr>
              <a:t>Date of the application</a:t>
            </a:r>
            <a:endParaRPr sz="3200"/>
          </a:p>
          <a:p>
            <a:pPr indent="-457189" lvl="0" marL="457189" rtl="0" algn="l">
              <a:lnSpc>
                <a:spcPct val="90000"/>
              </a:lnSpc>
              <a:spcBef>
                <a:spcPts val="880"/>
              </a:spcBef>
              <a:spcAft>
                <a:spcPts val="0"/>
              </a:spcAft>
              <a:buClr>
                <a:schemeClr val="dk1"/>
              </a:buClr>
              <a:buSzPts val="3300"/>
              <a:buChar char="•"/>
            </a:pPr>
            <a:r>
              <a:rPr lang="en" sz="3200">
                <a:latin typeface="Times New Roman"/>
                <a:ea typeface="Times New Roman"/>
                <a:cs typeface="Times New Roman"/>
                <a:sym typeface="Times New Roman"/>
              </a:rPr>
              <a:t>Name, signature of counsel. It cannot be signed by a law firm see the case of </a:t>
            </a:r>
            <a:r>
              <a:rPr b="1" lang="en" sz="3200">
                <a:latin typeface="Times New Roman"/>
                <a:ea typeface="Times New Roman"/>
                <a:cs typeface="Times New Roman"/>
                <a:sym typeface="Times New Roman"/>
              </a:rPr>
              <a:t>OKAFOR V NWEKE</a:t>
            </a:r>
            <a:r>
              <a:rPr lang="en" sz="3200">
                <a:latin typeface="Times New Roman"/>
                <a:ea typeface="Times New Roman"/>
                <a:cs typeface="Times New Roman"/>
                <a:sym typeface="Times New Roman"/>
              </a:rPr>
              <a:t> </a:t>
            </a:r>
            <a:r>
              <a:rPr b="1" lang="en" sz="3200">
                <a:latin typeface="Times New Roman"/>
                <a:ea typeface="Times New Roman"/>
                <a:cs typeface="Times New Roman"/>
                <a:sym typeface="Times New Roman"/>
              </a:rPr>
              <a:t>(2007) ALL FWLR (Pt. 368) 1016</a:t>
            </a:r>
            <a:endParaRPr sz="3200">
              <a:latin typeface="Times New Roman"/>
              <a:ea typeface="Times New Roman"/>
              <a:cs typeface="Times New Roman"/>
              <a:sym typeface="Times New Roman"/>
            </a:endParaRPr>
          </a:p>
          <a:p>
            <a:pPr indent="-457189" lvl="0" marL="457189" rtl="0" algn="l">
              <a:lnSpc>
                <a:spcPct val="90000"/>
              </a:lnSpc>
              <a:spcBef>
                <a:spcPts val="880"/>
              </a:spcBef>
              <a:spcAft>
                <a:spcPts val="0"/>
              </a:spcAft>
              <a:buClr>
                <a:schemeClr val="dk1"/>
              </a:buClr>
              <a:buSzPts val="3300"/>
              <a:buChar char="•"/>
            </a:pPr>
            <a:r>
              <a:rPr lang="en" sz="3200">
                <a:latin typeface="Times New Roman"/>
                <a:ea typeface="Times New Roman"/>
                <a:cs typeface="Times New Roman"/>
                <a:sym typeface="Times New Roman"/>
              </a:rPr>
              <a:t>The address of applicant’s counsel</a:t>
            </a:r>
            <a:endParaRPr sz="3200"/>
          </a:p>
          <a:p>
            <a:pPr indent="-457189" lvl="0" marL="457189" rtl="0" algn="l">
              <a:lnSpc>
                <a:spcPct val="90000"/>
              </a:lnSpc>
              <a:spcBef>
                <a:spcPts val="880"/>
              </a:spcBef>
              <a:spcAft>
                <a:spcPts val="0"/>
              </a:spcAft>
              <a:buClr>
                <a:schemeClr val="dk1"/>
              </a:buClr>
              <a:buSzPts val="3300"/>
              <a:buChar char="•"/>
            </a:pPr>
            <a:r>
              <a:rPr lang="en" sz="3200">
                <a:latin typeface="Times New Roman"/>
                <a:ea typeface="Times New Roman"/>
                <a:cs typeface="Times New Roman"/>
                <a:sym typeface="Times New Roman"/>
              </a:rPr>
              <a:t>The name and address for service on the respondent or his counsel</a:t>
            </a:r>
            <a:endParaRPr sz="3200"/>
          </a:p>
          <a:p>
            <a:pPr indent="-177796" lvl="0" marL="457189" rtl="0" algn="l">
              <a:lnSpc>
                <a:spcPct val="90000"/>
              </a:lnSpc>
              <a:spcBef>
                <a:spcPts val="880"/>
              </a:spcBef>
              <a:spcAft>
                <a:spcPts val="0"/>
              </a:spcAft>
              <a:buClr>
                <a:schemeClr val="dk1"/>
              </a:buClr>
              <a:buSzPts val="3300"/>
              <a:buNone/>
            </a:pPr>
            <a:r>
              <a:t/>
            </a:r>
            <a:endParaRPr sz="3200">
              <a:latin typeface="Times New Roman"/>
              <a:ea typeface="Times New Roman"/>
              <a:cs typeface="Times New Roman"/>
              <a:sym typeface="Times New Roman"/>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30"/>
          <p:cNvSpPr txBox="1"/>
          <p:nvPr>
            <p:ph type="title"/>
          </p:nvPr>
        </p:nvSpPr>
        <p:spPr>
          <a:xfrm>
            <a:off x="838200" y="365125"/>
            <a:ext cx="10515600" cy="1325563"/>
          </a:xfrm>
          <a:prstGeom prst="rect">
            <a:avLst/>
          </a:prstGeom>
          <a:noFill/>
          <a:ln>
            <a:noFill/>
          </a:ln>
        </p:spPr>
        <p:txBody>
          <a:bodyPr anchorCtr="0" anchor="ctr" bIns="60925" lIns="121900" spcFirstLastPara="1" rIns="121900" wrap="square" tIns="60925">
            <a:noAutofit/>
          </a:bodyPr>
          <a:lstStyle/>
          <a:p>
            <a:pPr indent="0" lvl="0" marL="0" rtl="0" algn="ctr">
              <a:lnSpc>
                <a:spcPct val="90000"/>
              </a:lnSpc>
              <a:spcBef>
                <a:spcPts val="0"/>
              </a:spcBef>
              <a:spcAft>
                <a:spcPts val="0"/>
              </a:spcAft>
              <a:buClr>
                <a:schemeClr val="dk1"/>
              </a:buClr>
              <a:buSzPts val="4400"/>
              <a:buFont typeface="Times New Roman"/>
              <a:buNone/>
            </a:pPr>
            <a:r>
              <a:rPr b="1" lang="en">
                <a:latin typeface="Times New Roman"/>
                <a:ea typeface="Times New Roman"/>
                <a:cs typeface="Times New Roman"/>
                <a:sym typeface="Times New Roman"/>
              </a:rPr>
              <a:t>Hearing of Motion</a:t>
            </a:r>
            <a:endParaRPr b="1">
              <a:latin typeface="Times New Roman"/>
              <a:ea typeface="Times New Roman"/>
              <a:cs typeface="Times New Roman"/>
              <a:sym typeface="Times New Roman"/>
            </a:endParaRPr>
          </a:p>
        </p:txBody>
      </p:sp>
      <p:sp>
        <p:nvSpPr>
          <p:cNvPr id="260" name="Google Shape;260;p30"/>
          <p:cNvSpPr txBox="1"/>
          <p:nvPr>
            <p:ph idx="1" type="body"/>
          </p:nvPr>
        </p:nvSpPr>
        <p:spPr>
          <a:xfrm>
            <a:off x="838200" y="1825625"/>
            <a:ext cx="10515600" cy="4351338"/>
          </a:xfrm>
          <a:prstGeom prst="rect">
            <a:avLst/>
          </a:prstGeom>
          <a:noFill/>
          <a:ln>
            <a:noFill/>
          </a:ln>
        </p:spPr>
        <p:txBody>
          <a:bodyPr anchorCtr="0" anchor="t" bIns="60925" lIns="121900" spcFirstLastPara="1" rIns="121900" wrap="square" tIns="60925">
            <a:noAutofit/>
          </a:bodyPr>
          <a:lstStyle/>
          <a:p>
            <a:pPr indent="0" lvl="0" marL="0" rtl="0" algn="l">
              <a:lnSpc>
                <a:spcPct val="90000"/>
              </a:lnSpc>
              <a:spcBef>
                <a:spcPts val="1067"/>
              </a:spcBef>
              <a:spcAft>
                <a:spcPts val="0"/>
              </a:spcAft>
              <a:buClr>
                <a:schemeClr val="dk1"/>
              </a:buClr>
              <a:buSzPts val="4000"/>
              <a:buNone/>
            </a:pPr>
            <a:r>
              <a:rPr b="1" lang="en" sz="3733">
                <a:latin typeface="Times New Roman"/>
                <a:ea typeface="Times New Roman"/>
                <a:cs typeface="Times New Roman"/>
                <a:sym typeface="Times New Roman"/>
              </a:rPr>
              <a:t>The venue </a:t>
            </a:r>
            <a:endParaRPr/>
          </a:p>
          <a:p>
            <a:pPr indent="-457189" lvl="0" marL="457189" rtl="0" algn="l">
              <a:lnSpc>
                <a:spcPct val="90000"/>
              </a:lnSpc>
              <a:spcBef>
                <a:spcPts val="1067"/>
              </a:spcBef>
              <a:spcAft>
                <a:spcPts val="0"/>
              </a:spcAft>
              <a:buClr>
                <a:schemeClr val="dk1"/>
              </a:buClr>
              <a:buSzPts val="4000"/>
              <a:buChar char="•"/>
            </a:pPr>
            <a:r>
              <a:rPr lang="en" sz="3733">
                <a:latin typeface="Times New Roman"/>
                <a:ea typeface="Times New Roman"/>
                <a:cs typeface="Times New Roman"/>
                <a:sym typeface="Times New Roman"/>
              </a:rPr>
              <a:t>The venue for hearing a motion is either in court or in chambers</a:t>
            </a:r>
            <a:endParaRPr sz="3733"/>
          </a:p>
          <a:p>
            <a:pPr indent="-457189" lvl="0" marL="457189" rtl="0" algn="l">
              <a:lnSpc>
                <a:spcPct val="90000"/>
              </a:lnSpc>
              <a:spcBef>
                <a:spcPts val="1067"/>
              </a:spcBef>
              <a:spcAft>
                <a:spcPts val="0"/>
              </a:spcAft>
              <a:buClr>
                <a:schemeClr val="dk1"/>
              </a:buClr>
              <a:buSzPts val="4000"/>
              <a:buChar char="•"/>
            </a:pPr>
            <a:r>
              <a:rPr lang="en" sz="3733">
                <a:latin typeface="Times New Roman"/>
                <a:ea typeface="Times New Roman"/>
                <a:cs typeface="Times New Roman"/>
                <a:sym typeface="Times New Roman"/>
              </a:rPr>
              <a:t>Contentious applications are heard in open court while non contentious may be heard in chambers.</a:t>
            </a:r>
            <a:endParaRPr sz="3733"/>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31"/>
          <p:cNvSpPr txBox="1"/>
          <p:nvPr>
            <p:ph type="title"/>
          </p:nvPr>
        </p:nvSpPr>
        <p:spPr>
          <a:xfrm>
            <a:off x="838200" y="365125"/>
            <a:ext cx="10515600" cy="1325563"/>
          </a:xfrm>
          <a:prstGeom prst="rect">
            <a:avLst/>
          </a:prstGeom>
          <a:noFill/>
          <a:ln>
            <a:noFill/>
          </a:ln>
        </p:spPr>
        <p:txBody>
          <a:bodyPr anchorCtr="0" anchor="ctr" bIns="60925" lIns="121900" spcFirstLastPara="1" rIns="121900" wrap="square" tIns="60925">
            <a:noAutofit/>
          </a:bodyPr>
          <a:lstStyle/>
          <a:p>
            <a:pPr indent="0" lvl="0" marL="0" rtl="0" algn="ctr">
              <a:lnSpc>
                <a:spcPct val="90000"/>
              </a:lnSpc>
              <a:spcBef>
                <a:spcPts val="0"/>
              </a:spcBef>
              <a:spcAft>
                <a:spcPts val="0"/>
              </a:spcAft>
              <a:buClr>
                <a:schemeClr val="dk1"/>
              </a:buClr>
              <a:buSzPts val="3959"/>
              <a:buFont typeface="Times New Roman"/>
              <a:buNone/>
            </a:pPr>
            <a:r>
              <a:rPr b="1" lang="en">
                <a:latin typeface="Times New Roman"/>
                <a:ea typeface="Times New Roman"/>
                <a:cs typeface="Times New Roman"/>
                <a:sym typeface="Times New Roman"/>
              </a:rPr>
              <a:t>Obligation to hear every Motion</a:t>
            </a:r>
            <a:endParaRPr b="1">
              <a:latin typeface="Times New Roman"/>
              <a:ea typeface="Times New Roman"/>
              <a:cs typeface="Times New Roman"/>
              <a:sym typeface="Times New Roman"/>
            </a:endParaRPr>
          </a:p>
        </p:txBody>
      </p:sp>
      <p:sp>
        <p:nvSpPr>
          <p:cNvPr id="266" name="Google Shape;266;p31"/>
          <p:cNvSpPr txBox="1"/>
          <p:nvPr>
            <p:ph idx="1" type="body"/>
          </p:nvPr>
        </p:nvSpPr>
        <p:spPr>
          <a:xfrm>
            <a:off x="838200" y="1825625"/>
            <a:ext cx="10515600" cy="4351338"/>
          </a:xfrm>
          <a:prstGeom prst="rect">
            <a:avLst/>
          </a:prstGeom>
          <a:noFill/>
          <a:ln>
            <a:noFill/>
          </a:ln>
        </p:spPr>
        <p:txBody>
          <a:bodyPr anchorCtr="0" anchor="t" bIns="60925" lIns="121900" spcFirstLastPara="1" rIns="121900" wrap="square" tIns="60925">
            <a:noAutofit/>
          </a:bodyPr>
          <a:lstStyle/>
          <a:p>
            <a:pPr indent="-457189" lvl="0" marL="457189" rtl="0" algn="l">
              <a:lnSpc>
                <a:spcPct val="90000"/>
              </a:lnSpc>
              <a:spcBef>
                <a:spcPts val="0"/>
              </a:spcBef>
              <a:spcAft>
                <a:spcPts val="0"/>
              </a:spcAft>
              <a:buClr>
                <a:schemeClr val="dk1"/>
              </a:buClr>
              <a:buSzPts val="3600"/>
              <a:buChar char="•"/>
            </a:pPr>
            <a:r>
              <a:rPr lang="en" sz="3733">
                <a:latin typeface="Times New Roman"/>
                <a:ea typeface="Times New Roman"/>
                <a:cs typeface="Times New Roman"/>
                <a:sym typeface="Times New Roman"/>
              </a:rPr>
              <a:t>Once an application has been filed except it is withdrawn, the court is duty bound to  hear the application and make pronouncement. </a:t>
            </a:r>
            <a:r>
              <a:rPr b="1" lang="en" sz="3733">
                <a:latin typeface="Times New Roman"/>
                <a:ea typeface="Times New Roman"/>
                <a:cs typeface="Times New Roman"/>
                <a:sym typeface="Times New Roman"/>
              </a:rPr>
              <a:t>See DANDUME LGC V YARO (2011) 11 NWLR(PT1257)159 </a:t>
            </a:r>
            <a:r>
              <a:rPr lang="en" sz="3733">
                <a:latin typeface="Times New Roman"/>
                <a:ea typeface="Times New Roman"/>
                <a:cs typeface="Times New Roman"/>
                <a:sym typeface="Times New Roman"/>
              </a:rPr>
              <a:t>Where a motion for extension of time to file defence was not heard and judgment was delivered. It was set aside on appeal.</a:t>
            </a:r>
            <a:endParaRPr sz="3733">
              <a:latin typeface="Times New Roman"/>
              <a:ea typeface="Times New Roman"/>
              <a:cs typeface="Times New Roman"/>
              <a:sym typeface="Times New Roman"/>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32"/>
          <p:cNvSpPr txBox="1"/>
          <p:nvPr>
            <p:ph type="title"/>
          </p:nvPr>
        </p:nvSpPr>
        <p:spPr>
          <a:xfrm>
            <a:off x="838200" y="365125"/>
            <a:ext cx="10515600" cy="1325563"/>
          </a:xfrm>
          <a:prstGeom prst="rect">
            <a:avLst/>
          </a:prstGeom>
          <a:noFill/>
          <a:ln>
            <a:noFill/>
          </a:ln>
        </p:spPr>
        <p:txBody>
          <a:bodyPr anchorCtr="0" anchor="ctr" bIns="60925" lIns="121900" spcFirstLastPara="1" rIns="121900" wrap="square" tIns="60925">
            <a:noAutofit/>
          </a:bodyPr>
          <a:lstStyle/>
          <a:p>
            <a:pPr indent="0" lvl="0" marL="0" rtl="0" algn="ctr">
              <a:lnSpc>
                <a:spcPct val="90000"/>
              </a:lnSpc>
              <a:spcBef>
                <a:spcPts val="0"/>
              </a:spcBef>
              <a:spcAft>
                <a:spcPts val="0"/>
              </a:spcAft>
              <a:buClr>
                <a:schemeClr val="dk1"/>
              </a:buClr>
              <a:buSzPts val="3959"/>
              <a:buFont typeface="Times New Roman"/>
              <a:buNone/>
            </a:pPr>
            <a:r>
              <a:rPr b="1" lang="en">
                <a:latin typeface="Times New Roman"/>
                <a:ea typeface="Times New Roman"/>
                <a:cs typeface="Times New Roman"/>
                <a:sym typeface="Times New Roman"/>
              </a:rPr>
              <a:t>Order of Hearing Motions</a:t>
            </a:r>
            <a:endParaRPr b="1">
              <a:latin typeface="Times New Roman"/>
              <a:ea typeface="Times New Roman"/>
              <a:cs typeface="Times New Roman"/>
              <a:sym typeface="Times New Roman"/>
            </a:endParaRPr>
          </a:p>
        </p:txBody>
      </p:sp>
      <p:sp>
        <p:nvSpPr>
          <p:cNvPr id="272" name="Google Shape;272;p32"/>
          <p:cNvSpPr txBox="1"/>
          <p:nvPr>
            <p:ph idx="1" type="body"/>
          </p:nvPr>
        </p:nvSpPr>
        <p:spPr>
          <a:xfrm>
            <a:off x="508000" y="1752600"/>
            <a:ext cx="10972800" cy="4526000"/>
          </a:xfrm>
          <a:prstGeom prst="rect">
            <a:avLst/>
          </a:prstGeom>
          <a:noFill/>
          <a:ln>
            <a:noFill/>
          </a:ln>
        </p:spPr>
        <p:txBody>
          <a:bodyPr anchorCtr="0" anchor="t" bIns="60925" lIns="121900" spcFirstLastPara="1" rIns="121900" wrap="square" tIns="60925">
            <a:noAutofit/>
          </a:bodyPr>
          <a:lstStyle/>
          <a:p>
            <a:pPr indent="-457189" lvl="0" marL="457189" rtl="0" algn="l">
              <a:lnSpc>
                <a:spcPct val="80000"/>
              </a:lnSpc>
              <a:spcBef>
                <a:spcPts val="0"/>
              </a:spcBef>
              <a:spcAft>
                <a:spcPts val="0"/>
              </a:spcAft>
              <a:buClr>
                <a:schemeClr val="dk1"/>
              </a:buClr>
              <a:buSzPts val="3409"/>
              <a:buChar char="•"/>
            </a:pPr>
            <a:r>
              <a:rPr lang="en" sz="3733">
                <a:latin typeface="Times New Roman"/>
                <a:ea typeface="Times New Roman"/>
                <a:cs typeface="Times New Roman"/>
                <a:sym typeface="Times New Roman"/>
              </a:rPr>
              <a:t>The order of hearing a motion is at the discretion of the court.</a:t>
            </a:r>
            <a:endParaRPr sz="3733"/>
          </a:p>
          <a:p>
            <a:pPr indent="-457189" lvl="0" marL="457189" rtl="0" algn="l">
              <a:lnSpc>
                <a:spcPct val="80000"/>
              </a:lnSpc>
              <a:spcBef>
                <a:spcPts val="909"/>
              </a:spcBef>
              <a:spcAft>
                <a:spcPts val="0"/>
              </a:spcAft>
              <a:buClr>
                <a:schemeClr val="dk1"/>
              </a:buClr>
              <a:buSzPts val="3409"/>
              <a:buChar char="•"/>
            </a:pPr>
            <a:r>
              <a:rPr lang="en" sz="3733">
                <a:latin typeface="Times New Roman"/>
                <a:ea typeface="Times New Roman"/>
                <a:cs typeface="Times New Roman"/>
                <a:sym typeface="Times New Roman"/>
              </a:rPr>
              <a:t>It is usually taken in the order in which they are filed.</a:t>
            </a:r>
            <a:endParaRPr sz="3733"/>
          </a:p>
          <a:p>
            <a:pPr indent="-457189" lvl="0" marL="457189" rtl="0" algn="l">
              <a:lnSpc>
                <a:spcPct val="80000"/>
              </a:lnSpc>
              <a:spcBef>
                <a:spcPts val="909"/>
              </a:spcBef>
              <a:spcAft>
                <a:spcPts val="0"/>
              </a:spcAft>
              <a:buClr>
                <a:schemeClr val="dk1"/>
              </a:buClr>
              <a:buSzPts val="3409"/>
              <a:buChar char="•"/>
            </a:pPr>
            <a:r>
              <a:rPr lang="en" sz="3733">
                <a:latin typeface="Times New Roman"/>
                <a:ea typeface="Times New Roman"/>
                <a:cs typeface="Times New Roman"/>
                <a:sym typeface="Times New Roman"/>
              </a:rPr>
              <a:t>However, where there are two pending motions, one seeking to destroy and the other seeking to save the suit,( constructive or destructive motions) the one seeking to save the suit  will be heard first. See </a:t>
            </a:r>
            <a:r>
              <a:rPr b="1" lang="en" sz="3733">
                <a:latin typeface="Times New Roman"/>
                <a:ea typeface="Times New Roman"/>
                <a:cs typeface="Times New Roman"/>
                <a:sym typeface="Times New Roman"/>
              </a:rPr>
              <a:t>AG FED V. AIC LTD (1995) 2 NWLR 378.</a:t>
            </a:r>
            <a:endParaRPr b="1" sz="3733">
              <a:latin typeface="Times New Roman"/>
              <a:ea typeface="Times New Roman"/>
              <a:cs typeface="Times New Roman"/>
              <a:sym typeface="Times New Roman"/>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3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5400"/>
              <a:buFont typeface="Calibri"/>
              <a:buNone/>
            </a:pPr>
            <a:r>
              <a:rPr b="1" lang="en" sz="5400"/>
              <a:t>Moving of Motion</a:t>
            </a:r>
            <a:endParaRPr b="1" sz="5400"/>
          </a:p>
        </p:txBody>
      </p:sp>
      <p:sp>
        <p:nvSpPr>
          <p:cNvPr id="278" name="Google Shape;278;p3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457189" lvl="0" marL="457189" rtl="0" algn="l">
              <a:lnSpc>
                <a:spcPct val="90000"/>
              </a:lnSpc>
              <a:spcBef>
                <a:spcPts val="0"/>
              </a:spcBef>
              <a:spcAft>
                <a:spcPts val="0"/>
              </a:spcAft>
              <a:buClr>
                <a:schemeClr val="dk1"/>
              </a:buClr>
              <a:buSzPts val="3200"/>
              <a:buChar char="•"/>
            </a:pPr>
            <a:r>
              <a:rPr lang="en">
                <a:latin typeface="Times New Roman"/>
                <a:ea typeface="Times New Roman"/>
                <a:cs typeface="Times New Roman"/>
                <a:sym typeface="Times New Roman"/>
              </a:rPr>
              <a:t>Identify the application</a:t>
            </a:r>
            <a:endParaRPr/>
          </a:p>
          <a:p>
            <a:pPr indent="-457189" lvl="0" marL="457189" rtl="0" algn="l">
              <a:lnSpc>
                <a:spcPct val="90000"/>
              </a:lnSpc>
              <a:spcBef>
                <a:spcPts val="853"/>
              </a:spcBef>
              <a:spcAft>
                <a:spcPts val="0"/>
              </a:spcAft>
              <a:buClr>
                <a:schemeClr val="dk1"/>
              </a:buClr>
              <a:buSzPts val="3200"/>
              <a:buChar char="•"/>
            </a:pPr>
            <a:r>
              <a:rPr lang="en">
                <a:latin typeface="Times New Roman"/>
                <a:ea typeface="Times New Roman"/>
                <a:cs typeface="Times New Roman"/>
                <a:sym typeface="Times New Roman"/>
              </a:rPr>
              <a:t>State the rule or law under which the application is brought</a:t>
            </a:r>
            <a:endParaRPr/>
          </a:p>
          <a:p>
            <a:pPr indent="-457189" lvl="0" marL="457189" rtl="0" algn="l">
              <a:lnSpc>
                <a:spcPct val="90000"/>
              </a:lnSpc>
              <a:spcBef>
                <a:spcPts val="853"/>
              </a:spcBef>
              <a:spcAft>
                <a:spcPts val="0"/>
              </a:spcAft>
              <a:buClr>
                <a:schemeClr val="dk1"/>
              </a:buClr>
              <a:buSzPts val="3200"/>
              <a:buChar char="•"/>
            </a:pPr>
            <a:r>
              <a:rPr lang="en">
                <a:latin typeface="Times New Roman"/>
                <a:ea typeface="Times New Roman"/>
                <a:cs typeface="Times New Roman"/>
                <a:sym typeface="Times New Roman"/>
              </a:rPr>
              <a:t>State the prayers being sought on the motion paper</a:t>
            </a:r>
            <a:endParaRPr/>
          </a:p>
          <a:p>
            <a:pPr indent="-457189" lvl="0" marL="457189" rtl="0" algn="l">
              <a:lnSpc>
                <a:spcPct val="90000"/>
              </a:lnSpc>
              <a:spcBef>
                <a:spcPts val="853"/>
              </a:spcBef>
              <a:spcAft>
                <a:spcPts val="0"/>
              </a:spcAft>
              <a:buClr>
                <a:schemeClr val="dk1"/>
              </a:buClr>
              <a:buSzPts val="3200"/>
              <a:buChar char="•"/>
            </a:pPr>
            <a:r>
              <a:rPr lang="en">
                <a:latin typeface="Times New Roman"/>
                <a:ea typeface="Times New Roman"/>
                <a:cs typeface="Times New Roman"/>
                <a:sym typeface="Times New Roman"/>
              </a:rPr>
              <a:t>Draw the attention of the court to the affidavit in support of the application including further affidavit if any.</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3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sp>
        <p:nvSpPr>
          <p:cNvPr id="284" name="Google Shape;284;p3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457189" lvl="0" marL="457189" rtl="0" algn="l">
              <a:lnSpc>
                <a:spcPct val="90000"/>
              </a:lnSpc>
              <a:spcBef>
                <a:spcPts val="0"/>
              </a:spcBef>
              <a:spcAft>
                <a:spcPts val="0"/>
              </a:spcAft>
              <a:buClr>
                <a:schemeClr val="dk1"/>
              </a:buClr>
              <a:buSzPts val="3200"/>
              <a:buChar char="•"/>
            </a:pPr>
            <a:r>
              <a:rPr lang="en">
                <a:latin typeface="Times New Roman"/>
                <a:ea typeface="Times New Roman"/>
                <a:cs typeface="Times New Roman"/>
                <a:sym typeface="Times New Roman"/>
              </a:rPr>
              <a:t>Make references to any exhibit attached if any.</a:t>
            </a:r>
            <a:endParaRPr/>
          </a:p>
          <a:p>
            <a:pPr indent="-457189" lvl="0" marL="457189" rtl="0" algn="l">
              <a:lnSpc>
                <a:spcPct val="90000"/>
              </a:lnSpc>
              <a:spcBef>
                <a:spcPts val="853"/>
              </a:spcBef>
              <a:spcAft>
                <a:spcPts val="0"/>
              </a:spcAft>
              <a:buClr>
                <a:schemeClr val="dk1"/>
              </a:buClr>
              <a:buSzPts val="3200"/>
              <a:buChar char="•"/>
            </a:pPr>
            <a:r>
              <a:rPr lang="en">
                <a:latin typeface="Times New Roman"/>
                <a:ea typeface="Times New Roman"/>
                <a:cs typeface="Times New Roman"/>
                <a:sym typeface="Times New Roman"/>
              </a:rPr>
              <a:t>Draw the court’s attention to the written address and adopt same.</a:t>
            </a:r>
            <a:endParaRPr/>
          </a:p>
          <a:p>
            <a:pPr indent="-457189" lvl="0" marL="457189" rtl="0" algn="l">
              <a:lnSpc>
                <a:spcPct val="90000"/>
              </a:lnSpc>
              <a:spcBef>
                <a:spcPts val="853"/>
              </a:spcBef>
              <a:spcAft>
                <a:spcPts val="0"/>
              </a:spcAft>
              <a:buClr>
                <a:schemeClr val="dk1"/>
              </a:buClr>
              <a:buSzPts val="3200"/>
              <a:buChar char="•"/>
            </a:pPr>
            <a:r>
              <a:rPr lang="en">
                <a:latin typeface="Times New Roman"/>
                <a:ea typeface="Times New Roman"/>
                <a:cs typeface="Times New Roman"/>
                <a:sym typeface="Times New Roman"/>
              </a:rPr>
              <a:t>Where the respondent has filed a counter affidavit, respond to it.</a:t>
            </a:r>
            <a:endParaRPr/>
          </a:p>
          <a:p>
            <a:pPr indent="-457189" lvl="0" marL="457189" rtl="0" algn="l">
              <a:lnSpc>
                <a:spcPct val="90000"/>
              </a:lnSpc>
              <a:spcBef>
                <a:spcPts val="853"/>
              </a:spcBef>
              <a:spcAft>
                <a:spcPts val="0"/>
              </a:spcAft>
              <a:buClr>
                <a:schemeClr val="dk1"/>
              </a:buClr>
              <a:buSzPts val="3200"/>
              <a:buChar char="•"/>
            </a:pPr>
            <a:r>
              <a:rPr lang="en">
                <a:latin typeface="Times New Roman"/>
                <a:ea typeface="Times New Roman"/>
                <a:cs typeface="Times New Roman"/>
                <a:sym typeface="Times New Roman"/>
              </a:rPr>
              <a:t>Urge the court to grant the application</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3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sp>
        <p:nvSpPr>
          <p:cNvPr id="290" name="Google Shape;290;p3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457189" lvl="0" marL="457189" rtl="0" algn="l">
              <a:lnSpc>
                <a:spcPct val="90000"/>
              </a:lnSpc>
              <a:spcBef>
                <a:spcPts val="0"/>
              </a:spcBef>
              <a:spcAft>
                <a:spcPts val="0"/>
              </a:spcAft>
              <a:buClr>
                <a:schemeClr val="dk1"/>
              </a:buClr>
              <a:buSzPts val="3200"/>
              <a:buChar char="•"/>
            </a:pPr>
            <a:r>
              <a:rPr lang="en">
                <a:latin typeface="Times New Roman"/>
                <a:ea typeface="Times New Roman"/>
                <a:cs typeface="Times New Roman"/>
                <a:sym typeface="Times New Roman"/>
              </a:rPr>
              <a:t>Where the respondent is opposing the application by way of a counter affidavit he will indicate and refer the court to his counter affidavit, adopt his written address and urge the court not to grant it.</a:t>
            </a:r>
            <a:endParaRPr/>
          </a:p>
          <a:p>
            <a:pPr indent="-457189" lvl="0" marL="457189" rtl="0" algn="l">
              <a:lnSpc>
                <a:spcPct val="90000"/>
              </a:lnSpc>
              <a:spcBef>
                <a:spcPts val="853"/>
              </a:spcBef>
              <a:spcAft>
                <a:spcPts val="0"/>
              </a:spcAft>
              <a:buClr>
                <a:schemeClr val="dk1"/>
              </a:buClr>
              <a:buSzPts val="3200"/>
              <a:buChar char="•"/>
            </a:pPr>
            <a:r>
              <a:rPr lang="en">
                <a:latin typeface="Times New Roman"/>
                <a:ea typeface="Times New Roman"/>
                <a:cs typeface="Times New Roman"/>
                <a:sym typeface="Times New Roman"/>
              </a:rPr>
              <a:t>The court will deliver a bench ruling, stand down for ruling or adjourned for ruling as the case may be.</a:t>
            </a:r>
            <a:endParaRPr/>
          </a:p>
          <a:p>
            <a:pPr indent="-457189" lvl="0" marL="457189" rtl="0" algn="l">
              <a:lnSpc>
                <a:spcPct val="90000"/>
              </a:lnSpc>
              <a:spcBef>
                <a:spcPts val="853"/>
              </a:spcBef>
              <a:spcAft>
                <a:spcPts val="0"/>
              </a:spcAft>
              <a:buClr>
                <a:schemeClr val="dk1"/>
              </a:buClr>
              <a:buSzPts val="3200"/>
              <a:buChar char="•"/>
            </a:pPr>
            <a:r>
              <a:rPr lang="en">
                <a:latin typeface="Times New Roman"/>
                <a:ea typeface="Times New Roman"/>
                <a:cs typeface="Times New Roman"/>
                <a:sym typeface="Times New Roman"/>
              </a:rPr>
              <a:t>Where the respondent has no objection and did not file any counter he may indicate he has no objection and he may ask for cost.</a:t>
            </a:r>
            <a:endParaRPr/>
          </a:p>
          <a:p>
            <a:pPr indent="-50800" lvl="0" marL="228600" rtl="0" algn="l">
              <a:lnSpc>
                <a:spcPct val="90000"/>
              </a:lnSpc>
              <a:spcBef>
                <a:spcPts val="1000"/>
              </a:spcBef>
              <a:spcAft>
                <a:spcPts val="0"/>
              </a:spcAft>
              <a:buClr>
                <a:schemeClr val="dk1"/>
              </a:buClr>
              <a:buSzPts val="2800"/>
              <a:buNone/>
            </a:pPr>
            <a:r>
              <a:t/>
            </a:r>
            <a:endParaRPr/>
          </a:p>
          <a:p>
            <a:pPr indent="-253989" lvl="0" marL="457189" rtl="0" algn="l">
              <a:lnSpc>
                <a:spcPct val="90000"/>
              </a:lnSpc>
              <a:spcBef>
                <a:spcPts val="853"/>
              </a:spcBef>
              <a:spcAft>
                <a:spcPts val="0"/>
              </a:spcAft>
              <a:buClr>
                <a:schemeClr val="dk1"/>
              </a:buClr>
              <a:buSzPts val="3200"/>
              <a:buNone/>
            </a:pPr>
            <a:r>
              <a:t/>
            </a:r>
            <a:endParaRPr>
              <a:latin typeface="Times New Roman"/>
              <a:ea typeface="Times New Roman"/>
              <a:cs typeface="Times New Roman"/>
              <a:sym typeface="Times New Roman"/>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3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sp>
        <p:nvSpPr>
          <p:cNvPr id="296" name="Google Shape;296;p3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b="1" lang="en">
                <a:latin typeface="Times New Roman"/>
                <a:ea typeface="Times New Roman"/>
                <a:cs typeface="Times New Roman"/>
                <a:sym typeface="Times New Roman"/>
              </a:rPr>
              <a:t>In Abuja</a:t>
            </a:r>
            <a:r>
              <a:rPr lang="en">
                <a:latin typeface="Times New Roman"/>
                <a:ea typeface="Times New Roman"/>
                <a:cs typeface="Times New Roman"/>
                <a:sym typeface="Times New Roman"/>
              </a:rPr>
              <a:t>, motion </a:t>
            </a:r>
            <a:r>
              <a:rPr i="1" lang="en">
                <a:latin typeface="Times New Roman"/>
                <a:ea typeface="Times New Roman"/>
                <a:cs typeface="Times New Roman"/>
                <a:sym typeface="Times New Roman"/>
              </a:rPr>
              <a:t>ex parte </a:t>
            </a:r>
            <a:r>
              <a:rPr lang="en">
                <a:latin typeface="Times New Roman"/>
                <a:ea typeface="Times New Roman"/>
                <a:cs typeface="Times New Roman"/>
                <a:sym typeface="Times New Roman"/>
              </a:rPr>
              <a:t>may be deemed moved and the written address adopted without actually moving same </a:t>
            </a:r>
            <a:r>
              <a:rPr b="1" lang="en">
                <a:latin typeface="Times New Roman"/>
                <a:ea typeface="Times New Roman"/>
                <a:cs typeface="Times New Roman"/>
                <a:sym typeface="Times New Roman"/>
              </a:rPr>
              <a:t>See </a:t>
            </a:r>
            <a:r>
              <a:rPr b="1" lang="en">
                <a:solidFill>
                  <a:srgbClr val="FF0000"/>
                </a:solidFill>
                <a:latin typeface="Times New Roman"/>
                <a:ea typeface="Times New Roman"/>
                <a:cs typeface="Times New Roman"/>
                <a:sym typeface="Times New Roman"/>
              </a:rPr>
              <a:t>O. 30 R4 Abuja</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3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Times New Roman"/>
              <a:buNone/>
            </a:pPr>
            <a:r>
              <a:rPr b="1" lang="en">
                <a:latin typeface="Times New Roman"/>
                <a:ea typeface="Times New Roman"/>
                <a:cs typeface="Times New Roman"/>
                <a:sym typeface="Times New Roman"/>
              </a:rPr>
              <a:t>AFFIDAVITS</a:t>
            </a:r>
            <a:endParaRPr/>
          </a:p>
        </p:txBody>
      </p:sp>
      <p:sp>
        <p:nvSpPr>
          <p:cNvPr id="302" name="Google Shape;302;p3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38"/>
          <p:cNvSpPr txBox="1"/>
          <p:nvPr>
            <p:ph type="title"/>
          </p:nvPr>
        </p:nvSpPr>
        <p:spPr>
          <a:xfrm>
            <a:off x="838200" y="365125"/>
            <a:ext cx="10515600" cy="1325563"/>
          </a:xfrm>
          <a:prstGeom prst="rect">
            <a:avLst/>
          </a:prstGeom>
          <a:noFill/>
          <a:ln>
            <a:noFill/>
          </a:ln>
        </p:spPr>
        <p:txBody>
          <a:bodyPr anchorCtr="0" anchor="ctr" bIns="60925" lIns="121900" spcFirstLastPara="1" rIns="121900" wrap="square" tIns="60925">
            <a:noAutofit/>
          </a:bodyPr>
          <a:lstStyle/>
          <a:p>
            <a:pPr indent="0" lvl="0" marL="0" rtl="0" algn="ctr">
              <a:lnSpc>
                <a:spcPct val="90000"/>
              </a:lnSpc>
              <a:spcBef>
                <a:spcPts val="0"/>
              </a:spcBef>
              <a:spcAft>
                <a:spcPts val="0"/>
              </a:spcAft>
              <a:buClr>
                <a:schemeClr val="dk1"/>
              </a:buClr>
              <a:buSzPts val="4400"/>
              <a:buFont typeface="Times New Roman"/>
              <a:buNone/>
            </a:pPr>
            <a:r>
              <a:rPr b="1" lang="en">
                <a:latin typeface="Times New Roman"/>
                <a:ea typeface="Times New Roman"/>
                <a:cs typeface="Times New Roman"/>
                <a:sym typeface="Times New Roman"/>
              </a:rPr>
              <a:t>Meaning and Use of Affidavits in Motions</a:t>
            </a:r>
            <a:endParaRPr b="1">
              <a:latin typeface="Times New Roman"/>
              <a:ea typeface="Times New Roman"/>
              <a:cs typeface="Times New Roman"/>
              <a:sym typeface="Times New Roman"/>
            </a:endParaRPr>
          </a:p>
        </p:txBody>
      </p:sp>
      <p:sp>
        <p:nvSpPr>
          <p:cNvPr id="308" name="Google Shape;308;p38"/>
          <p:cNvSpPr txBox="1"/>
          <p:nvPr>
            <p:ph idx="1" type="body"/>
          </p:nvPr>
        </p:nvSpPr>
        <p:spPr>
          <a:xfrm>
            <a:off x="609600" y="1219200"/>
            <a:ext cx="10972800" cy="4906800"/>
          </a:xfrm>
          <a:prstGeom prst="rect">
            <a:avLst/>
          </a:prstGeom>
          <a:noFill/>
          <a:ln>
            <a:noFill/>
          </a:ln>
        </p:spPr>
        <p:txBody>
          <a:bodyPr anchorCtr="0" anchor="t" bIns="60925" lIns="121900" spcFirstLastPara="1" rIns="121900" wrap="square" tIns="60925">
            <a:noAutofit/>
          </a:bodyPr>
          <a:lstStyle/>
          <a:p>
            <a:pPr indent="-457189" lvl="0" marL="457189" rtl="0" algn="l">
              <a:lnSpc>
                <a:spcPct val="90000"/>
              </a:lnSpc>
              <a:spcBef>
                <a:spcPts val="827"/>
              </a:spcBef>
              <a:spcAft>
                <a:spcPts val="0"/>
              </a:spcAft>
              <a:buClr>
                <a:schemeClr val="dk1"/>
              </a:buClr>
              <a:buSzPts val="3100"/>
              <a:buChar char="•"/>
            </a:pPr>
            <a:r>
              <a:rPr lang="en" sz="3733">
                <a:latin typeface="Times New Roman"/>
                <a:ea typeface="Times New Roman"/>
                <a:cs typeface="Times New Roman"/>
                <a:sym typeface="Times New Roman"/>
              </a:rPr>
              <a:t>It is a written statement of facts made by the maker under oath.</a:t>
            </a:r>
            <a:endParaRPr sz="3733"/>
          </a:p>
          <a:p>
            <a:pPr indent="-457189" lvl="0" marL="457189" rtl="0" algn="l">
              <a:lnSpc>
                <a:spcPct val="90000"/>
              </a:lnSpc>
              <a:spcBef>
                <a:spcPts val="827"/>
              </a:spcBef>
              <a:spcAft>
                <a:spcPts val="0"/>
              </a:spcAft>
              <a:buClr>
                <a:schemeClr val="dk1"/>
              </a:buClr>
              <a:buSzPts val="3100"/>
              <a:buChar char="•"/>
            </a:pPr>
            <a:r>
              <a:rPr lang="en" sz="3733">
                <a:latin typeface="Times New Roman"/>
                <a:ea typeface="Times New Roman"/>
                <a:cs typeface="Times New Roman"/>
                <a:sym typeface="Times New Roman"/>
              </a:rPr>
              <a:t>The maker is referred to as the deponent.</a:t>
            </a:r>
            <a:endParaRPr sz="3733"/>
          </a:p>
          <a:p>
            <a:pPr indent="-457189" lvl="0" marL="457189" rtl="0" algn="l">
              <a:lnSpc>
                <a:spcPct val="90000"/>
              </a:lnSpc>
              <a:spcBef>
                <a:spcPts val="0"/>
              </a:spcBef>
              <a:spcAft>
                <a:spcPts val="0"/>
              </a:spcAft>
              <a:buClr>
                <a:schemeClr val="dk1"/>
              </a:buClr>
              <a:buSzPts val="3100"/>
              <a:buChar char="•"/>
            </a:pPr>
            <a:r>
              <a:rPr lang="en" sz="3733">
                <a:latin typeface="Times New Roman"/>
                <a:ea typeface="Times New Roman"/>
                <a:cs typeface="Times New Roman"/>
                <a:sym typeface="Times New Roman"/>
              </a:rPr>
              <a:t>Every motion shall be supported by an affidavit. See </a:t>
            </a:r>
            <a:r>
              <a:rPr b="1" lang="en" sz="3733">
                <a:solidFill>
                  <a:srgbClr val="FF0000"/>
                </a:solidFill>
                <a:latin typeface="Times New Roman"/>
                <a:ea typeface="Times New Roman"/>
                <a:cs typeface="Times New Roman"/>
                <a:sym typeface="Times New Roman"/>
              </a:rPr>
              <a:t>O 31 R 1 Abuja</a:t>
            </a:r>
            <a:r>
              <a:rPr b="1" lang="en" sz="3733">
                <a:latin typeface="Times New Roman"/>
                <a:ea typeface="Times New Roman"/>
                <a:cs typeface="Times New Roman"/>
                <a:sym typeface="Times New Roman"/>
              </a:rPr>
              <a:t>, O 43 R1(1</a:t>
            </a:r>
            <a:r>
              <a:rPr lang="en" sz="3733">
                <a:latin typeface="Times New Roman"/>
                <a:ea typeface="Times New Roman"/>
                <a:cs typeface="Times New Roman"/>
                <a:sym typeface="Times New Roman"/>
              </a:rPr>
              <a:t>) </a:t>
            </a:r>
            <a:r>
              <a:rPr b="1" lang="en" sz="3733">
                <a:latin typeface="Times New Roman"/>
                <a:ea typeface="Times New Roman"/>
                <a:cs typeface="Times New Roman"/>
                <a:sym typeface="Times New Roman"/>
              </a:rPr>
              <a:t>Lagos.</a:t>
            </a:r>
            <a:endParaRPr sz="3733"/>
          </a:p>
          <a:p>
            <a:pPr indent="-457189" lvl="0" marL="457189" rtl="0" algn="l">
              <a:lnSpc>
                <a:spcPct val="90000"/>
              </a:lnSpc>
              <a:spcBef>
                <a:spcPts val="827"/>
              </a:spcBef>
              <a:spcAft>
                <a:spcPts val="0"/>
              </a:spcAft>
              <a:buClr>
                <a:schemeClr val="dk1"/>
              </a:buClr>
              <a:buSzPts val="3100"/>
              <a:buChar char="•"/>
            </a:pPr>
            <a:r>
              <a:rPr lang="en" sz="3733">
                <a:latin typeface="Times New Roman"/>
                <a:ea typeface="Times New Roman"/>
                <a:cs typeface="Times New Roman"/>
                <a:sym typeface="Times New Roman"/>
              </a:rPr>
              <a:t>Where the application is one brought on point of law there  is no need for an affidavit see </a:t>
            </a:r>
            <a:r>
              <a:rPr b="1" lang="en" sz="3733">
                <a:latin typeface="Times New Roman"/>
                <a:ea typeface="Times New Roman"/>
                <a:cs typeface="Times New Roman"/>
                <a:sym typeface="Times New Roman"/>
              </a:rPr>
              <a:t>EREJUWA II V. DEDUWA (1970) MSNLR15</a:t>
            </a:r>
            <a:endParaRPr sz="3733"/>
          </a:p>
          <a:p>
            <a:pPr indent="-457189" lvl="0" marL="457189" rtl="0" algn="l">
              <a:lnSpc>
                <a:spcPct val="90000"/>
              </a:lnSpc>
              <a:spcBef>
                <a:spcPts val="827"/>
              </a:spcBef>
              <a:spcAft>
                <a:spcPts val="0"/>
              </a:spcAft>
              <a:buClr>
                <a:schemeClr val="dk1"/>
              </a:buClr>
              <a:buSzPts val="3100"/>
              <a:buChar char="•"/>
            </a:pPr>
            <a:r>
              <a:rPr lang="en" sz="3733">
                <a:latin typeface="Times New Roman"/>
                <a:ea typeface="Times New Roman"/>
                <a:cs typeface="Times New Roman"/>
                <a:sym typeface="Times New Roman"/>
              </a:rPr>
              <a:t> </a:t>
            </a:r>
            <a:endParaRPr sz="3733">
              <a:latin typeface="Times New Roman"/>
              <a:ea typeface="Times New Roman"/>
              <a:cs typeface="Times New Roman"/>
              <a:sym typeface="Times New Roman"/>
            </a:endParaRPr>
          </a:p>
          <a:p>
            <a:pPr indent="-194728" lvl="0" marL="457189" rtl="0" algn="l">
              <a:lnSpc>
                <a:spcPct val="90000"/>
              </a:lnSpc>
              <a:spcBef>
                <a:spcPts val="827"/>
              </a:spcBef>
              <a:spcAft>
                <a:spcPts val="0"/>
              </a:spcAft>
              <a:buClr>
                <a:schemeClr val="dk1"/>
              </a:buClr>
              <a:buSzPts val="3100"/>
              <a:buNone/>
            </a:pPr>
            <a:r>
              <a:t/>
            </a:r>
            <a:endParaRPr b="1" sz="3733">
              <a:latin typeface="Times New Roman"/>
              <a:ea typeface="Times New Roman"/>
              <a:cs typeface="Times New Roman"/>
              <a:sym typeface="Times New Roman"/>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39"/>
          <p:cNvSpPr txBox="1"/>
          <p:nvPr>
            <p:ph type="title"/>
          </p:nvPr>
        </p:nvSpPr>
        <p:spPr>
          <a:xfrm>
            <a:off x="838200" y="365125"/>
            <a:ext cx="10515600" cy="1325563"/>
          </a:xfrm>
          <a:prstGeom prst="rect">
            <a:avLst/>
          </a:prstGeom>
          <a:noFill/>
          <a:ln>
            <a:noFill/>
          </a:ln>
        </p:spPr>
        <p:txBody>
          <a:bodyPr anchorCtr="0" anchor="ctr" bIns="60925" lIns="121900" spcFirstLastPara="1" rIns="121900" wrap="square" tIns="60925">
            <a:noAutofit/>
          </a:bodyPr>
          <a:lstStyle/>
          <a:p>
            <a:pPr indent="0" lvl="0" marL="0" rtl="0" algn="ctr">
              <a:lnSpc>
                <a:spcPct val="90000"/>
              </a:lnSpc>
              <a:spcBef>
                <a:spcPts val="0"/>
              </a:spcBef>
              <a:spcAft>
                <a:spcPts val="0"/>
              </a:spcAft>
              <a:buClr>
                <a:schemeClr val="dk1"/>
              </a:buClr>
              <a:buSzPts val="4400"/>
              <a:buFont typeface="Times New Roman"/>
              <a:buNone/>
            </a:pPr>
            <a:r>
              <a:rPr b="1" lang="en">
                <a:latin typeface="Times New Roman"/>
                <a:ea typeface="Times New Roman"/>
                <a:cs typeface="Times New Roman"/>
                <a:sym typeface="Times New Roman"/>
              </a:rPr>
              <a:t>Form, contents, and drafting  of Affidavit</a:t>
            </a:r>
            <a:endParaRPr b="1">
              <a:latin typeface="Times New Roman"/>
              <a:ea typeface="Times New Roman"/>
              <a:cs typeface="Times New Roman"/>
              <a:sym typeface="Times New Roman"/>
            </a:endParaRPr>
          </a:p>
        </p:txBody>
      </p:sp>
      <p:sp>
        <p:nvSpPr>
          <p:cNvPr id="314" name="Google Shape;314;p39"/>
          <p:cNvSpPr txBox="1"/>
          <p:nvPr>
            <p:ph idx="1" type="body"/>
          </p:nvPr>
        </p:nvSpPr>
        <p:spPr>
          <a:xfrm>
            <a:off x="838200" y="1825625"/>
            <a:ext cx="10515600" cy="4351338"/>
          </a:xfrm>
          <a:prstGeom prst="rect">
            <a:avLst/>
          </a:prstGeom>
          <a:noFill/>
          <a:ln>
            <a:noFill/>
          </a:ln>
        </p:spPr>
        <p:txBody>
          <a:bodyPr anchorCtr="0" anchor="t" bIns="60925" lIns="121900" spcFirstLastPara="1" rIns="121900" wrap="square" tIns="60925">
            <a:noAutofit/>
          </a:bodyPr>
          <a:lstStyle/>
          <a:p>
            <a:pPr indent="-457189" lvl="0" marL="457189" rtl="0" algn="l">
              <a:lnSpc>
                <a:spcPct val="90000"/>
              </a:lnSpc>
              <a:spcBef>
                <a:spcPts val="0"/>
              </a:spcBef>
              <a:spcAft>
                <a:spcPts val="0"/>
              </a:spcAft>
              <a:buClr>
                <a:schemeClr val="dk1"/>
              </a:buClr>
              <a:buSzPts val="3200"/>
              <a:buChar char="•"/>
            </a:pPr>
            <a:r>
              <a:rPr lang="en" sz="3200">
                <a:latin typeface="Times New Roman"/>
                <a:ea typeface="Times New Roman"/>
                <a:cs typeface="Times New Roman"/>
                <a:sym typeface="Times New Roman"/>
              </a:rPr>
              <a:t>Every affidavit must comply with the provisions of section </a:t>
            </a:r>
            <a:r>
              <a:rPr b="1" lang="en" sz="3200">
                <a:latin typeface="Times New Roman"/>
                <a:ea typeface="Times New Roman"/>
                <a:cs typeface="Times New Roman"/>
                <a:sym typeface="Times New Roman"/>
              </a:rPr>
              <a:t>115</a:t>
            </a:r>
            <a:r>
              <a:rPr lang="en" sz="3200">
                <a:latin typeface="Times New Roman"/>
                <a:ea typeface="Times New Roman"/>
                <a:cs typeface="Times New Roman"/>
                <a:sym typeface="Times New Roman"/>
              </a:rPr>
              <a:t> of the </a:t>
            </a:r>
            <a:r>
              <a:rPr b="1" lang="en" sz="3200">
                <a:latin typeface="Times New Roman"/>
                <a:ea typeface="Times New Roman"/>
                <a:cs typeface="Times New Roman"/>
                <a:sym typeface="Times New Roman"/>
              </a:rPr>
              <a:t>Evidence Act.</a:t>
            </a:r>
            <a:endParaRPr sz="3200"/>
          </a:p>
          <a:p>
            <a:pPr indent="-457189" lvl="0" marL="457189" rtl="0" algn="l">
              <a:lnSpc>
                <a:spcPct val="90000"/>
              </a:lnSpc>
              <a:spcBef>
                <a:spcPts val="853"/>
              </a:spcBef>
              <a:spcAft>
                <a:spcPts val="0"/>
              </a:spcAft>
              <a:buClr>
                <a:schemeClr val="dk1"/>
              </a:buClr>
              <a:buSzPts val="3200"/>
              <a:buChar char="•"/>
            </a:pPr>
            <a:r>
              <a:rPr lang="en" sz="3200">
                <a:latin typeface="Times New Roman"/>
                <a:ea typeface="Times New Roman"/>
                <a:cs typeface="Times New Roman"/>
                <a:sym typeface="Times New Roman"/>
              </a:rPr>
              <a:t>If the deponent deposed to the affidavit in a language other than the language of the court, ( English language) the affidavit must be translated to the language of the court and both the English version and the other language must be presented to court. It must also have a jurat See </a:t>
            </a:r>
            <a:r>
              <a:rPr b="1" lang="en" sz="3200">
                <a:latin typeface="Times New Roman"/>
                <a:ea typeface="Times New Roman"/>
                <a:cs typeface="Times New Roman"/>
                <a:sym typeface="Times New Roman"/>
              </a:rPr>
              <a:t>GUNDIRI V NYAKO (2014)2 NWLR (PT 1391)211</a:t>
            </a:r>
            <a:endParaRPr sz="3200"/>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40"/>
          <p:cNvSpPr txBox="1"/>
          <p:nvPr>
            <p:ph type="title"/>
          </p:nvPr>
        </p:nvSpPr>
        <p:spPr>
          <a:xfrm>
            <a:off x="838200" y="365125"/>
            <a:ext cx="10515600" cy="1325563"/>
          </a:xfrm>
          <a:prstGeom prst="rect">
            <a:avLst/>
          </a:prstGeom>
          <a:noFill/>
          <a:ln>
            <a:noFill/>
          </a:ln>
        </p:spPr>
        <p:txBody>
          <a:bodyPr anchorCtr="0" anchor="ctr" bIns="60925" lIns="121900" spcFirstLastPara="1" rIns="121900" wrap="square" tIns="60925">
            <a:noAutofit/>
          </a:bodyPr>
          <a:lstStyle/>
          <a:p>
            <a:pPr indent="0" lvl="0" marL="0" rtl="0" algn="ctr">
              <a:lnSpc>
                <a:spcPct val="90000"/>
              </a:lnSpc>
              <a:spcBef>
                <a:spcPts val="0"/>
              </a:spcBef>
              <a:spcAft>
                <a:spcPts val="0"/>
              </a:spcAft>
              <a:buClr>
                <a:schemeClr val="dk1"/>
              </a:buClr>
              <a:buSzPts val="4400"/>
              <a:buFont typeface="Times New Roman"/>
              <a:buNone/>
            </a:pPr>
            <a:r>
              <a:rPr b="1" lang="en">
                <a:latin typeface="Times New Roman"/>
                <a:ea typeface="Times New Roman"/>
                <a:cs typeface="Times New Roman"/>
                <a:sym typeface="Times New Roman"/>
              </a:rPr>
              <a:t>Contents of Affidavit</a:t>
            </a:r>
            <a:endParaRPr b="1">
              <a:latin typeface="Times New Roman"/>
              <a:ea typeface="Times New Roman"/>
              <a:cs typeface="Times New Roman"/>
              <a:sym typeface="Times New Roman"/>
            </a:endParaRPr>
          </a:p>
        </p:txBody>
      </p:sp>
      <p:sp>
        <p:nvSpPr>
          <p:cNvPr id="320" name="Google Shape;320;p40"/>
          <p:cNvSpPr txBox="1"/>
          <p:nvPr>
            <p:ph idx="1" type="body"/>
          </p:nvPr>
        </p:nvSpPr>
        <p:spPr>
          <a:xfrm>
            <a:off x="838200" y="1825625"/>
            <a:ext cx="10515600" cy="4351338"/>
          </a:xfrm>
          <a:prstGeom prst="rect">
            <a:avLst/>
          </a:prstGeom>
          <a:noFill/>
          <a:ln>
            <a:noFill/>
          </a:ln>
        </p:spPr>
        <p:txBody>
          <a:bodyPr anchorCtr="0" anchor="t" bIns="60925" lIns="121900" spcFirstLastPara="1" rIns="121900" wrap="square" tIns="60925">
            <a:noAutofit/>
          </a:bodyPr>
          <a:lstStyle/>
          <a:p>
            <a:pPr indent="-457189" lvl="0" marL="457189" rtl="0" algn="l">
              <a:lnSpc>
                <a:spcPct val="90000"/>
              </a:lnSpc>
              <a:spcBef>
                <a:spcPts val="0"/>
              </a:spcBef>
              <a:spcAft>
                <a:spcPts val="0"/>
              </a:spcAft>
              <a:buClr>
                <a:schemeClr val="dk1"/>
              </a:buClr>
              <a:buSzPts val="4000"/>
              <a:buChar char="•"/>
            </a:pPr>
            <a:r>
              <a:rPr lang="en" sz="3200">
                <a:latin typeface="Times New Roman"/>
                <a:ea typeface="Times New Roman"/>
                <a:cs typeface="Times New Roman"/>
                <a:sym typeface="Times New Roman"/>
              </a:rPr>
              <a:t>Heading of court before which the oath is sworn</a:t>
            </a:r>
            <a:endParaRPr sz="3200"/>
          </a:p>
          <a:p>
            <a:pPr indent="-457189" lvl="0" marL="457189" rtl="0" algn="l">
              <a:lnSpc>
                <a:spcPct val="90000"/>
              </a:lnSpc>
              <a:spcBef>
                <a:spcPts val="1067"/>
              </a:spcBef>
              <a:spcAft>
                <a:spcPts val="0"/>
              </a:spcAft>
              <a:buClr>
                <a:schemeClr val="dk1"/>
              </a:buClr>
              <a:buSzPts val="4000"/>
              <a:buChar char="•"/>
            </a:pPr>
            <a:r>
              <a:rPr lang="en" sz="3200">
                <a:latin typeface="Times New Roman"/>
                <a:ea typeface="Times New Roman"/>
                <a:cs typeface="Times New Roman"/>
                <a:sym typeface="Times New Roman"/>
              </a:rPr>
              <a:t>The suit number where it has been given</a:t>
            </a:r>
            <a:endParaRPr sz="3200"/>
          </a:p>
          <a:p>
            <a:pPr indent="-457189" lvl="0" marL="457189" rtl="0" algn="l">
              <a:lnSpc>
                <a:spcPct val="90000"/>
              </a:lnSpc>
              <a:spcBef>
                <a:spcPts val="1067"/>
              </a:spcBef>
              <a:spcAft>
                <a:spcPts val="0"/>
              </a:spcAft>
              <a:buClr>
                <a:schemeClr val="dk1"/>
              </a:buClr>
              <a:buSzPts val="4000"/>
              <a:buChar char="•"/>
            </a:pPr>
            <a:r>
              <a:rPr lang="en" sz="3200">
                <a:latin typeface="Times New Roman"/>
                <a:ea typeface="Times New Roman"/>
                <a:cs typeface="Times New Roman"/>
                <a:sym typeface="Times New Roman"/>
              </a:rPr>
              <a:t>The names of parties</a:t>
            </a:r>
            <a:endParaRPr sz="3200"/>
          </a:p>
          <a:p>
            <a:pPr indent="-457189" lvl="0" marL="457189" rtl="0" algn="l">
              <a:lnSpc>
                <a:spcPct val="90000"/>
              </a:lnSpc>
              <a:spcBef>
                <a:spcPts val="1067"/>
              </a:spcBef>
              <a:spcAft>
                <a:spcPts val="0"/>
              </a:spcAft>
              <a:buClr>
                <a:schemeClr val="dk1"/>
              </a:buClr>
              <a:buSzPts val="4000"/>
              <a:buChar char="•"/>
            </a:pPr>
            <a:r>
              <a:rPr lang="en" sz="3200">
                <a:latin typeface="Times New Roman"/>
                <a:ea typeface="Times New Roman"/>
                <a:cs typeface="Times New Roman"/>
                <a:sym typeface="Times New Roman"/>
              </a:rPr>
              <a:t>The application which the affidavit supports. E.g. affidavit in support of motion on notice</a:t>
            </a:r>
            <a:endParaRPr sz="3200"/>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41"/>
          <p:cNvSpPr txBox="1"/>
          <p:nvPr>
            <p:ph type="title"/>
          </p:nvPr>
        </p:nvSpPr>
        <p:spPr>
          <a:xfrm>
            <a:off x="838200" y="365125"/>
            <a:ext cx="10515600" cy="1325563"/>
          </a:xfrm>
          <a:prstGeom prst="rect">
            <a:avLst/>
          </a:prstGeom>
          <a:noFill/>
          <a:ln>
            <a:noFill/>
          </a:ln>
        </p:spPr>
        <p:txBody>
          <a:bodyPr anchorCtr="0" anchor="ctr" bIns="60925" lIns="121900" spcFirstLastPara="1" rIns="121900" wrap="square" tIns="60925">
            <a:noAutofit/>
          </a:bodyPr>
          <a:lstStyle/>
          <a:p>
            <a:pPr indent="0" lvl="0" marL="0" rtl="0" algn="ctr">
              <a:lnSpc>
                <a:spcPct val="90000"/>
              </a:lnSpc>
              <a:spcBef>
                <a:spcPts val="0"/>
              </a:spcBef>
              <a:spcAft>
                <a:spcPts val="0"/>
              </a:spcAft>
              <a:buClr>
                <a:schemeClr val="dk1"/>
              </a:buClr>
              <a:buSzPts val="4400"/>
              <a:buFont typeface="Calibri"/>
              <a:buNone/>
            </a:pPr>
            <a:r>
              <a:t/>
            </a:r>
            <a:endParaRPr/>
          </a:p>
        </p:txBody>
      </p:sp>
      <p:sp>
        <p:nvSpPr>
          <p:cNvPr id="326" name="Google Shape;326;p41"/>
          <p:cNvSpPr txBox="1"/>
          <p:nvPr>
            <p:ph idx="1" type="body"/>
          </p:nvPr>
        </p:nvSpPr>
        <p:spPr>
          <a:xfrm>
            <a:off x="609600" y="1417637"/>
            <a:ext cx="10972800" cy="4708400"/>
          </a:xfrm>
          <a:prstGeom prst="rect">
            <a:avLst/>
          </a:prstGeom>
          <a:noFill/>
          <a:ln>
            <a:noFill/>
          </a:ln>
        </p:spPr>
        <p:txBody>
          <a:bodyPr anchorCtr="0" anchor="t" bIns="60925" lIns="121900" spcFirstLastPara="1" rIns="121900" wrap="square" tIns="60925">
            <a:noAutofit/>
          </a:bodyPr>
          <a:lstStyle/>
          <a:p>
            <a:pPr indent="-457189" lvl="0" marL="457189" rtl="0" algn="l">
              <a:lnSpc>
                <a:spcPct val="90000"/>
              </a:lnSpc>
              <a:spcBef>
                <a:spcPts val="0"/>
              </a:spcBef>
              <a:spcAft>
                <a:spcPts val="0"/>
              </a:spcAft>
              <a:buClr>
                <a:schemeClr val="dk1"/>
              </a:buClr>
              <a:buSzPts val="3300"/>
              <a:buChar char="•"/>
            </a:pPr>
            <a:r>
              <a:rPr lang="en" sz="3200">
                <a:latin typeface="Times New Roman"/>
                <a:ea typeface="Times New Roman"/>
                <a:cs typeface="Times New Roman"/>
                <a:sym typeface="Times New Roman"/>
              </a:rPr>
              <a:t>Name, nationality, religion profession and address of deponent</a:t>
            </a:r>
            <a:endParaRPr sz="3200"/>
          </a:p>
          <a:p>
            <a:pPr indent="-457189" lvl="0" marL="457189" rtl="0" algn="l">
              <a:lnSpc>
                <a:spcPct val="90000"/>
              </a:lnSpc>
              <a:spcBef>
                <a:spcPts val="880"/>
              </a:spcBef>
              <a:spcAft>
                <a:spcPts val="0"/>
              </a:spcAft>
              <a:buClr>
                <a:schemeClr val="dk1"/>
              </a:buClr>
              <a:buSzPts val="3300"/>
              <a:buChar char="•"/>
            </a:pPr>
            <a:r>
              <a:rPr lang="en" sz="3200">
                <a:latin typeface="Times New Roman"/>
                <a:ea typeface="Times New Roman"/>
                <a:cs typeface="Times New Roman"/>
                <a:sym typeface="Times New Roman"/>
              </a:rPr>
              <a:t>Where deponent is not a party, the person by whose authority he deposes</a:t>
            </a:r>
            <a:endParaRPr sz="3200"/>
          </a:p>
          <a:p>
            <a:pPr indent="-457189" lvl="0" marL="457189" rtl="0" algn="l">
              <a:lnSpc>
                <a:spcPct val="90000"/>
              </a:lnSpc>
              <a:spcBef>
                <a:spcPts val="880"/>
              </a:spcBef>
              <a:spcAft>
                <a:spcPts val="0"/>
              </a:spcAft>
              <a:buClr>
                <a:schemeClr val="dk1"/>
              </a:buClr>
              <a:buSzPts val="3300"/>
              <a:buChar char="•"/>
            </a:pPr>
            <a:r>
              <a:rPr lang="en" sz="3200">
                <a:latin typeface="Times New Roman"/>
                <a:ea typeface="Times New Roman"/>
                <a:cs typeface="Times New Roman"/>
                <a:sym typeface="Times New Roman"/>
              </a:rPr>
              <a:t>Where the facts are not within his knowledge, the source of his knowledge or information must be stated</a:t>
            </a:r>
            <a:endParaRPr sz="3200">
              <a:latin typeface="Times New Roman"/>
              <a:ea typeface="Times New Roman"/>
              <a:cs typeface="Times New Roman"/>
              <a:sym typeface="Times New Roman"/>
            </a:endParaRPr>
          </a:p>
          <a:p>
            <a:pPr indent="-457189" lvl="0" marL="457189" rtl="0" algn="l">
              <a:lnSpc>
                <a:spcPct val="90000"/>
              </a:lnSpc>
              <a:spcBef>
                <a:spcPts val="880"/>
              </a:spcBef>
              <a:spcAft>
                <a:spcPts val="0"/>
              </a:spcAft>
              <a:buClr>
                <a:schemeClr val="dk1"/>
              </a:buClr>
              <a:buSzPts val="3300"/>
              <a:buChar char="•"/>
            </a:pPr>
            <a:r>
              <a:rPr lang="en" sz="3200">
                <a:latin typeface="Times New Roman"/>
                <a:ea typeface="Times New Roman"/>
                <a:cs typeface="Times New Roman"/>
                <a:sym typeface="Times New Roman"/>
              </a:rPr>
              <a:t>The oath’s clause.</a:t>
            </a:r>
            <a:endParaRPr sz="3200">
              <a:latin typeface="Times New Roman"/>
              <a:ea typeface="Times New Roman"/>
              <a:cs typeface="Times New Roman"/>
              <a:sym typeface="Times New Roman"/>
            </a:endParaRPr>
          </a:p>
          <a:p>
            <a:pPr indent="-457189" lvl="0" marL="457189" rtl="0" algn="l">
              <a:lnSpc>
                <a:spcPct val="90000"/>
              </a:lnSpc>
              <a:spcBef>
                <a:spcPts val="880"/>
              </a:spcBef>
              <a:spcAft>
                <a:spcPts val="0"/>
              </a:spcAft>
              <a:buClr>
                <a:schemeClr val="dk1"/>
              </a:buClr>
              <a:buSzPts val="3300"/>
              <a:buChar char="•"/>
            </a:pPr>
            <a:r>
              <a:rPr lang="en" sz="3200">
                <a:latin typeface="Times New Roman"/>
                <a:ea typeface="Times New Roman"/>
                <a:cs typeface="Times New Roman"/>
                <a:sym typeface="Times New Roman"/>
              </a:rPr>
              <a:t>Signature and official stamp of commissioner for oaths</a:t>
            </a:r>
            <a:endParaRPr sz="3200">
              <a:latin typeface="Times New Roman"/>
              <a:ea typeface="Times New Roman"/>
              <a:cs typeface="Times New Roman"/>
              <a:sym typeface="Times New Roman"/>
            </a:endParaRPr>
          </a:p>
          <a:p>
            <a:pPr indent="-177796" lvl="0" marL="457189" rtl="0" algn="l">
              <a:lnSpc>
                <a:spcPct val="90000"/>
              </a:lnSpc>
              <a:spcBef>
                <a:spcPts val="880"/>
              </a:spcBef>
              <a:spcAft>
                <a:spcPts val="0"/>
              </a:spcAft>
              <a:buClr>
                <a:schemeClr val="dk1"/>
              </a:buClr>
              <a:buSzPts val="3300"/>
              <a:buNone/>
            </a:pPr>
            <a:r>
              <a:t/>
            </a:r>
            <a:endParaRPr sz="3200">
              <a:latin typeface="Times New Roman"/>
              <a:ea typeface="Times New Roman"/>
              <a:cs typeface="Times New Roman"/>
              <a:sym typeface="Times New Roman"/>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42"/>
          <p:cNvSpPr txBox="1"/>
          <p:nvPr>
            <p:ph type="title"/>
          </p:nvPr>
        </p:nvSpPr>
        <p:spPr>
          <a:xfrm>
            <a:off x="838200" y="365125"/>
            <a:ext cx="10515600" cy="1325563"/>
          </a:xfrm>
          <a:prstGeom prst="rect">
            <a:avLst/>
          </a:prstGeom>
          <a:noFill/>
          <a:ln>
            <a:noFill/>
          </a:ln>
        </p:spPr>
        <p:txBody>
          <a:bodyPr anchorCtr="0" anchor="ctr" bIns="60925" lIns="121900" spcFirstLastPara="1" rIns="121900" wrap="square" tIns="60925">
            <a:noAutofit/>
          </a:bodyPr>
          <a:lstStyle/>
          <a:p>
            <a:pPr indent="0" lvl="0" marL="0" rtl="0" algn="ctr">
              <a:lnSpc>
                <a:spcPct val="90000"/>
              </a:lnSpc>
              <a:spcBef>
                <a:spcPts val="0"/>
              </a:spcBef>
              <a:spcAft>
                <a:spcPts val="0"/>
              </a:spcAft>
              <a:buClr>
                <a:schemeClr val="dk1"/>
              </a:buClr>
              <a:buSzPts val="3200"/>
              <a:buFont typeface="Times New Roman"/>
              <a:buNone/>
            </a:pPr>
            <a:r>
              <a:rPr b="1" lang="en" sz="4267">
                <a:latin typeface="Times New Roman"/>
                <a:ea typeface="Times New Roman"/>
                <a:cs typeface="Times New Roman"/>
                <a:sym typeface="Times New Roman"/>
              </a:rPr>
              <a:t>Principles relating to Affidavit</a:t>
            </a:r>
            <a:endParaRPr b="1" sz="4267">
              <a:latin typeface="Times New Roman"/>
              <a:ea typeface="Times New Roman"/>
              <a:cs typeface="Times New Roman"/>
              <a:sym typeface="Times New Roman"/>
            </a:endParaRPr>
          </a:p>
        </p:txBody>
      </p:sp>
      <p:sp>
        <p:nvSpPr>
          <p:cNvPr id="332" name="Google Shape;332;p42"/>
          <p:cNvSpPr txBox="1"/>
          <p:nvPr>
            <p:ph idx="1" type="body"/>
          </p:nvPr>
        </p:nvSpPr>
        <p:spPr>
          <a:xfrm>
            <a:off x="609600" y="1600200"/>
            <a:ext cx="10972800" cy="4648400"/>
          </a:xfrm>
          <a:prstGeom prst="rect">
            <a:avLst/>
          </a:prstGeom>
          <a:noFill/>
          <a:ln>
            <a:noFill/>
          </a:ln>
        </p:spPr>
        <p:txBody>
          <a:bodyPr anchorCtr="0" anchor="t" bIns="60925" lIns="121900" spcFirstLastPara="1" rIns="121900" wrap="square" tIns="60925">
            <a:noAutofit/>
          </a:bodyPr>
          <a:lstStyle/>
          <a:p>
            <a:pPr indent="-457189" lvl="0" marL="457189" rtl="0" algn="l">
              <a:lnSpc>
                <a:spcPct val="90000"/>
              </a:lnSpc>
              <a:spcBef>
                <a:spcPts val="0"/>
              </a:spcBef>
              <a:spcAft>
                <a:spcPts val="0"/>
              </a:spcAft>
              <a:buClr>
                <a:schemeClr val="dk1"/>
              </a:buClr>
              <a:buSzPts val="3000"/>
              <a:buChar char="•"/>
            </a:pPr>
            <a:r>
              <a:rPr lang="en" sz="3200">
                <a:latin typeface="Times New Roman"/>
                <a:ea typeface="Times New Roman"/>
                <a:cs typeface="Times New Roman"/>
                <a:sym typeface="Times New Roman"/>
              </a:rPr>
              <a:t>A court may in civil proceedings order proof of facts by affidavit evidence. See section 107  of EA</a:t>
            </a:r>
            <a:endParaRPr sz="3200"/>
          </a:p>
          <a:p>
            <a:pPr indent="-457189" lvl="0" marL="457189" rtl="0" algn="l">
              <a:lnSpc>
                <a:spcPct val="90000"/>
              </a:lnSpc>
              <a:spcBef>
                <a:spcPts val="800"/>
              </a:spcBef>
              <a:spcAft>
                <a:spcPts val="0"/>
              </a:spcAft>
              <a:buClr>
                <a:schemeClr val="dk1"/>
              </a:buClr>
              <a:buSzPts val="3000"/>
              <a:buChar char="•"/>
            </a:pPr>
            <a:r>
              <a:rPr lang="en" sz="3200">
                <a:latin typeface="Times New Roman"/>
                <a:ea typeface="Times New Roman"/>
                <a:cs typeface="Times New Roman"/>
                <a:sym typeface="Times New Roman"/>
              </a:rPr>
              <a:t>An affidavit must not contain any extraneous matter.</a:t>
            </a:r>
            <a:endParaRPr sz="3200"/>
          </a:p>
          <a:p>
            <a:pPr indent="-457189" lvl="0" marL="457189" rtl="0" algn="l">
              <a:lnSpc>
                <a:spcPct val="90000"/>
              </a:lnSpc>
              <a:spcBef>
                <a:spcPts val="800"/>
              </a:spcBef>
              <a:spcAft>
                <a:spcPts val="0"/>
              </a:spcAft>
              <a:buClr>
                <a:schemeClr val="dk1"/>
              </a:buClr>
              <a:buSzPts val="3000"/>
              <a:buChar char="•"/>
            </a:pPr>
            <a:r>
              <a:rPr lang="en" sz="3200">
                <a:latin typeface="Times New Roman"/>
                <a:ea typeface="Times New Roman"/>
                <a:cs typeface="Times New Roman"/>
                <a:sym typeface="Times New Roman"/>
              </a:rPr>
              <a:t>An affidavit shall not contain objection.</a:t>
            </a:r>
            <a:endParaRPr sz="3200"/>
          </a:p>
          <a:p>
            <a:pPr indent="-457189" lvl="0" marL="457189" rtl="0" algn="l">
              <a:lnSpc>
                <a:spcPct val="90000"/>
              </a:lnSpc>
              <a:spcBef>
                <a:spcPts val="800"/>
              </a:spcBef>
              <a:spcAft>
                <a:spcPts val="0"/>
              </a:spcAft>
              <a:buClr>
                <a:schemeClr val="dk1"/>
              </a:buClr>
              <a:buSzPts val="3000"/>
              <a:buChar char="•"/>
            </a:pPr>
            <a:r>
              <a:rPr lang="en" sz="3200">
                <a:latin typeface="Times New Roman"/>
                <a:ea typeface="Times New Roman"/>
                <a:cs typeface="Times New Roman"/>
                <a:sym typeface="Times New Roman"/>
              </a:rPr>
              <a:t>An affidavit shall not contain prayers (reliefs). </a:t>
            </a:r>
            <a:endParaRPr sz="3200">
              <a:latin typeface="Times New Roman"/>
              <a:ea typeface="Times New Roman"/>
              <a:cs typeface="Times New Roman"/>
              <a:sym typeface="Times New Roman"/>
            </a:endParaRPr>
          </a:p>
          <a:p>
            <a:pPr indent="-457189" lvl="0" marL="457189" rtl="0" algn="l">
              <a:lnSpc>
                <a:spcPct val="90000"/>
              </a:lnSpc>
              <a:spcBef>
                <a:spcPts val="800"/>
              </a:spcBef>
              <a:spcAft>
                <a:spcPts val="0"/>
              </a:spcAft>
              <a:buClr>
                <a:schemeClr val="dk1"/>
              </a:buClr>
              <a:buSzPts val="3000"/>
              <a:buChar char="•"/>
            </a:pPr>
            <a:r>
              <a:rPr lang="en" sz="3200">
                <a:latin typeface="Times New Roman"/>
                <a:ea typeface="Times New Roman"/>
                <a:cs typeface="Times New Roman"/>
                <a:sym typeface="Times New Roman"/>
              </a:rPr>
              <a:t>An affidavit shall not contain legal arguments. See Section 115(2) Evidence Act.</a:t>
            </a:r>
            <a:endParaRPr sz="3200"/>
          </a:p>
          <a:p>
            <a:pPr indent="-203195" lvl="0" marL="457189" rtl="0" algn="l">
              <a:lnSpc>
                <a:spcPct val="90000"/>
              </a:lnSpc>
              <a:spcBef>
                <a:spcPts val="800"/>
              </a:spcBef>
              <a:spcAft>
                <a:spcPts val="0"/>
              </a:spcAft>
              <a:buClr>
                <a:schemeClr val="dk1"/>
              </a:buClr>
              <a:buSzPts val="3000"/>
              <a:buNone/>
            </a:pPr>
            <a:r>
              <a:t/>
            </a:r>
            <a:endParaRPr sz="3200">
              <a:latin typeface="Times New Roman"/>
              <a:ea typeface="Times New Roman"/>
              <a:cs typeface="Times New Roman"/>
              <a:sym typeface="Times New Roman"/>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43"/>
          <p:cNvSpPr txBox="1"/>
          <p:nvPr>
            <p:ph type="title"/>
          </p:nvPr>
        </p:nvSpPr>
        <p:spPr>
          <a:xfrm>
            <a:off x="838200" y="365125"/>
            <a:ext cx="10515600" cy="1325563"/>
          </a:xfrm>
          <a:prstGeom prst="rect">
            <a:avLst/>
          </a:prstGeom>
          <a:noFill/>
          <a:ln>
            <a:noFill/>
          </a:ln>
        </p:spPr>
        <p:txBody>
          <a:bodyPr anchorCtr="0" anchor="ctr" bIns="60925" lIns="121900" spcFirstLastPara="1" rIns="121900" wrap="square" tIns="60925">
            <a:noAutofit/>
          </a:bodyPr>
          <a:lstStyle/>
          <a:p>
            <a:pPr indent="0" lvl="0" marL="0" rtl="0" algn="ctr">
              <a:lnSpc>
                <a:spcPct val="90000"/>
              </a:lnSpc>
              <a:spcBef>
                <a:spcPts val="0"/>
              </a:spcBef>
              <a:spcAft>
                <a:spcPts val="0"/>
              </a:spcAft>
              <a:buClr>
                <a:schemeClr val="dk1"/>
              </a:buClr>
              <a:buSzPts val="4400"/>
              <a:buFont typeface="Calibri"/>
              <a:buNone/>
            </a:pPr>
            <a:r>
              <a:t/>
            </a:r>
            <a:endParaRPr/>
          </a:p>
        </p:txBody>
      </p:sp>
      <p:sp>
        <p:nvSpPr>
          <p:cNvPr id="338" name="Google Shape;338;p43"/>
          <p:cNvSpPr txBox="1"/>
          <p:nvPr>
            <p:ph idx="1" type="body"/>
          </p:nvPr>
        </p:nvSpPr>
        <p:spPr>
          <a:xfrm>
            <a:off x="838200" y="1825625"/>
            <a:ext cx="10515600" cy="4351338"/>
          </a:xfrm>
          <a:prstGeom prst="rect">
            <a:avLst/>
          </a:prstGeom>
          <a:noFill/>
          <a:ln>
            <a:noFill/>
          </a:ln>
        </p:spPr>
        <p:txBody>
          <a:bodyPr anchorCtr="0" anchor="t" bIns="60925" lIns="121900" spcFirstLastPara="1" rIns="121900" wrap="square" tIns="60925">
            <a:noAutofit/>
          </a:bodyPr>
          <a:lstStyle/>
          <a:p>
            <a:pPr indent="-457189" lvl="0" marL="457189" rtl="0" algn="l">
              <a:lnSpc>
                <a:spcPct val="90000"/>
              </a:lnSpc>
              <a:spcBef>
                <a:spcPts val="0"/>
              </a:spcBef>
              <a:spcAft>
                <a:spcPts val="0"/>
              </a:spcAft>
              <a:buClr>
                <a:schemeClr val="dk1"/>
              </a:buClr>
              <a:buSzPts val="3200"/>
              <a:buChar char="•"/>
            </a:pPr>
            <a:r>
              <a:rPr lang="en">
                <a:latin typeface="Times New Roman"/>
                <a:ea typeface="Times New Roman"/>
                <a:cs typeface="Times New Roman"/>
                <a:sym typeface="Times New Roman"/>
              </a:rPr>
              <a:t>An affidavit shall not draw conclusions whether of facts or law. Section 115(2) Evidence Act.</a:t>
            </a:r>
            <a:endParaRPr/>
          </a:p>
          <a:p>
            <a:pPr indent="-457189" lvl="0" marL="457189" rtl="0" algn="l">
              <a:lnSpc>
                <a:spcPct val="90000"/>
              </a:lnSpc>
              <a:spcBef>
                <a:spcPts val="853"/>
              </a:spcBef>
              <a:spcAft>
                <a:spcPts val="0"/>
              </a:spcAft>
              <a:buClr>
                <a:schemeClr val="dk1"/>
              </a:buClr>
              <a:buSzPts val="3200"/>
              <a:buChar char="•"/>
            </a:pPr>
            <a:r>
              <a:rPr lang="en">
                <a:latin typeface="Times New Roman"/>
                <a:ea typeface="Times New Roman"/>
                <a:cs typeface="Times New Roman"/>
                <a:sym typeface="Times New Roman"/>
              </a:rPr>
              <a:t>An affidavit shall contain statement of facts only. Section 115(1) Evidence Act</a:t>
            </a:r>
            <a:endParaRPr/>
          </a:p>
          <a:p>
            <a:pPr indent="-186262" lvl="0" marL="457189" rtl="0" algn="l">
              <a:lnSpc>
                <a:spcPct val="90000"/>
              </a:lnSpc>
              <a:spcBef>
                <a:spcPts val="853"/>
              </a:spcBef>
              <a:spcAft>
                <a:spcPts val="0"/>
              </a:spcAft>
              <a:buClr>
                <a:schemeClr val="dk1"/>
              </a:buClr>
              <a:buSzPts val="3200"/>
              <a:buNone/>
            </a:pPr>
            <a:r>
              <a:t/>
            </a:r>
            <a:endParaRPr>
              <a:latin typeface="Times New Roman"/>
              <a:ea typeface="Times New Roman"/>
              <a:cs typeface="Times New Roman"/>
              <a:sym typeface="Times New Roman"/>
            </a:endParaRPr>
          </a:p>
          <a:p>
            <a:pPr indent="-186262" lvl="0" marL="457189" rtl="0" algn="l">
              <a:lnSpc>
                <a:spcPct val="90000"/>
              </a:lnSpc>
              <a:spcBef>
                <a:spcPts val="853"/>
              </a:spcBef>
              <a:spcAft>
                <a:spcPts val="0"/>
              </a:spcAft>
              <a:buClr>
                <a:schemeClr val="dk1"/>
              </a:buClr>
              <a:buSzPts val="3200"/>
              <a:buNone/>
            </a:pPr>
            <a:r>
              <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44"/>
          <p:cNvSpPr txBox="1"/>
          <p:nvPr>
            <p:ph type="title"/>
          </p:nvPr>
        </p:nvSpPr>
        <p:spPr>
          <a:xfrm>
            <a:off x="609600" y="0"/>
            <a:ext cx="10972800" cy="1143200"/>
          </a:xfrm>
          <a:prstGeom prst="rect">
            <a:avLst/>
          </a:prstGeom>
          <a:noFill/>
          <a:ln>
            <a:noFill/>
          </a:ln>
        </p:spPr>
        <p:txBody>
          <a:bodyPr anchorCtr="0" anchor="ctr" bIns="60925" lIns="121900" spcFirstLastPara="1" rIns="121900" wrap="square" tIns="60925">
            <a:noAutofit/>
          </a:bodyPr>
          <a:lstStyle/>
          <a:p>
            <a:pPr indent="0" lvl="0" marL="0" rtl="0" algn="ctr">
              <a:lnSpc>
                <a:spcPct val="90000"/>
              </a:lnSpc>
              <a:spcBef>
                <a:spcPts val="0"/>
              </a:spcBef>
              <a:spcAft>
                <a:spcPts val="0"/>
              </a:spcAft>
              <a:buClr>
                <a:schemeClr val="dk1"/>
              </a:buClr>
              <a:buSzPts val="4400"/>
              <a:buFont typeface="Calibri"/>
              <a:buNone/>
            </a:pPr>
            <a:r>
              <a:t/>
            </a:r>
            <a:endParaRPr/>
          </a:p>
        </p:txBody>
      </p:sp>
      <p:sp>
        <p:nvSpPr>
          <p:cNvPr id="344" name="Google Shape;344;p44"/>
          <p:cNvSpPr txBox="1"/>
          <p:nvPr>
            <p:ph idx="1" type="body"/>
          </p:nvPr>
        </p:nvSpPr>
        <p:spPr>
          <a:xfrm>
            <a:off x="609600" y="1295400"/>
            <a:ext cx="10972800" cy="4830800"/>
          </a:xfrm>
          <a:prstGeom prst="rect">
            <a:avLst/>
          </a:prstGeom>
          <a:noFill/>
          <a:ln>
            <a:noFill/>
          </a:ln>
        </p:spPr>
        <p:txBody>
          <a:bodyPr anchorCtr="0" anchor="t" bIns="60925" lIns="121900" spcFirstLastPara="1" rIns="121900" wrap="square" tIns="60925">
            <a:noAutofit/>
          </a:bodyPr>
          <a:lstStyle/>
          <a:p>
            <a:pPr indent="-457189" lvl="0" marL="457189" rtl="0" algn="l">
              <a:lnSpc>
                <a:spcPct val="90000"/>
              </a:lnSpc>
              <a:spcBef>
                <a:spcPts val="0"/>
              </a:spcBef>
              <a:spcAft>
                <a:spcPts val="0"/>
              </a:spcAft>
              <a:buClr>
                <a:schemeClr val="dk1"/>
              </a:buClr>
              <a:buSzPts val="3200"/>
              <a:buChar char="•"/>
            </a:pPr>
            <a:r>
              <a:rPr lang="en">
                <a:latin typeface="Times New Roman"/>
                <a:ea typeface="Times New Roman"/>
                <a:cs typeface="Times New Roman"/>
                <a:sym typeface="Times New Roman"/>
              </a:rPr>
              <a:t>If the deponent is making the affidavit on the ground of his belief derived from other sources  (not being his personal knowledge), he must state the facts and circumstances forming the ground of his belief. Section 115(3) Evidence Act.</a:t>
            </a:r>
            <a:endParaRPr/>
          </a:p>
          <a:p>
            <a:pPr indent="0" lvl="0" marL="0" rtl="0" algn="l">
              <a:lnSpc>
                <a:spcPct val="90000"/>
              </a:lnSpc>
              <a:spcBef>
                <a:spcPts val="853"/>
              </a:spcBef>
              <a:spcAft>
                <a:spcPts val="0"/>
              </a:spcAft>
              <a:buClr>
                <a:schemeClr val="dk1"/>
              </a:buClr>
              <a:buSzPts val="3200"/>
              <a:buNone/>
            </a:pPr>
            <a:r>
              <a:t/>
            </a:r>
            <a:endParaRPr>
              <a:latin typeface="Times New Roman"/>
              <a:ea typeface="Times New Roman"/>
              <a:cs typeface="Times New Roman"/>
              <a:sym typeface="Times New Roman"/>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45"/>
          <p:cNvSpPr txBox="1"/>
          <p:nvPr>
            <p:ph type="title"/>
          </p:nvPr>
        </p:nvSpPr>
        <p:spPr>
          <a:xfrm>
            <a:off x="609600" y="274637"/>
            <a:ext cx="10972800" cy="639600"/>
          </a:xfrm>
          <a:prstGeom prst="rect">
            <a:avLst/>
          </a:prstGeom>
          <a:noFill/>
          <a:ln>
            <a:noFill/>
          </a:ln>
        </p:spPr>
        <p:txBody>
          <a:bodyPr anchorCtr="0" anchor="ctr" bIns="60925" lIns="121900" spcFirstLastPara="1" rIns="121900" wrap="square" tIns="60925">
            <a:noAutofit/>
          </a:bodyPr>
          <a:lstStyle/>
          <a:p>
            <a:pPr indent="0" lvl="0" marL="0" rtl="0" algn="ctr">
              <a:lnSpc>
                <a:spcPct val="90000"/>
              </a:lnSpc>
              <a:spcBef>
                <a:spcPts val="0"/>
              </a:spcBef>
              <a:spcAft>
                <a:spcPts val="0"/>
              </a:spcAft>
              <a:buClr>
                <a:schemeClr val="dk1"/>
              </a:buClr>
              <a:buSzPts val="3960"/>
              <a:buFont typeface="Calibri"/>
              <a:buNone/>
            </a:pPr>
            <a:r>
              <a:t/>
            </a:r>
            <a:endParaRPr sz="5279"/>
          </a:p>
        </p:txBody>
      </p:sp>
      <p:sp>
        <p:nvSpPr>
          <p:cNvPr id="350" name="Google Shape;350;p45"/>
          <p:cNvSpPr txBox="1"/>
          <p:nvPr>
            <p:ph idx="1" type="body"/>
          </p:nvPr>
        </p:nvSpPr>
        <p:spPr>
          <a:xfrm>
            <a:off x="609600" y="914400"/>
            <a:ext cx="10972800" cy="5211600"/>
          </a:xfrm>
          <a:prstGeom prst="rect">
            <a:avLst/>
          </a:prstGeom>
          <a:noFill/>
          <a:ln>
            <a:noFill/>
          </a:ln>
        </p:spPr>
        <p:txBody>
          <a:bodyPr anchorCtr="0" anchor="t" bIns="60925" lIns="121900" spcFirstLastPara="1" rIns="121900" wrap="square" tIns="60925">
            <a:noAutofit/>
          </a:bodyPr>
          <a:lstStyle/>
          <a:p>
            <a:pPr indent="-457189" lvl="0" marL="457189" rtl="0" algn="l">
              <a:lnSpc>
                <a:spcPct val="90000"/>
              </a:lnSpc>
              <a:spcBef>
                <a:spcPts val="0"/>
              </a:spcBef>
              <a:spcAft>
                <a:spcPts val="0"/>
              </a:spcAft>
              <a:buClr>
                <a:schemeClr val="dk1"/>
              </a:buClr>
              <a:buSzPts val="3200"/>
              <a:buChar char="•"/>
            </a:pPr>
            <a:r>
              <a:rPr lang="en" sz="3200">
                <a:latin typeface="Times New Roman"/>
                <a:ea typeface="Times New Roman"/>
                <a:cs typeface="Times New Roman"/>
                <a:sym typeface="Times New Roman"/>
              </a:rPr>
              <a:t>If the deponent derived his information from another person rather than his personal knowledge, he shall state the name of his informant and also furnish reasonable particulars of the time, place and circumstance of the information. Section 115(4) Evidence Act.</a:t>
            </a:r>
            <a:endParaRPr sz="3200"/>
          </a:p>
          <a:p>
            <a:pPr indent="-457189" lvl="0" marL="457189" rtl="0" algn="l">
              <a:lnSpc>
                <a:spcPct val="90000"/>
              </a:lnSpc>
              <a:spcBef>
                <a:spcPts val="853"/>
              </a:spcBef>
              <a:spcAft>
                <a:spcPts val="0"/>
              </a:spcAft>
              <a:buClr>
                <a:schemeClr val="dk1"/>
              </a:buClr>
              <a:buSzPts val="3200"/>
              <a:buChar char="•"/>
            </a:pPr>
            <a:r>
              <a:rPr lang="en" sz="3200"/>
              <a:t>A deponent shall not swear to an affidavit before himself. So if a person is a commissioner for oaths or Notary public, he is disqualified to attest to the affidavit that he is a deponent. See section 112 Evidence Act</a:t>
            </a:r>
            <a:endParaRPr sz="3200"/>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46"/>
          <p:cNvSpPr txBox="1"/>
          <p:nvPr>
            <p:ph type="title"/>
          </p:nvPr>
        </p:nvSpPr>
        <p:spPr>
          <a:xfrm>
            <a:off x="838200" y="365125"/>
            <a:ext cx="10515600" cy="1325563"/>
          </a:xfrm>
          <a:prstGeom prst="rect">
            <a:avLst/>
          </a:prstGeom>
          <a:noFill/>
          <a:ln>
            <a:noFill/>
          </a:ln>
        </p:spPr>
        <p:txBody>
          <a:bodyPr anchorCtr="0" anchor="ctr" bIns="60925" lIns="121900" spcFirstLastPara="1" rIns="121900" wrap="square" tIns="60925">
            <a:noAutofit/>
          </a:bodyPr>
          <a:lstStyle/>
          <a:p>
            <a:pPr indent="0" lvl="0" marL="0" rtl="0" algn="ctr">
              <a:lnSpc>
                <a:spcPct val="90000"/>
              </a:lnSpc>
              <a:spcBef>
                <a:spcPts val="0"/>
              </a:spcBef>
              <a:spcAft>
                <a:spcPts val="0"/>
              </a:spcAft>
              <a:buClr>
                <a:schemeClr val="dk1"/>
              </a:buClr>
              <a:buSzPts val="4400"/>
              <a:buFont typeface="Calibri"/>
              <a:buNone/>
            </a:pPr>
            <a:r>
              <a:t/>
            </a:r>
            <a:endParaRPr/>
          </a:p>
        </p:txBody>
      </p:sp>
      <p:sp>
        <p:nvSpPr>
          <p:cNvPr id="356" name="Google Shape;356;p46"/>
          <p:cNvSpPr txBox="1"/>
          <p:nvPr>
            <p:ph idx="1" type="body"/>
          </p:nvPr>
        </p:nvSpPr>
        <p:spPr>
          <a:xfrm>
            <a:off x="838200" y="1825625"/>
            <a:ext cx="10515600" cy="4351338"/>
          </a:xfrm>
          <a:prstGeom prst="rect">
            <a:avLst/>
          </a:prstGeom>
          <a:noFill/>
          <a:ln>
            <a:noFill/>
          </a:ln>
        </p:spPr>
        <p:txBody>
          <a:bodyPr anchorCtr="0" anchor="t" bIns="60925" lIns="121900" spcFirstLastPara="1" rIns="121900" wrap="square" tIns="60925">
            <a:noAutofit/>
          </a:bodyPr>
          <a:lstStyle/>
          <a:p>
            <a:pPr indent="-457189" lvl="0" marL="457189" rtl="0" algn="l">
              <a:lnSpc>
                <a:spcPct val="90000"/>
              </a:lnSpc>
              <a:spcBef>
                <a:spcPts val="0"/>
              </a:spcBef>
              <a:spcAft>
                <a:spcPts val="0"/>
              </a:spcAft>
              <a:buClr>
                <a:schemeClr val="dk1"/>
              </a:buClr>
              <a:buSzPts val="3200"/>
              <a:buChar char="•"/>
            </a:pPr>
            <a:r>
              <a:rPr lang="en" sz="3200">
                <a:latin typeface="Times New Roman"/>
                <a:ea typeface="Times New Roman"/>
                <a:cs typeface="Times New Roman"/>
                <a:sym typeface="Times New Roman"/>
              </a:rPr>
              <a:t>A deponent shall not swear to an affidavit before his legal practitioner. </a:t>
            </a:r>
            <a:endParaRPr sz="3200"/>
          </a:p>
          <a:p>
            <a:pPr indent="-457189" lvl="0" marL="457189" rtl="0" algn="l">
              <a:lnSpc>
                <a:spcPct val="90000"/>
              </a:lnSpc>
              <a:spcBef>
                <a:spcPts val="853"/>
              </a:spcBef>
              <a:spcAft>
                <a:spcPts val="0"/>
              </a:spcAft>
              <a:buClr>
                <a:schemeClr val="dk1"/>
              </a:buClr>
              <a:buSzPts val="3200"/>
              <a:buChar char="•"/>
            </a:pPr>
            <a:r>
              <a:rPr lang="en" sz="3200">
                <a:latin typeface="Times New Roman"/>
                <a:ea typeface="Times New Roman"/>
                <a:cs typeface="Times New Roman"/>
                <a:sym typeface="Times New Roman"/>
              </a:rPr>
              <a:t>A deponent shall not swear to an affidavit before a clerk of his legal practitioner.</a:t>
            </a:r>
            <a:endParaRPr sz="3200"/>
          </a:p>
          <a:p>
            <a:pPr indent="-457189" lvl="0" marL="457189" rtl="0" algn="l">
              <a:lnSpc>
                <a:spcPct val="90000"/>
              </a:lnSpc>
              <a:spcBef>
                <a:spcPts val="853"/>
              </a:spcBef>
              <a:spcAft>
                <a:spcPts val="0"/>
              </a:spcAft>
              <a:buClr>
                <a:schemeClr val="dk1"/>
              </a:buClr>
              <a:buSzPts val="3200"/>
              <a:buChar char="•"/>
            </a:pPr>
            <a:r>
              <a:rPr lang="en" sz="3200">
                <a:latin typeface="Times New Roman"/>
                <a:ea typeface="Times New Roman"/>
                <a:cs typeface="Times New Roman"/>
                <a:sym typeface="Times New Roman"/>
              </a:rPr>
              <a:t>A deponent shall not swear to an affidavit before his partner.</a:t>
            </a:r>
            <a:endParaRPr sz="3200"/>
          </a:p>
          <a:p>
            <a:pPr indent="-457189" lvl="0" marL="457189" rtl="0" algn="l">
              <a:lnSpc>
                <a:spcPct val="90000"/>
              </a:lnSpc>
              <a:spcBef>
                <a:spcPts val="853"/>
              </a:spcBef>
              <a:spcAft>
                <a:spcPts val="0"/>
              </a:spcAft>
              <a:buClr>
                <a:schemeClr val="dk1"/>
              </a:buClr>
              <a:buSzPts val="3200"/>
              <a:buChar char="•"/>
            </a:pPr>
            <a:r>
              <a:rPr lang="en" sz="3200">
                <a:latin typeface="Times New Roman"/>
                <a:ea typeface="Times New Roman"/>
                <a:cs typeface="Times New Roman"/>
                <a:sym typeface="Times New Roman"/>
              </a:rPr>
              <a:t>A defective or erroneous affidavit may be amended and re-sworn by leave of court, on terms as the court may deem reasonable. See section 114 Evidence Act.</a:t>
            </a:r>
            <a:endParaRPr sz="3200">
              <a:latin typeface="Times New Roman"/>
              <a:ea typeface="Times New Roman"/>
              <a:cs typeface="Times New Roman"/>
              <a:sym typeface="Times New Roman"/>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47"/>
          <p:cNvSpPr txBox="1"/>
          <p:nvPr>
            <p:ph type="title"/>
          </p:nvPr>
        </p:nvSpPr>
        <p:spPr>
          <a:xfrm>
            <a:off x="838200" y="365125"/>
            <a:ext cx="10515600" cy="1325563"/>
          </a:xfrm>
          <a:prstGeom prst="rect">
            <a:avLst/>
          </a:prstGeom>
          <a:noFill/>
          <a:ln>
            <a:noFill/>
          </a:ln>
        </p:spPr>
        <p:txBody>
          <a:bodyPr anchorCtr="0" anchor="ctr" bIns="60925" lIns="121900" spcFirstLastPara="1" rIns="121900" wrap="square" tIns="60925">
            <a:noAutofit/>
          </a:bodyPr>
          <a:lstStyle/>
          <a:p>
            <a:pPr indent="0" lvl="0" marL="0" rtl="0" algn="ctr">
              <a:lnSpc>
                <a:spcPct val="90000"/>
              </a:lnSpc>
              <a:spcBef>
                <a:spcPts val="0"/>
              </a:spcBef>
              <a:spcAft>
                <a:spcPts val="0"/>
              </a:spcAft>
              <a:buClr>
                <a:schemeClr val="dk1"/>
              </a:buClr>
              <a:buSzPts val="4400"/>
              <a:buFont typeface="Times New Roman"/>
              <a:buNone/>
            </a:pPr>
            <a:r>
              <a:rPr b="1" lang="en">
                <a:latin typeface="Times New Roman"/>
                <a:ea typeface="Times New Roman"/>
                <a:cs typeface="Times New Roman"/>
                <a:sym typeface="Times New Roman"/>
              </a:rPr>
              <a:t>Counter Affidavit</a:t>
            </a:r>
            <a:endParaRPr b="1">
              <a:latin typeface="Times New Roman"/>
              <a:ea typeface="Times New Roman"/>
              <a:cs typeface="Times New Roman"/>
              <a:sym typeface="Times New Roman"/>
            </a:endParaRPr>
          </a:p>
        </p:txBody>
      </p:sp>
      <p:sp>
        <p:nvSpPr>
          <p:cNvPr id="362" name="Google Shape;362;p47"/>
          <p:cNvSpPr txBox="1"/>
          <p:nvPr>
            <p:ph idx="1" type="body"/>
          </p:nvPr>
        </p:nvSpPr>
        <p:spPr>
          <a:xfrm>
            <a:off x="838200" y="1825625"/>
            <a:ext cx="10515600" cy="4351338"/>
          </a:xfrm>
          <a:prstGeom prst="rect">
            <a:avLst/>
          </a:prstGeom>
          <a:noFill/>
          <a:ln>
            <a:noFill/>
          </a:ln>
        </p:spPr>
        <p:txBody>
          <a:bodyPr anchorCtr="0" anchor="t" bIns="60925" lIns="121900" spcFirstLastPara="1" rIns="121900" wrap="square" tIns="60925">
            <a:noAutofit/>
          </a:bodyPr>
          <a:lstStyle/>
          <a:p>
            <a:pPr indent="-457189" lvl="0" marL="457189" rtl="0" algn="l">
              <a:lnSpc>
                <a:spcPct val="90000"/>
              </a:lnSpc>
              <a:spcBef>
                <a:spcPts val="0"/>
              </a:spcBef>
              <a:spcAft>
                <a:spcPts val="0"/>
              </a:spcAft>
              <a:buClr>
                <a:schemeClr val="dk1"/>
              </a:buClr>
              <a:buSzPts val="3200"/>
              <a:buChar char="•"/>
            </a:pPr>
            <a:r>
              <a:rPr lang="en" sz="2667">
                <a:latin typeface="Times New Roman"/>
                <a:ea typeface="Times New Roman"/>
                <a:cs typeface="Times New Roman"/>
                <a:sym typeface="Times New Roman"/>
              </a:rPr>
              <a:t>A party who intends to oppose an application is required to file a counter affidavit in opposition.</a:t>
            </a:r>
            <a:endParaRPr sz="2667"/>
          </a:p>
          <a:p>
            <a:pPr indent="-457189" lvl="0" marL="457189" rtl="0" algn="l">
              <a:lnSpc>
                <a:spcPct val="90000"/>
              </a:lnSpc>
              <a:spcBef>
                <a:spcPts val="853"/>
              </a:spcBef>
              <a:spcAft>
                <a:spcPts val="0"/>
              </a:spcAft>
              <a:buClr>
                <a:schemeClr val="dk1"/>
              </a:buClr>
              <a:buSzPts val="3200"/>
              <a:buChar char="•"/>
            </a:pPr>
            <a:r>
              <a:rPr lang="en" sz="2667">
                <a:latin typeface="Times New Roman"/>
                <a:ea typeface="Times New Roman"/>
                <a:cs typeface="Times New Roman"/>
                <a:sym typeface="Times New Roman"/>
              </a:rPr>
              <a:t>Where a respondent fails to file a counter affidavit the facts deposed to in the affidavit are deemed true. See </a:t>
            </a:r>
            <a:r>
              <a:rPr b="1" lang="en" sz="2667">
                <a:latin typeface="Times New Roman"/>
                <a:ea typeface="Times New Roman"/>
                <a:cs typeface="Times New Roman"/>
                <a:sym typeface="Times New Roman"/>
              </a:rPr>
              <a:t>MATO V HEMBER (2018) ALL FWLR (PT 925) 146 @ 190.</a:t>
            </a:r>
            <a:endParaRPr sz="2667"/>
          </a:p>
          <a:p>
            <a:pPr indent="-457189" lvl="0" marL="457189" rtl="0" algn="l">
              <a:lnSpc>
                <a:spcPct val="90000"/>
              </a:lnSpc>
              <a:spcBef>
                <a:spcPts val="853"/>
              </a:spcBef>
              <a:spcAft>
                <a:spcPts val="0"/>
              </a:spcAft>
              <a:buClr>
                <a:schemeClr val="dk1"/>
              </a:buClr>
              <a:buSzPts val="3200"/>
              <a:buChar char="•"/>
            </a:pPr>
            <a:r>
              <a:rPr lang="en" sz="2667">
                <a:latin typeface="Times New Roman"/>
                <a:ea typeface="Times New Roman"/>
                <a:cs typeface="Times New Roman"/>
                <a:sym typeface="Times New Roman"/>
              </a:rPr>
              <a:t>An effective rebuttal in a counter affidavit must be specific, clear and unambiguous.</a:t>
            </a:r>
            <a:endParaRPr sz="2667"/>
          </a:p>
          <a:p>
            <a:pPr indent="-186262" lvl="0" marL="457189" rtl="0" algn="l">
              <a:lnSpc>
                <a:spcPct val="90000"/>
              </a:lnSpc>
              <a:spcBef>
                <a:spcPts val="853"/>
              </a:spcBef>
              <a:spcAft>
                <a:spcPts val="0"/>
              </a:spcAft>
              <a:buClr>
                <a:schemeClr val="dk1"/>
              </a:buClr>
              <a:buSzPts val="3200"/>
              <a:buNone/>
            </a:pPr>
            <a:r>
              <a:t/>
            </a:r>
            <a:endParaRPr b="1" sz="2667">
              <a:latin typeface="Times New Roman"/>
              <a:ea typeface="Times New Roman"/>
              <a:cs typeface="Times New Roman"/>
              <a:sym typeface="Times New Roman"/>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48"/>
          <p:cNvSpPr txBox="1"/>
          <p:nvPr>
            <p:ph type="title"/>
          </p:nvPr>
        </p:nvSpPr>
        <p:spPr>
          <a:xfrm>
            <a:off x="838200" y="365125"/>
            <a:ext cx="10515600" cy="1325563"/>
          </a:xfrm>
          <a:prstGeom prst="rect">
            <a:avLst/>
          </a:prstGeom>
          <a:noFill/>
          <a:ln>
            <a:noFill/>
          </a:ln>
        </p:spPr>
        <p:txBody>
          <a:bodyPr anchorCtr="0" anchor="ctr" bIns="60925" lIns="121900" spcFirstLastPara="1" rIns="121900" wrap="square" tIns="60925">
            <a:noAutofit/>
          </a:bodyPr>
          <a:lstStyle/>
          <a:p>
            <a:pPr indent="0" lvl="0" marL="0" rtl="0" algn="ctr">
              <a:lnSpc>
                <a:spcPct val="90000"/>
              </a:lnSpc>
              <a:spcBef>
                <a:spcPts val="0"/>
              </a:spcBef>
              <a:spcAft>
                <a:spcPts val="0"/>
              </a:spcAft>
              <a:buClr>
                <a:schemeClr val="dk1"/>
              </a:buClr>
              <a:buSzPts val="4400"/>
              <a:buFont typeface="Calibri"/>
              <a:buNone/>
            </a:pPr>
            <a:r>
              <a:t/>
            </a:r>
            <a:endParaRPr/>
          </a:p>
        </p:txBody>
      </p:sp>
      <p:sp>
        <p:nvSpPr>
          <p:cNvPr id="368" name="Google Shape;368;p48"/>
          <p:cNvSpPr txBox="1"/>
          <p:nvPr>
            <p:ph idx="1" type="body"/>
          </p:nvPr>
        </p:nvSpPr>
        <p:spPr>
          <a:xfrm>
            <a:off x="838200" y="1825625"/>
            <a:ext cx="10515600" cy="4351338"/>
          </a:xfrm>
          <a:prstGeom prst="rect">
            <a:avLst/>
          </a:prstGeom>
          <a:noFill/>
          <a:ln>
            <a:noFill/>
          </a:ln>
        </p:spPr>
        <p:txBody>
          <a:bodyPr anchorCtr="0" anchor="t" bIns="60925" lIns="121900" spcFirstLastPara="1" rIns="121900" wrap="square" tIns="60925">
            <a:noAutofit/>
          </a:bodyPr>
          <a:lstStyle/>
          <a:p>
            <a:pPr indent="-457189" lvl="0" marL="457189" rtl="0" algn="l">
              <a:lnSpc>
                <a:spcPct val="90000"/>
              </a:lnSpc>
              <a:spcBef>
                <a:spcPts val="0"/>
              </a:spcBef>
              <a:spcAft>
                <a:spcPts val="0"/>
              </a:spcAft>
              <a:buClr>
                <a:schemeClr val="dk1"/>
              </a:buClr>
              <a:buSzPts val="3200"/>
              <a:buChar char="•"/>
            </a:pPr>
            <a:r>
              <a:rPr lang="en" sz="3200">
                <a:latin typeface="Times New Roman"/>
                <a:ea typeface="Times New Roman"/>
                <a:cs typeface="Times New Roman"/>
                <a:sym typeface="Times New Roman"/>
              </a:rPr>
              <a:t>General denials in a counter affidavit will not be sufficient rebuttal of facts alleged in the affidavit of the adverse party. See </a:t>
            </a:r>
            <a:r>
              <a:rPr b="1" lang="en" sz="3200">
                <a:latin typeface="Times New Roman"/>
                <a:ea typeface="Times New Roman"/>
                <a:cs typeface="Times New Roman"/>
                <a:sym typeface="Times New Roman"/>
              </a:rPr>
              <a:t>OKEREKE V EJIOFOR (1996) 3NWLR (PT 434) 90.</a:t>
            </a:r>
            <a:endParaRPr sz="3200"/>
          </a:p>
          <a:p>
            <a:pPr indent="-457189" lvl="0" marL="457189" rtl="0" algn="l">
              <a:lnSpc>
                <a:spcPct val="90000"/>
              </a:lnSpc>
              <a:spcBef>
                <a:spcPts val="853"/>
              </a:spcBef>
              <a:spcAft>
                <a:spcPts val="0"/>
              </a:spcAft>
              <a:buClr>
                <a:schemeClr val="dk1"/>
              </a:buClr>
              <a:buSzPts val="3200"/>
              <a:buChar char="•"/>
            </a:pPr>
            <a:r>
              <a:rPr lang="en" sz="3200">
                <a:latin typeface="Times New Roman"/>
                <a:ea typeface="Times New Roman"/>
                <a:cs typeface="Times New Roman"/>
                <a:sym typeface="Times New Roman"/>
              </a:rPr>
              <a:t>Where the respondent intends to rely on points of law alone, he needs not file a counter affidavit. See </a:t>
            </a:r>
            <a:r>
              <a:rPr b="1" lang="en" sz="3200">
                <a:latin typeface="Times New Roman"/>
                <a:ea typeface="Times New Roman"/>
                <a:cs typeface="Times New Roman"/>
                <a:sym typeface="Times New Roman"/>
              </a:rPr>
              <a:t>BADEJO V.  MINISTER OF EDUCATION (1996) 9-10 SCNJ 51</a:t>
            </a:r>
            <a:endParaRPr b="1" sz="3200">
              <a:latin typeface="Times New Roman"/>
              <a:ea typeface="Times New Roman"/>
              <a:cs typeface="Times New Roman"/>
              <a:sym typeface="Times New Roman"/>
            </a:endParaRPr>
          </a:p>
          <a:p>
            <a:pPr indent="0" lvl="0" marL="0" rtl="0" algn="l">
              <a:lnSpc>
                <a:spcPct val="90000"/>
              </a:lnSpc>
              <a:spcBef>
                <a:spcPts val="853"/>
              </a:spcBef>
              <a:spcAft>
                <a:spcPts val="0"/>
              </a:spcAft>
              <a:buClr>
                <a:schemeClr val="dk1"/>
              </a:buClr>
              <a:buSzPts val="3200"/>
              <a:buNone/>
            </a:pPr>
            <a:r>
              <a:t/>
            </a:r>
            <a:endParaRPr b="1" sz="3200">
              <a:latin typeface="Times New Roman"/>
              <a:ea typeface="Times New Roman"/>
              <a:cs typeface="Times New Roman"/>
              <a:sym typeface="Times New Roman"/>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49"/>
          <p:cNvSpPr txBox="1"/>
          <p:nvPr>
            <p:ph type="title"/>
          </p:nvPr>
        </p:nvSpPr>
        <p:spPr>
          <a:xfrm>
            <a:off x="838200" y="365125"/>
            <a:ext cx="10515600" cy="1325563"/>
          </a:xfrm>
          <a:prstGeom prst="rect">
            <a:avLst/>
          </a:prstGeom>
          <a:noFill/>
          <a:ln>
            <a:noFill/>
          </a:ln>
        </p:spPr>
        <p:txBody>
          <a:bodyPr anchorCtr="0" anchor="ctr" bIns="60925" lIns="121900" spcFirstLastPara="1" rIns="121900" wrap="square" tIns="60925">
            <a:noAutofit/>
          </a:bodyPr>
          <a:lstStyle/>
          <a:p>
            <a:pPr indent="0" lvl="0" marL="0" rtl="0" algn="ctr">
              <a:lnSpc>
                <a:spcPct val="90000"/>
              </a:lnSpc>
              <a:spcBef>
                <a:spcPts val="0"/>
              </a:spcBef>
              <a:spcAft>
                <a:spcPts val="0"/>
              </a:spcAft>
              <a:buClr>
                <a:schemeClr val="dk1"/>
              </a:buClr>
              <a:buSzPts val="4400"/>
              <a:buFont typeface="Times New Roman"/>
              <a:buNone/>
            </a:pPr>
            <a:r>
              <a:rPr b="1" lang="en">
                <a:latin typeface="Times New Roman"/>
                <a:ea typeface="Times New Roman"/>
                <a:cs typeface="Times New Roman"/>
                <a:sym typeface="Times New Roman"/>
              </a:rPr>
              <a:t>Further Affidavit</a:t>
            </a:r>
            <a:endParaRPr b="1">
              <a:latin typeface="Times New Roman"/>
              <a:ea typeface="Times New Roman"/>
              <a:cs typeface="Times New Roman"/>
              <a:sym typeface="Times New Roman"/>
            </a:endParaRPr>
          </a:p>
        </p:txBody>
      </p:sp>
      <p:sp>
        <p:nvSpPr>
          <p:cNvPr id="374" name="Google Shape;374;p49"/>
          <p:cNvSpPr txBox="1"/>
          <p:nvPr>
            <p:ph idx="1" type="body"/>
          </p:nvPr>
        </p:nvSpPr>
        <p:spPr>
          <a:xfrm>
            <a:off x="609600" y="1646237"/>
            <a:ext cx="10972800" cy="4526000"/>
          </a:xfrm>
          <a:prstGeom prst="rect">
            <a:avLst/>
          </a:prstGeom>
          <a:noFill/>
          <a:ln>
            <a:noFill/>
          </a:ln>
        </p:spPr>
        <p:txBody>
          <a:bodyPr anchorCtr="0" anchor="t" bIns="60925" lIns="121900" spcFirstLastPara="1" rIns="121900" wrap="square" tIns="60925">
            <a:noAutofit/>
          </a:bodyPr>
          <a:lstStyle/>
          <a:p>
            <a:pPr indent="-457189" lvl="0" marL="457189" rtl="0" algn="l">
              <a:lnSpc>
                <a:spcPct val="90000"/>
              </a:lnSpc>
              <a:spcBef>
                <a:spcPts val="0"/>
              </a:spcBef>
              <a:spcAft>
                <a:spcPts val="0"/>
              </a:spcAft>
              <a:buClr>
                <a:schemeClr val="dk1"/>
              </a:buClr>
              <a:buSzPts val="4400"/>
              <a:buChar char="•"/>
            </a:pPr>
            <a:r>
              <a:rPr lang="en" sz="3733">
                <a:latin typeface="Times New Roman"/>
                <a:ea typeface="Times New Roman"/>
                <a:cs typeface="Times New Roman"/>
                <a:sym typeface="Times New Roman"/>
              </a:rPr>
              <a:t>If the applicant, upon being served with the counter affidavit, sees the need to oppose the facts deposed to in the counter affidavit, he is expected to file a further affidavit it.</a:t>
            </a:r>
            <a:endParaRPr sz="3733">
              <a:latin typeface="Times New Roman"/>
              <a:ea typeface="Times New Roman"/>
              <a:cs typeface="Times New Roman"/>
              <a:sym typeface="Times New Roman"/>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p50"/>
          <p:cNvSpPr txBox="1"/>
          <p:nvPr>
            <p:ph type="title"/>
          </p:nvPr>
        </p:nvSpPr>
        <p:spPr>
          <a:xfrm>
            <a:off x="838200" y="365125"/>
            <a:ext cx="10515600" cy="1325563"/>
          </a:xfrm>
          <a:prstGeom prst="rect">
            <a:avLst/>
          </a:prstGeom>
          <a:noFill/>
          <a:ln>
            <a:noFill/>
          </a:ln>
        </p:spPr>
        <p:txBody>
          <a:bodyPr anchorCtr="0" anchor="ctr" bIns="60925" lIns="121900" spcFirstLastPara="1" rIns="121900" wrap="square" tIns="60925">
            <a:noAutofit/>
          </a:bodyPr>
          <a:lstStyle/>
          <a:p>
            <a:pPr indent="0" lvl="0" marL="0" rtl="0" algn="ctr">
              <a:lnSpc>
                <a:spcPct val="90000"/>
              </a:lnSpc>
              <a:spcBef>
                <a:spcPts val="0"/>
              </a:spcBef>
              <a:spcAft>
                <a:spcPts val="0"/>
              </a:spcAft>
              <a:buClr>
                <a:schemeClr val="dk1"/>
              </a:buClr>
              <a:buSzPts val="4400"/>
              <a:buFont typeface="Times New Roman"/>
              <a:buNone/>
            </a:pPr>
            <a:r>
              <a:rPr b="1" lang="en">
                <a:latin typeface="Times New Roman"/>
                <a:ea typeface="Times New Roman"/>
                <a:cs typeface="Times New Roman"/>
                <a:sym typeface="Times New Roman"/>
              </a:rPr>
              <a:t>Conflict in Affidavits</a:t>
            </a:r>
            <a:endParaRPr b="1">
              <a:latin typeface="Times New Roman"/>
              <a:ea typeface="Times New Roman"/>
              <a:cs typeface="Times New Roman"/>
              <a:sym typeface="Times New Roman"/>
            </a:endParaRPr>
          </a:p>
        </p:txBody>
      </p:sp>
      <p:sp>
        <p:nvSpPr>
          <p:cNvPr id="380" name="Google Shape;380;p50"/>
          <p:cNvSpPr txBox="1"/>
          <p:nvPr>
            <p:ph idx="1" type="body"/>
          </p:nvPr>
        </p:nvSpPr>
        <p:spPr>
          <a:xfrm>
            <a:off x="838200" y="1825625"/>
            <a:ext cx="10515600" cy="4351338"/>
          </a:xfrm>
          <a:prstGeom prst="rect">
            <a:avLst/>
          </a:prstGeom>
          <a:noFill/>
          <a:ln>
            <a:noFill/>
          </a:ln>
        </p:spPr>
        <p:txBody>
          <a:bodyPr anchorCtr="0" anchor="t" bIns="60925" lIns="121900" spcFirstLastPara="1" rIns="121900" wrap="square" tIns="60925">
            <a:noAutofit/>
          </a:bodyPr>
          <a:lstStyle/>
          <a:p>
            <a:pPr indent="-457189" lvl="0" marL="457189" rtl="0" algn="l">
              <a:lnSpc>
                <a:spcPct val="90000"/>
              </a:lnSpc>
              <a:spcBef>
                <a:spcPts val="0"/>
              </a:spcBef>
              <a:spcAft>
                <a:spcPts val="0"/>
              </a:spcAft>
              <a:buClr>
                <a:schemeClr val="dk1"/>
              </a:buClr>
              <a:buSzPts val="4400"/>
              <a:buChar char="•"/>
            </a:pPr>
            <a:r>
              <a:rPr lang="en" sz="3733">
                <a:latin typeface="Times New Roman"/>
                <a:ea typeface="Times New Roman"/>
                <a:cs typeface="Times New Roman"/>
                <a:sym typeface="Times New Roman"/>
              </a:rPr>
              <a:t>Where there is a conflict in affidavits of parties the court has a duty to resolve the differences by calling oral evidence. See </a:t>
            </a:r>
            <a:r>
              <a:rPr b="1" lang="en" sz="3733">
                <a:latin typeface="Times New Roman"/>
                <a:ea typeface="Times New Roman"/>
                <a:cs typeface="Times New Roman"/>
                <a:sym typeface="Times New Roman"/>
              </a:rPr>
              <a:t>FALOBI V. FALOBI Supra </a:t>
            </a:r>
            <a:r>
              <a:rPr lang="en" sz="3733">
                <a:latin typeface="Times New Roman"/>
                <a:ea typeface="Times New Roman"/>
                <a:cs typeface="Times New Roman"/>
                <a:sym typeface="Times New Roman"/>
              </a:rPr>
              <a:t>and section </a:t>
            </a:r>
            <a:r>
              <a:rPr b="1" lang="en" sz="3733">
                <a:latin typeface="Times New Roman"/>
                <a:ea typeface="Times New Roman"/>
                <a:cs typeface="Times New Roman"/>
                <a:sym typeface="Times New Roman"/>
              </a:rPr>
              <a:t>116 Evidence Act</a:t>
            </a:r>
            <a:endParaRPr sz="3733">
              <a:latin typeface="Times New Roman"/>
              <a:ea typeface="Times New Roman"/>
              <a:cs typeface="Times New Roman"/>
              <a:sym typeface="Times New Roman"/>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sp>
        <p:nvSpPr>
          <p:cNvPr id="385" name="Google Shape;385;p5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Times New Roman"/>
              <a:buNone/>
            </a:pPr>
            <a:r>
              <a:rPr b="1" lang="en">
                <a:latin typeface="Times New Roman"/>
                <a:ea typeface="Times New Roman"/>
                <a:cs typeface="Times New Roman"/>
                <a:sym typeface="Times New Roman"/>
              </a:rPr>
              <a:t>WRITTEN ADDRESS</a:t>
            </a:r>
            <a:endParaRPr/>
          </a:p>
        </p:txBody>
      </p:sp>
      <p:sp>
        <p:nvSpPr>
          <p:cNvPr id="386" name="Google Shape;386;p5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sp>
        <p:nvSpPr>
          <p:cNvPr id="391" name="Google Shape;391;p52"/>
          <p:cNvSpPr txBox="1"/>
          <p:nvPr>
            <p:ph type="title"/>
          </p:nvPr>
        </p:nvSpPr>
        <p:spPr>
          <a:xfrm>
            <a:off x="838200" y="365125"/>
            <a:ext cx="10515600" cy="1325563"/>
          </a:xfrm>
          <a:prstGeom prst="rect">
            <a:avLst/>
          </a:prstGeom>
          <a:noFill/>
          <a:ln>
            <a:noFill/>
          </a:ln>
        </p:spPr>
        <p:txBody>
          <a:bodyPr anchorCtr="0" anchor="ctr" bIns="60925" lIns="121900" spcFirstLastPara="1" rIns="121900" wrap="square" tIns="60925">
            <a:noAutofit/>
          </a:bodyPr>
          <a:lstStyle/>
          <a:p>
            <a:pPr indent="0" lvl="0" marL="0" rtl="0" algn="ctr">
              <a:lnSpc>
                <a:spcPct val="90000"/>
              </a:lnSpc>
              <a:spcBef>
                <a:spcPts val="0"/>
              </a:spcBef>
              <a:spcAft>
                <a:spcPts val="0"/>
              </a:spcAft>
              <a:buClr>
                <a:schemeClr val="dk1"/>
              </a:buClr>
              <a:buSzPts val="4400"/>
              <a:buFont typeface="Times New Roman"/>
              <a:buNone/>
            </a:pPr>
            <a:r>
              <a:rPr b="1" lang="en">
                <a:latin typeface="Times New Roman"/>
                <a:ea typeface="Times New Roman"/>
                <a:cs typeface="Times New Roman"/>
                <a:sym typeface="Times New Roman"/>
              </a:rPr>
              <a:t>Use of Written Address in Interlocutory Applications</a:t>
            </a:r>
            <a:endParaRPr/>
          </a:p>
        </p:txBody>
      </p:sp>
      <p:sp>
        <p:nvSpPr>
          <p:cNvPr id="392" name="Google Shape;392;p52"/>
          <p:cNvSpPr txBox="1"/>
          <p:nvPr>
            <p:ph idx="1" type="body"/>
          </p:nvPr>
        </p:nvSpPr>
        <p:spPr>
          <a:xfrm>
            <a:off x="838200" y="1825625"/>
            <a:ext cx="10515600" cy="4351338"/>
          </a:xfrm>
          <a:prstGeom prst="rect">
            <a:avLst/>
          </a:prstGeom>
          <a:noFill/>
          <a:ln>
            <a:noFill/>
          </a:ln>
        </p:spPr>
        <p:txBody>
          <a:bodyPr anchorCtr="0" anchor="t" bIns="60925" lIns="121900" spcFirstLastPara="1" rIns="121900" wrap="square" tIns="60925">
            <a:noAutofit/>
          </a:bodyPr>
          <a:lstStyle/>
          <a:p>
            <a:pPr indent="-457189" lvl="0" marL="457189" rtl="0" algn="l">
              <a:lnSpc>
                <a:spcPct val="90000"/>
              </a:lnSpc>
              <a:spcBef>
                <a:spcPts val="0"/>
              </a:spcBef>
              <a:spcAft>
                <a:spcPts val="0"/>
              </a:spcAft>
              <a:buClr>
                <a:schemeClr val="dk1"/>
              </a:buClr>
              <a:buSzPts val="3600"/>
              <a:buChar char="•"/>
            </a:pPr>
            <a:r>
              <a:rPr lang="en" sz="4800">
                <a:latin typeface="Times New Roman"/>
                <a:ea typeface="Times New Roman"/>
                <a:cs typeface="Times New Roman"/>
                <a:sym typeface="Times New Roman"/>
              </a:rPr>
              <a:t>Under the Abuja and Lagos rules, interlocutory applications are to be accompanied by written address. </a:t>
            </a:r>
            <a:r>
              <a:rPr b="1" lang="en" sz="4800">
                <a:latin typeface="Times New Roman"/>
                <a:ea typeface="Times New Roman"/>
                <a:cs typeface="Times New Roman"/>
                <a:sym typeface="Times New Roman"/>
              </a:rPr>
              <a:t>See </a:t>
            </a:r>
            <a:r>
              <a:rPr b="1" lang="en" sz="4800">
                <a:solidFill>
                  <a:srgbClr val="FF0000"/>
                </a:solidFill>
                <a:latin typeface="Times New Roman"/>
                <a:ea typeface="Times New Roman"/>
                <a:cs typeface="Times New Roman"/>
                <a:sym typeface="Times New Roman"/>
              </a:rPr>
              <a:t>O. 30 R 1(2) Abuja </a:t>
            </a:r>
            <a:r>
              <a:rPr b="1" lang="en" sz="4800">
                <a:latin typeface="Times New Roman"/>
                <a:ea typeface="Times New Roman"/>
                <a:cs typeface="Times New Roman"/>
                <a:sym typeface="Times New Roman"/>
              </a:rPr>
              <a:t>and O 43 R1(20 Lagos.</a:t>
            </a:r>
            <a:endParaRPr/>
          </a:p>
          <a:p>
            <a:pPr indent="-152396" lvl="0" marL="457189" rtl="0" algn="l">
              <a:lnSpc>
                <a:spcPct val="90000"/>
              </a:lnSpc>
              <a:spcBef>
                <a:spcPts val="960"/>
              </a:spcBef>
              <a:spcAft>
                <a:spcPts val="0"/>
              </a:spcAft>
              <a:buClr>
                <a:schemeClr val="dk1"/>
              </a:buClr>
              <a:buSzPts val="3600"/>
              <a:buNone/>
            </a:pPr>
            <a:r>
              <a:t/>
            </a:r>
            <a:endParaRPr b="1" sz="4800"/>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sp>
        <p:nvSpPr>
          <p:cNvPr id="397" name="Google Shape;397;p53"/>
          <p:cNvSpPr txBox="1"/>
          <p:nvPr>
            <p:ph type="title"/>
          </p:nvPr>
        </p:nvSpPr>
        <p:spPr>
          <a:xfrm>
            <a:off x="838200" y="203076"/>
            <a:ext cx="10515600" cy="572426"/>
          </a:xfrm>
          <a:prstGeom prst="rect">
            <a:avLst/>
          </a:prstGeom>
          <a:noFill/>
          <a:ln>
            <a:noFill/>
          </a:ln>
        </p:spPr>
        <p:txBody>
          <a:bodyPr anchorCtr="0" anchor="ctr" bIns="60925" lIns="121900" spcFirstLastPara="1" rIns="121900" wrap="square" tIns="60925">
            <a:noAutofit/>
          </a:bodyPr>
          <a:lstStyle/>
          <a:p>
            <a:pPr indent="0" lvl="0" marL="0" rtl="0" algn="ctr">
              <a:lnSpc>
                <a:spcPct val="90000"/>
              </a:lnSpc>
              <a:spcBef>
                <a:spcPts val="0"/>
              </a:spcBef>
              <a:spcAft>
                <a:spcPts val="0"/>
              </a:spcAft>
              <a:buClr>
                <a:schemeClr val="dk1"/>
              </a:buClr>
              <a:buSzPts val="3959"/>
              <a:buFont typeface="Times New Roman"/>
              <a:buNone/>
            </a:pPr>
            <a:r>
              <a:rPr b="1" lang="en">
                <a:latin typeface="Times New Roman"/>
                <a:ea typeface="Times New Roman"/>
                <a:cs typeface="Times New Roman"/>
                <a:sym typeface="Times New Roman"/>
              </a:rPr>
              <a:t>Contents and Drafting of Written Address</a:t>
            </a:r>
            <a:endParaRPr/>
          </a:p>
        </p:txBody>
      </p:sp>
      <p:sp>
        <p:nvSpPr>
          <p:cNvPr id="398" name="Google Shape;398;p53"/>
          <p:cNvSpPr txBox="1"/>
          <p:nvPr>
            <p:ph idx="1" type="body"/>
          </p:nvPr>
        </p:nvSpPr>
        <p:spPr>
          <a:xfrm>
            <a:off x="609600" y="868102"/>
            <a:ext cx="10972800" cy="5825094"/>
          </a:xfrm>
          <a:prstGeom prst="rect">
            <a:avLst/>
          </a:prstGeom>
          <a:noFill/>
          <a:ln>
            <a:noFill/>
          </a:ln>
        </p:spPr>
        <p:txBody>
          <a:bodyPr anchorCtr="0" anchor="t" bIns="60925" lIns="121900" spcFirstLastPara="1" rIns="121900" wrap="square" tIns="60925">
            <a:noAutofit/>
          </a:bodyPr>
          <a:lstStyle/>
          <a:p>
            <a:pPr indent="-457189" lvl="0" marL="457189" rtl="0" algn="l">
              <a:lnSpc>
                <a:spcPct val="90000"/>
              </a:lnSpc>
              <a:spcBef>
                <a:spcPts val="0"/>
              </a:spcBef>
              <a:spcAft>
                <a:spcPts val="0"/>
              </a:spcAft>
              <a:buClr>
                <a:schemeClr val="dk1"/>
              </a:buClr>
              <a:buSzPts val="3200"/>
              <a:buChar char="•"/>
            </a:pPr>
            <a:r>
              <a:rPr b="1" lang="en" sz="3400">
                <a:latin typeface="Times New Roman"/>
                <a:ea typeface="Times New Roman"/>
                <a:cs typeface="Times New Roman"/>
                <a:sym typeface="Times New Roman"/>
              </a:rPr>
              <a:t>See </a:t>
            </a:r>
            <a:r>
              <a:rPr b="1" lang="en" sz="3400">
                <a:solidFill>
                  <a:srgbClr val="FF0000"/>
                </a:solidFill>
                <a:latin typeface="Times New Roman"/>
                <a:ea typeface="Times New Roman"/>
                <a:cs typeface="Times New Roman"/>
                <a:sym typeface="Times New Roman"/>
              </a:rPr>
              <a:t>O. 39 R 1, 2 &amp; 3 ABJ </a:t>
            </a:r>
            <a:r>
              <a:rPr b="1" lang="en" sz="3400">
                <a:latin typeface="Times New Roman"/>
                <a:ea typeface="Times New Roman"/>
                <a:cs typeface="Times New Roman"/>
                <a:sym typeface="Times New Roman"/>
              </a:rPr>
              <a:t>&amp; O 35 R 2 &amp; 3(1) &amp; (2) LAG</a:t>
            </a:r>
            <a:endParaRPr sz="3400">
              <a:latin typeface="Times New Roman"/>
              <a:ea typeface="Times New Roman"/>
              <a:cs typeface="Times New Roman"/>
              <a:sym typeface="Times New Roman"/>
            </a:endParaRPr>
          </a:p>
          <a:p>
            <a:pPr indent="-457189" lvl="0" marL="457189" rtl="0" algn="l">
              <a:lnSpc>
                <a:spcPct val="90000"/>
              </a:lnSpc>
              <a:spcBef>
                <a:spcPts val="853"/>
              </a:spcBef>
              <a:spcAft>
                <a:spcPts val="0"/>
              </a:spcAft>
              <a:buClr>
                <a:schemeClr val="dk1"/>
              </a:buClr>
              <a:buSzPts val="3200"/>
              <a:buChar char="•"/>
            </a:pPr>
            <a:r>
              <a:rPr lang="en" sz="3400">
                <a:latin typeface="Times New Roman"/>
                <a:ea typeface="Times New Roman"/>
                <a:cs typeface="Times New Roman"/>
                <a:sym typeface="Times New Roman"/>
              </a:rPr>
              <a:t>The claim upon which the application is based</a:t>
            </a:r>
            <a:endParaRPr sz="3400">
              <a:latin typeface="Times New Roman"/>
              <a:ea typeface="Times New Roman"/>
              <a:cs typeface="Times New Roman"/>
              <a:sym typeface="Times New Roman"/>
            </a:endParaRPr>
          </a:p>
          <a:p>
            <a:pPr indent="-457189" lvl="0" marL="457189" rtl="0" algn="l">
              <a:lnSpc>
                <a:spcPct val="90000"/>
              </a:lnSpc>
              <a:spcBef>
                <a:spcPts val="853"/>
              </a:spcBef>
              <a:spcAft>
                <a:spcPts val="0"/>
              </a:spcAft>
              <a:buClr>
                <a:schemeClr val="dk1"/>
              </a:buClr>
              <a:buSzPts val="3200"/>
              <a:buChar char="•"/>
            </a:pPr>
            <a:r>
              <a:rPr lang="en" sz="3400">
                <a:latin typeface="Times New Roman"/>
                <a:ea typeface="Times New Roman"/>
                <a:cs typeface="Times New Roman"/>
                <a:sym typeface="Times New Roman"/>
              </a:rPr>
              <a:t>Brief statement of facts with references to exhibit(s) attached</a:t>
            </a:r>
            <a:endParaRPr sz="3400">
              <a:latin typeface="Times New Roman"/>
              <a:ea typeface="Times New Roman"/>
              <a:cs typeface="Times New Roman"/>
              <a:sym typeface="Times New Roman"/>
            </a:endParaRPr>
          </a:p>
          <a:p>
            <a:pPr indent="-457189" lvl="0" marL="457189" rtl="0" algn="l">
              <a:lnSpc>
                <a:spcPct val="90000"/>
              </a:lnSpc>
              <a:spcBef>
                <a:spcPts val="853"/>
              </a:spcBef>
              <a:spcAft>
                <a:spcPts val="0"/>
              </a:spcAft>
              <a:buClr>
                <a:schemeClr val="dk1"/>
              </a:buClr>
              <a:buSzPts val="3200"/>
              <a:buChar char="•"/>
            </a:pPr>
            <a:r>
              <a:rPr lang="en" sz="3400">
                <a:latin typeface="Times New Roman"/>
                <a:ea typeface="Times New Roman"/>
                <a:cs typeface="Times New Roman"/>
                <a:sym typeface="Times New Roman"/>
              </a:rPr>
              <a:t>Issues for determination</a:t>
            </a:r>
            <a:endParaRPr sz="3400">
              <a:latin typeface="Times New Roman"/>
              <a:ea typeface="Times New Roman"/>
              <a:cs typeface="Times New Roman"/>
              <a:sym typeface="Times New Roman"/>
            </a:endParaRPr>
          </a:p>
          <a:p>
            <a:pPr indent="-457189" lvl="0" marL="457189" rtl="0" algn="l">
              <a:lnSpc>
                <a:spcPct val="90000"/>
              </a:lnSpc>
              <a:spcBef>
                <a:spcPts val="853"/>
              </a:spcBef>
              <a:spcAft>
                <a:spcPts val="0"/>
              </a:spcAft>
              <a:buClr>
                <a:schemeClr val="dk1"/>
              </a:buClr>
              <a:buSzPts val="3200"/>
              <a:buChar char="•"/>
            </a:pPr>
            <a:r>
              <a:rPr lang="en" sz="3400">
                <a:latin typeface="Times New Roman"/>
                <a:ea typeface="Times New Roman"/>
                <a:cs typeface="Times New Roman"/>
                <a:sym typeface="Times New Roman"/>
              </a:rPr>
              <a:t>Legal arguments incorporating the authorities cited</a:t>
            </a:r>
            <a:endParaRPr sz="3400">
              <a:latin typeface="Times New Roman"/>
              <a:ea typeface="Times New Roman"/>
              <a:cs typeface="Times New Roman"/>
              <a:sym typeface="Times New Roman"/>
            </a:endParaRPr>
          </a:p>
          <a:p>
            <a:pPr indent="-457189" lvl="0" marL="457189" rtl="0" algn="l">
              <a:lnSpc>
                <a:spcPct val="90000"/>
              </a:lnSpc>
              <a:spcBef>
                <a:spcPts val="853"/>
              </a:spcBef>
              <a:spcAft>
                <a:spcPts val="0"/>
              </a:spcAft>
              <a:buClr>
                <a:schemeClr val="dk1"/>
              </a:buClr>
              <a:buSzPts val="3200"/>
              <a:buChar char="•"/>
            </a:pPr>
            <a:r>
              <a:rPr lang="en" sz="3400">
                <a:latin typeface="Times New Roman"/>
                <a:ea typeface="Times New Roman"/>
                <a:cs typeface="Times New Roman"/>
                <a:sym typeface="Times New Roman"/>
              </a:rPr>
              <a:t>Conclusion containing numbered summary of points raised.</a:t>
            </a:r>
            <a:endParaRPr/>
          </a:p>
          <a:p>
            <a:pPr indent="-457189" lvl="0" marL="457189" rtl="0" algn="l">
              <a:lnSpc>
                <a:spcPct val="90000"/>
              </a:lnSpc>
              <a:spcBef>
                <a:spcPts val="853"/>
              </a:spcBef>
              <a:spcAft>
                <a:spcPts val="0"/>
              </a:spcAft>
              <a:buClr>
                <a:schemeClr val="dk1"/>
              </a:buClr>
              <a:buSzPts val="3200"/>
              <a:buChar char="•"/>
            </a:pPr>
            <a:r>
              <a:rPr lang="en" sz="3400">
                <a:latin typeface="Times New Roman"/>
                <a:ea typeface="Times New Roman"/>
                <a:cs typeface="Times New Roman"/>
                <a:sym typeface="Times New Roman"/>
              </a:rPr>
              <a:t>List of cited authorities</a:t>
            </a:r>
            <a:endParaRPr/>
          </a:p>
          <a:p>
            <a:pPr indent="-457189" lvl="0" marL="457189" rtl="0" algn="l">
              <a:lnSpc>
                <a:spcPct val="90000"/>
              </a:lnSpc>
              <a:spcBef>
                <a:spcPts val="853"/>
              </a:spcBef>
              <a:spcAft>
                <a:spcPts val="0"/>
              </a:spcAft>
              <a:buClr>
                <a:schemeClr val="dk1"/>
              </a:buClr>
              <a:buSzPts val="3200"/>
              <a:buChar char="•"/>
            </a:pPr>
            <a:r>
              <a:rPr lang="en" sz="3400">
                <a:latin typeface="Times New Roman"/>
                <a:ea typeface="Times New Roman"/>
                <a:cs typeface="Times New Roman"/>
                <a:sym typeface="Times New Roman"/>
              </a:rPr>
              <a:t>Certified true copies of unreported decisions.</a:t>
            </a:r>
            <a:endParaRPr sz="3400">
              <a:latin typeface="Times New Roman"/>
              <a:ea typeface="Times New Roman"/>
              <a:cs typeface="Times New Roman"/>
              <a:sym typeface="Times New Roman"/>
            </a:endParaRPr>
          </a:p>
          <a:p>
            <a:pPr indent="-186262" lvl="0" marL="457189" rtl="0" algn="l">
              <a:lnSpc>
                <a:spcPct val="90000"/>
              </a:lnSpc>
              <a:spcBef>
                <a:spcPts val="853"/>
              </a:spcBef>
              <a:spcAft>
                <a:spcPts val="0"/>
              </a:spcAft>
              <a:buClr>
                <a:schemeClr val="dk1"/>
              </a:buClr>
              <a:buSzPts val="3200"/>
              <a:buNone/>
            </a:pPr>
            <a:r>
              <a:t/>
            </a:r>
            <a:endParaRPr sz="3400">
              <a:latin typeface="Times New Roman"/>
              <a:ea typeface="Times New Roman"/>
              <a:cs typeface="Times New Roman"/>
              <a:sym typeface="Times New Roman"/>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54"/>
          <p:cNvSpPr txBox="1"/>
          <p:nvPr>
            <p:ph type="title"/>
          </p:nvPr>
        </p:nvSpPr>
        <p:spPr>
          <a:xfrm>
            <a:off x="838200" y="365125"/>
            <a:ext cx="10515600" cy="1325563"/>
          </a:xfrm>
          <a:prstGeom prst="rect">
            <a:avLst/>
          </a:prstGeom>
          <a:noFill/>
          <a:ln>
            <a:noFill/>
          </a:ln>
        </p:spPr>
        <p:txBody>
          <a:bodyPr anchorCtr="0" anchor="ctr" bIns="60925" lIns="121900" spcFirstLastPara="1" rIns="121900" wrap="square" tIns="60925">
            <a:noAutofit/>
          </a:bodyPr>
          <a:lstStyle/>
          <a:p>
            <a:pPr indent="0" lvl="0" marL="0" rtl="0" algn="ctr">
              <a:lnSpc>
                <a:spcPct val="90000"/>
              </a:lnSpc>
              <a:spcBef>
                <a:spcPts val="0"/>
              </a:spcBef>
              <a:spcAft>
                <a:spcPts val="0"/>
              </a:spcAft>
              <a:buClr>
                <a:schemeClr val="dk1"/>
              </a:buClr>
              <a:buSzPts val="3959"/>
              <a:buFont typeface="Times New Roman"/>
              <a:buNone/>
            </a:pPr>
            <a:r>
              <a:rPr b="1" lang="en" sz="3200">
                <a:latin typeface="Times New Roman"/>
                <a:ea typeface="Times New Roman"/>
                <a:cs typeface="Times New Roman"/>
                <a:sym typeface="Times New Roman"/>
              </a:rPr>
              <a:t>SOME SPECIFIC INTERLOCUTORY ORDERS AND APPLICATIONS</a:t>
            </a:r>
            <a:endParaRPr b="1" sz="3200">
              <a:latin typeface="Times New Roman"/>
              <a:ea typeface="Times New Roman"/>
              <a:cs typeface="Times New Roman"/>
              <a:sym typeface="Times New Roman"/>
            </a:endParaRPr>
          </a:p>
        </p:txBody>
      </p:sp>
      <p:sp>
        <p:nvSpPr>
          <p:cNvPr id="404" name="Google Shape;404;p54"/>
          <p:cNvSpPr txBox="1"/>
          <p:nvPr>
            <p:ph idx="1" type="body"/>
          </p:nvPr>
        </p:nvSpPr>
        <p:spPr>
          <a:xfrm>
            <a:off x="838200" y="1825625"/>
            <a:ext cx="10515600" cy="4351338"/>
          </a:xfrm>
          <a:prstGeom prst="rect">
            <a:avLst/>
          </a:prstGeom>
          <a:noFill/>
          <a:ln>
            <a:noFill/>
          </a:ln>
        </p:spPr>
        <p:txBody>
          <a:bodyPr anchorCtr="0" anchor="t" bIns="60925" lIns="121900" spcFirstLastPara="1" rIns="121900" wrap="square" tIns="60925">
            <a:noAutofit/>
          </a:bodyPr>
          <a:lstStyle/>
          <a:p>
            <a:pPr indent="-203189" lvl="0" marL="457189" rtl="0" algn="l">
              <a:lnSpc>
                <a:spcPct val="90000"/>
              </a:lnSpc>
              <a:spcBef>
                <a:spcPts val="0"/>
              </a:spcBef>
              <a:spcAft>
                <a:spcPts val="0"/>
              </a:spcAft>
              <a:buClr>
                <a:schemeClr val="dk1"/>
              </a:buClr>
              <a:buSzPts val="4000"/>
              <a:buNone/>
            </a:pPr>
            <a:r>
              <a:t/>
            </a:r>
            <a:endParaRPr sz="3200"/>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 name="Shape 408"/>
        <p:cNvGrpSpPr/>
        <p:nvPr/>
      </p:nvGrpSpPr>
      <p:grpSpPr>
        <a:xfrm>
          <a:off x="0" y="0"/>
          <a:ext cx="0" cy="0"/>
          <a:chOff x="0" y="0"/>
          <a:chExt cx="0" cy="0"/>
        </a:xfrm>
      </p:grpSpPr>
      <p:sp>
        <p:nvSpPr>
          <p:cNvPr id="409" name="Google Shape;409;p5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sp>
        <p:nvSpPr>
          <p:cNvPr id="410" name="Google Shape;410;p5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457189" lvl="0" marL="457189" rtl="0" algn="l">
              <a:lnSpc>
                <a:spcPct val="90000"/>
              </a:lnSpc>
              <a:spcBef>
                <a:spcPts val="0"/>
              </a:spcBef>
              <a:spcAft>
                <a:spcPts val="0"/>
              </a:spcAft>
              <a:buClr>
                <a:schemeClr val="dk1"/>
              </a:buClr>
              <a:buSzPts val="4000"/>
              <a:buChar char="•"/>
            </a:pPr>
            <a:r>
              <a:rPr lang="en"/>
              <a:t>Interim injunction</a:t>
            </a:r>
            <a:endParaRPr/>
          </a:p>
          <a:p>
            <a:pPr indent="-457189" lvl="0" marL="457189" rtl="0" algn="l">
              <a:lnSpc>
                <a:spcPct val="90000"/>
              </a:lnSpc>
              <a:spcBef>
                <a:spcPts val="0"/>
              </a:spcBef>
              <a:spcAft>
                <a:spcPts val="0"/>
              </a:spcAft>
              <a:buClr>
                <a:schemeClr val="dk1"/>
              </a:buClr>
              <a:buSzPts val="4000"/>
              <a:buChar char="•"/>
            </a:pPr>
            <a:r>
              <a:rPr lang="en"/>
              <a:t>Interlocutory injunction</a:t>
            </a:r>
            <a:endParaRPr/>
          </a:p>
          <a:p>
            <a:pPr indent="-457189" lvl="0" marL="457189" rtl="0" algn="l">
              <a:lnSpc>
                <a:spcPct val="90000"/>
              </a:lnSpc>
              <a:spcBef>
                <a:spcPts val="0"/>
              </a:spcBef>
              <a:spcAft>
                <a:spcPts val="0"/>
              </a:spcAft>
              <a:buClr>
                <a:schemeClr val="dk1"/>
              </a:buClr>
              <a:buSzPts val="4000"/>
              <a:buChar char="•"/>
            </a:pPr>
            <a:r>
              <a:rPr lang="en"/>
              <a:t>Mareva injunction</a:t>
            </a:r>
            <a:endParaRPr/>
          </a:p>
          <a:p>
            <a:pPr indent="-457189" lvl="0" marL="457189" rtl="0" algn="l">
              <a:lnSpc>
                <a:spcPct val="90000"/>
              </a:lnSpc>
              <a:spcBef>
                <a:spcPts val="0"/>
              </a:spcBef>
              <a:spcAft>
                <a:spcPts val="0"/>
              </a:spcAft>
              <a:buClr>
                <a:schemeClr val="dk1"/>
              </a:buClr>
              <a:buSzPts val="4000"/>
              <a:buChar char="•"/>
            </a:pPr>
            <a:r>
              <a:rPr lang="en"/>
              <a:t>Anton piller injunction</a:t>
            </a:r>
            <a:endParaRPr/>
          </a:p>
          <a:p>
            <a:pPr indent="-457189" lvl="0" marL="457189" rtl="0" algn="l">
              <a:lnSpc>
                <a:spcPct val="90000"/>
              </a:lnSpc>
              <a:spcBef>
                <a:spcPts val="0"/>
              </a:spcBef>
              <a:spcAft>
                <a:spcPts val="0"/>
              </a:spcAft>
              <a:buClr>
                <a:schemeClr val="dk1"/>
              </a:buClr>
              <a:buSzPts val="4000"/>
              <a:buChar char="•"/>
            </a:pPr>
            <a:r>
              <a:rPr lang="en"/>
              <a:t>Interpleader </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 name="Shape 414"/>
        <p:cNvGrpSpPr/>
        <p:nvPr/>
      </p:nvGrpSpPr>
      <p:grpSpPr>
        <a:xfrm>
          <a:off x="0" y="0"/>
          <a:ext cx="0" cy="0"/>
          <a:chOff x="0" y="0"/>
          <a:chExt cx="0" cy="0"/>
        </a:xfrm>
      </p:grpSpPr>
      <p:sp>
        <p:nvSpPr>
          <p:cNvPr id="415" name="Google Shape;415;p56"/>
          <p:cNvSpPr txBox="1"/>
          <p:nvPr>
            <p:ph type="title"/>
          </p:nvPr>
        </p:nvSpPr>
        <p:spPr>
          <a:xfrm>
            <a:off x="838200" y="365125"/>
            <a:ext cx="10515600" cy="1325563"/>
          </a:xfrm>
          <a:prstGeom prst="rect">
            <a:avLst/>
          </a:prstGeom>
          <a:noFill/>
          <a:ln>
            <a:noFill/>
          </a:ln>
        </p:spPr>
        <p:txBody>
          <a:bodyPr anchorCtr="0" anchor="ctr" bIns="60925" lIns="121900" spcFirstLastPara="1" rIns="121900" wrap="square" tIns="60925">
            <a:noAutofit/>
          </a:bodyPr>
          <a:lstStyle/>
          <a:p>
            <a:pPr indent="0" lvl="0" marL="0" rtl="0" algn="ctr">
              <a:lnSpc>
                <a:spcPct val="90000"/>
              </a:lnSpc>
              <a:spcBef>
                <a:spcPts val="0"/>
              </a:spcBef>
              <a:spcAft>
                <a:spcPts val="0"/>
              </a:spcAft>
              <a:buClr>
                <a:schemeClr val="dk1"/>
              </a:buClr>
              <a:buSzPts val="3959"/>
              <a:buFont typeface="Times New Roman"/>
              <a:buNone/>
            </a:pPr>
            <a:r>
              <a:rPr b="1" lang="en" sz="5279">
                <a:latin typeface="Times New Roman"/>
                <a:ea typeface="Times New Roman"/>
                <a:cs typeface="Times New Roman"/>
                <a:sym typeface="Times New Roman"/>
              </a:rPr>
              <a:t>Injunction</a:t>
            </a:r>
            <a:endParaRPr b="1" sz="5279">
              <a:latin typeface="Times New Roman"/>
              <a:ea typeface="Times New Roman"/>
              <a:cs typeface="Times New Roman"/>
              <a:sym typeface="Times New Roman"/>
            </a:endParaRPr>
          </a:p>
        </p:txBody>
      </p:sp>
      <p:sp>
        <p:nvSpPr>
          <p:cNvPr id="416" name="Google Shape;416;p56"/>
          <p:cNvSpPr txBox="1"/>
          <p:nvPr>
            <p:ph idx="1" type="body"/>
          </p:nvPr>
        </p:nvSpPr>
        <p:spPr>
          <a:xfrm>
            <a:off x="838200" y="1825625"/>
            <a:ext cx="10515600" cy="4351338"/>
          </a:xfrm>
          <a:prstGeom prst="rect">
            <a:avLst/>
          </a:prstGeom>
          <a:noFill/>
          <a:ln>
            <a:noFill/>
          </a:ln>
        </p:spPr>
        <p:txBody>
          <a:bodyPr anchorCtr="0" anchor="t" bIns="60925" lIns="121900" spcFirstLastPara="1" rIns="121900" wrap="square" tIns="60925">
            <a:noAutofit/>
          </a:bodyPr>
          <a:lstStyle/>
          <a:p>
            <a:pPr indent="-457189" lvl="0" marL="457189" rtl="0" algn="l">
              <a:lnSpc>
                <a:spcPct val="90000"/>
              </a:lnSpc>
              <a:spcBef>
                <a:spcPts val="0"/>
              </a:spcBef>
              <a:spcAft>
                <a:spcPts val="0"/>
              </a:spcAft>
              <a:buClr>
                <a:schemeClr val="dk1"/>
              </a:buClr>
              <a:buSzPts val="4000"/>
              <a:buChar char="•"/>
            </a:pPr>
            <a:r>
              <a:rPr lang="en" sz="3200">
                <a:latin typeface="Times New Roman"/>
                <a:ea typeface="Times New Roman"/>
                <a:cs typeface="Times New Roman"/>
                <a:sym typeface="Times New Roman"/>
              </a:rPr>
              <a:t>An injunction is a court order commanding an action, preventing or forbidding an action. See </a:t>
            </a:r>
            <a:r>
              <a:rPr b="1" lang="en" sz="3200">
                <a:latin typeface="Times New Roman"/>
                <a:ea typeface="Times New Roman"/>
                <a:cs typeface="Times New Roman"/>
                <a:sym typeface="Times New Roman"/>
              </a:rPr>
              <a:t>O 42 R 8 Lagos, </a:t>
            </a:r>
            <a:r>
              <a:rPr b="1" lang="en" sz="3200">
                <a:solidFill>
                  <a:srgbClr val="FF0000"/>
                </a:solidFill>
                <a:latin typeface="Times New Roman"/>
                <a:ea typeface="Times New Roman"/>
                <a:cs typeface="Times New Roman"/>
                <a:sym typeface="Times New Roman"/>
              </a:rPr>
              <a:t>O 32 R8 Abuja</a:t>
            </a:r>
            <a:endParaRPr sz="3200">
              <a:solidFill>
                <a:srgbClr val="FF0000"/>
              </a:solidFill>
            </a:endParaRPr>
          </a:p>
          <a:p>
            <a:pPr indent="-457189" lvl="0" marL="457189" rtl="0" algn="l">
              <a:lnSpc>
                <a:spcPct val="90000"/>
              </a:lnSpc>
              <a:spcBef>
                <a:spcPts val="1067"/>
              </a:spcBef>
              <a:spcAft>
                <a:spcPts val="0"/>
              </a:spcAft>
              <a:buClr>
                <a:schemeClr val="dk1"/>
              </a:buClr>
              <a:buSzPts val="4000"/>
              <a:buChar char="•"/>
            </a:pPr>
            <a:r>
              <a:rPr lang="en" sz="3200">
                <a:latin typeface="Times New Roman"/>
                <a:ea typeface="Times New Roman"/>
                <a:cs typeface="Times New Roman"/>
                <a:sym typeface="Times New Roman"/>
              </a:rPr>
              <a:t>There are two types:</a:t>
            </a:r>
            <a:endParaRPr sz="3200"/>
          </a:p>
          <a:p>
            <a:pPr indent="0" lvl="0" marL="0" rtl="0" algn="l">
              <a:lnSpc>
                <a:spcPct val="90000"/>
              </a:lnSpc>
              <a:spcBef>
                <a:spcPts val="1067"/>
              </a:spcBef>
              <a:spcAft>
                <a:spcPts val="0"/>
              </a:spcAft>
              <a:buClr>
                <a:schemeClr val="dk1"/>
              </a:buClr>
              <a:buSzPts val="4000"/>
              <a:buNone/>
            </a:pPr>
            <a:r>
              <a:rPr lang="en" sz="3200">
                <a:latin typeface="Times New Roman"/>
                <a:ea typeface="Times New Roman"/>
                <a:cs typeface="Times New Roman"/>
                <a:sym typeface="Times New Roman"/>
              </a:rPr>
              <a:t>- Interim injunction</a:t>
            </a:r>
            <a:endParaRPr sz="3200"/>
          </a:p>
          <a:p>
            <a:pPr indent="0" lvl="0" marL="0" rtl="0" algn="l">
              <a:lnSpc>
                <a:spcPct val="90000"/>
              </a:lnSpc>
              <a:spcBef>
                <a:spcPts val="1067"/>
              </a:spcBef>
              <a:spcAft>
                <a:spcPts val="0"/>
              </a:spcAft>
              <a:buClr>
                <a:schemeClr val="dk1"/>
              </a:buClr>
              <a:buSzPts val="4000"/>
              <a:buNone/>
            </a:pPr>
            <a:r>
              <a:rPr lang="en" sz="3200">
                <a:latin typeface="Times New Roman"/>
                <a:ea typeface="Times New Roman"/>
                <a:cs typeface="Times New Roman"/>
                <a:sym typeface="Times New Roman"/>
              </a:rPr>
              <a:t>- Interlocutory injunction</a:t>
            </a:r>
            <a:endParaRPr sz="3200"/>
          </a:p>
          <a:p>
            <a:pPr indent="0" lvl="0" marL="0" rtl="0" algn="l">
              <a:lnSpc>
                <a:spcPct val="90000"/>
              </a:lnSpc>
              <a:spcBef>
                <a:spcPts val="1067"/>
              </a:spcBef>
              <a:spcAft>
                <a:spcPts val="0"/>
              </a:spcAft>
              <a:buClr>
                <a:schemeClr val="dk1"/>
              </a:buClr>
              <a:buSzPts val="4000"/>
              <a:buNone/>
            </a:pPr>
            <a:r>
              <a:t/>
            </a:r>
            <a:endParaRPr sz="3200">
              <a:latin typeface="Times New Roman"/>
              <a:ea typeface="Times New Roman"/>
              <a:cs typeface="Times New Roman"/>
              <a:sym typeface="Times New Roman"/>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0" name="Shape 420"/>
        <p:cNvGrpSpPr/>
        <p:nvPr/>
      </p:nvGrpSpPr>
      <p:grpSpPr>
        <a:xfrm>
          <a:off x="0" y="0"/>
          <a:ext cx="0" cy="0"/>
          <a:chOff x="0" y="0"/>
          <a:chExt cx="0" cy="0"/>
        </a:xfrm>
      </p:grpSpPr>
      <p:sp>
        <p:nvSpPr>
          <p:cNvPr id="421" name="Google Shape;421;p57"/>
          <p:cNvSpPr txBox="1"/>
          <p:nvPr>
            <p:ph type="title"/>
          </p:nvPr>
        </p:nvSpPr>
        <p:spPr>
          <a:xfrm>
            <a:off x="838200" y="365125"/>
            <a:ext cx="10515600" cy="1325563"/>
          </a:xfrm>
          <a:prstGeom prst="rect">
            <a:avLst/>
          </a:prstGeom>
          <a:noFill/>
          <a:ln>
            <a:noFill/>
          </a:ln>
        </p:spPr>
        <p:txBody>
          <a:bodyPr anchorCtr="0" anchor="ctr" bIns="60925" lIns="121900" spcFirstLastPara="1" rIns="121900" wrap="square" tIns="60925">
            <a:noAutofit/>
          </a:bodyPr>
          <a:lstStyle/>
          <a:p>
            <a:pPr indent="0" lvl="0" marL="0" rtl="0" algn="ctr">
              <a:lnSpc>
                <a:spcPct val="90000"/>
              </a:lnSpc>
              <a:spcBef>
                <a:spcPts val="0"/>
              </a:spcBef>
              <a:spcAft>
                <a:spcPts val="0"/>
              </a:spcAft>
              <a:buClr>
                <a:schemeClr val="dk1"/>
              </a:buClr>
              <a:buSzPts val="4400"/>
              <a:buFont typeface="Times New Roman"/>
              <a:buNone/>
            </a:pPr>
            <a:r>
              <a:rPr b="1" lang="en">
                <a:latin typeface="Times New Roman"/>
                <a:ea typeface="Times New Roman"/>
                <a:cs typeface="Times New Roman"/>
                <a:sym typeface="Times New Roman"/>
              </a:rPr>
              <a:t>Interim Injunction</a:t>
            </a:r>
            <a:endParaRPr b="1">
              <a:latin typeface="Times New Roman"/>
              <a:ea typeface="Times New Roman"/>
              <a:cs typeface="Times New Roman"/>
              <a:sym typeface="Times New Roman"/>
            </a:endParaRPr>
          </a:p>
        </p:txBody>
      </p:sp>
      <p:sp>
        <p:nvSpPr>
          <p:cNvPr id="422" name="Google Shape;422;p57"/>
          <p:cNvSpPr txBox="1"/>
          <p:nvPr>
            <p:ph idx="1" type="body"/>
          </p:nvPr>
        </p:nvSpPr>
        <p:spPr>
          <a:xfrm>
            <a:off x="369330" y="1513703"/>
            <a:ext cx="11176000" cy="4983200"/>
          </a:xfrm>
          <a:prstGeom prst="rect">
            <a:avLst/>
          </a:prstGeom>
          <a:noFill/>
          <a:ln>
            <a:noFill/>
          </a:ln>
        </p:spPr>
        <p:txBody>
          <a:bodyPr anchorCtr="0" anchor="t" bIns="60925" lIns="121900" spcFirstLastPara="1" rIns="121900" wrap="square" tIns="60925">
            <a:noAutofit/>
          </a:bodyPr>
          <a:lstStyle/>
          <a:p>
            <a:pPr indent="-457189" lvl="0" marL="457189" rtl="0" algn="l">
              <a:lnSpc>
                <a:spcPct val="90000"/>
              </a:lnSpc>
              <a:spcBef>
                <a:spcPts val="0"/>
              </a:spcBef>
              <a:spcAft>
                <a:spcPts val="0"/>
              </a:spcAft>
              <a:buClr>
                <a:schemeClr val="dk1"/>
              </a:buClr>
              <a:buSzPts val="3300"/>
              <a:buChar char="•"/>
            </a:pPr>
            <a:r>
              <a:rPr lang="en" sz="3200">
                <a:latin typeface="Times New Roman"/>
                <a:ea typeface="Times New Roman"/>
                <a:cs typeface="Times New Roman"/>
                <a:sym typeface="Times New Roman"/>
              </a:rPr>
              <a:t>It is a temporary order of court granted to preserve the res until a named date or hearing of the motion on notice</a:t>
            </a:r>
            <a:endParaRPr sz="3200"/>
          </a:p>
          <a:p>
            <a:pPr indent="-457189" lvl="0" marL="457189" rtl="0" algn="l">
              <a:lnSpc>
                <a:spcPct val="90000"/>
              </a:lnSpc>
              <a:spcBef>
                <a:spcPts val="880"/>
              </a:spcBef>
              <a:spcAft>
                <a:spcPts val="0"/>
              </a:spcAft>
              <a:buClr>
                <a:schemeClr val="dk1"/>
              </a:buClr>
              <a:buSzPts val="3300"/>
              <a:buChar char="•"/>
            </a:pPr>
            <a:r>
              <a:rPr lang="en" sz="3200">
                <a:latin typeface="Times New Roman"/>
                <a:ea typeface="Times New Roman"/>
                <a:cs typeface="Times New Roman"/>
                <a:sym typeface="Times New Roman"/>
              </a:rPr>
              <a:t>It is granted in urgent situation</a:t>
            </a:r>
            <a:endParaRPr sz="3200"/>
          </a:p>
          <a:p>
            <a:pPr indent="-457189" lvl="0" marL="457189" rtl="0" algn="l">
              <a:lnSpc>
                <a:spcPct val="90000"/>
              </a:lnSpc>
              <a:spcBef>
                <a:spcPts val="880"/>
              </a:spcBef>
              <a:spcAft>
                <a:spcPts val="0"/>
              </a:spcAft>
              <a:buClr>
                <a:schemeClr val="dk1"/>
              </a:buClr>
              <a:buSzPts val="3300"/>
              <a:buChar char="•"/>
            </a:pPr>
            <a:r>
              <a:rPr lang="en" sz="3200">
                <a:latin typeface="Times New Roman"/>
                <a:ea typeface="Times New Roman"/>
                <a:cs typeface="Times New Roman"/>
                <a:sym typeface="Times New Roman"/>
              </a:rPr>
              <a:t>It is normally </a:t>
            </a:r>
            <a:r>
              <a:rPr i="1" lang="en" sz="3200">
                <a:latin typeface="Times New Roman"/>
                <a:ea typeface="Times New Roman"/>
                <a:cs typeface="Times New Roman"/>
                <a:sym typeface="Times New Roman"/>
              </a:rPr>
              <a:t>ex parte </a:t>
            </a:r>
            <a:endParaRPr sz="3200"/>
          </a:p>
          <a:p>
            <a:pPr indent="-457189" lvl="0" marL="457189" rtl="0" algn="l">
              <a:lnSpc>
                <a:spcPct val="90000"/>
              </a:lnSpc>
              <a:spcBef>
                <a:spcPts val="880"/>
              </a:spcBef>
              <a:spcAft>
                <a:spcPts val="0"/>
              </a:spcAft>
              <a:buClr>
                <a:schemeClr val="dk1"/>
              </a:buClr>
              <a:buSzPts val="3300"/>
              <a:buChar char="•"/>
            </a:pPr>
            <a:r>
              <a:rPr lang="en" sz="3200">
                <a:latin typeface="Times New Roman"/>
                <a:ea typeface="Times New Roman"/>
                <a:cs typeface="Times New Roman"/>
                <a:sym typeface="Times New Roman"/>
              </a:rPr>
              <a:t>It has a short life span</a:t>
            </a:r>
            <a:endParaRPr sz="3200"/>
          </a:p>
          <a:p>
            <a:pPr indent="-457189" lvl="0" marL="457189" rtl="0" algn="l">
              <a:lnSpc>
                <a:spcPct val="90000"/>
              </a:lnSpc>
              <a:spcBef>
                <a:spcPts val="880"/>
              </a:spcBef>
              <a:spcAft>
                <a:spcPts val="0"/>
              </a:spcAft>
              <a:buClr>
                <a:schemeClr val="dk1"/>
              </a:buClr>
              <a:buSzPts val="3300"/>
              <a:buChar char="•"/>
            </a:pPr>
            <a:r>
              <a:rPr lang="en" sz="3200">
                <a:latin typeface="Times New Roman"/>
                <a:ea typeface="Times New Roman"/>
                <a:cs typeface="Times New Roman"/>
                <a:sym typeface="Times New Roman"/>
              </a:rPr>
              <a:t>It last pending the determination of motion on notice.</a:t>
            </a:r>
            <a:endParaRPr sz="3200"/>
          </a:p>
          <a:p>
            <a:pPr indent="-457189" lvl="0" marL="457189" rtl="0" algn="l">
              <a:lnSpc>
                <a:spcPct val="90000"/>
              </a:lnSpc>
              <a:spcBef>
                <a:spcPts val="880"/>
              </a:spcBef>
              <a:spcAft>
                <a:spcPts val="0"/>
              </a:spcAft>
              <a:buClr>
                <a:schemeClr val="dk1"/>
              </a:buClr>
              <a:buSzPts val="3300"/>
              <a:buChar char="•"/>
            </a:pPr>
            <a:r>
              <a:rPr lang="en" sz="3200">
                <a:latin typeface="Times New Roman"/>
                <a:ea typeface="Times New Roman"/>
                <a:cs typeface="Times New Roman"/>
                <a:sym typeface="Times New Roman"/>
              </a:rPr>
              <a:t>See </a:t>
            </a:r>
            <a:r>
              <a:rPr b="1" lang="en" sz="3200">
                <a:latin typeface="Times New Roman"/>
                <a:ea typeface="Times New Roman"/>
                <a:cs typeface="Times New Roman"/>
                <a:sym typeface="Times New Roman"/>
              </a:rPr>
              <a:t>KOTOYE V. CBN (1998) 1 NWLR (PT 98) 419, O 43 R1(2) Lag, O 30 R1(2) Abuja</a:t>
            </a:r>
            <a:endParaRPr b="1" sz="3200">
              <a:latin typeface="Times New Roman"/>
              <a:ea typeface="Times New Roman"/>
              <a:cs typeface="Times New Roman"/>
              <a:sym typeface="Times New Roman"/>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6" name="Shape 426"/>
        <p:cNvGrpSpPr/>
        <p:nvPr/>
      </p:nvGrpSpPr>
      <p:grpSpPr>
        <a:xfrm>
          <a:off x="0" y="0"/>
          <a:ext cx="0" cy="0"/>
          <a:chOff x="0" y="0"/>
          <a:chExt cx="0" cy="0"/>
        </a:xfrm>
      </p:grpSpPr>
      <p:sp>
        <p:nvSpPr>
          <p:cNvPr id="427" name="Google Shape;427;p58"/>
          <p:cNvSpPr txBox="1"/>
          <p:nvPr>
            <p:ph type="title"/>
          </p:nvPr>
        </p:nvSpPr>
        <p:spPr>
          <a:xfrm>
            <a:off x="838200" y="365125"/>
            <a:ext cx="10515600" cy="1325563"/>
          </a:xfrm>
          <a:prstGeom prst="rect">
            <a:avLst/>
          </a:prstGeom>
          <a:noFill/>
          <a:ln>
            <a:noFill/>
          </a:ln>
        </p:spPr>
        <p:txBody>
          <a:bodyPr anchorCtr="0" anchor="ctr" bIns="60925" lIns="121900" spcFirstLastPara="1" rIns="121900" wrap="square" tIns="60925">
            <a:noAutofit/>
          </a:bodyPr>
          <a:lstStyle/>
          <a:p>
            <a:pPr indent="0" lvl="0" marL="0" rtl="0" algn="ctr">
              <a:lnSpc>
                <a:spcPct val="90000"/>
              </a:lnSpc>
              <a:spcBef>
                <a:spcPts val="0"/>
              </a:spcBef>
              <a:spcAft>
                <a:spcPts val="0"/>
              </a:spcAft>
              <a:buClr>
                <a:schemeClr val="dk1"/>
              </a:buClr>
              <a:buSzPts val="3959"/>
              <a:buFont typeface="Times New Roman"/>
              <a:buNone/>
            </a:pPr>
            <a:r>
              <a:rPr b="1" lang="en" sz="5279">
                <a:latin typeface="Times New Roman"/>
                <a:ea typeface="Times New Roman"/>
                <a:cs typeface="Times New Roman"/>
                <a:sym typeface="Times New Roman"/>
              </a:rPr>
              <a:t>Interlocutory Injunction</a:t>
            </a:r>
            <a:endParaRPr b="1" sz="5279">
              <a:latin typeface="Times New Roman"/>
              <a:ea typeface="Times New Roman"/>
              <a:cs typeface="Times New Roman"/>
              <a:sym typeface="Times New Roman"/>
            </a:endParaRPr>
          </a:p>
        </p:txBody>
      </p:sp>
      <p:sp>
        <p:nvSpPr>
          <p:cNvPr id="428" name="Google Shape;428;p58"/>
          <p:cNvSpPr txBox="1"/>
          <p:nvPr>
            <p:ph idx="1" type="body"/>
          </p:nvPr>
        </p:nvSpPr>
        <p:spPr>
          <a:xfrm>
            <a:off x="838200" y="1825625"/>
            <a:ext cx="10515600" cy="4351338"/>
          </a:xfrm>
          <a:prstGeom prst="rect">
            <a:avLst/>
          </a:prstGeom>
          <a:noFill/>
          <a:ln>
            <a:noFill/>
          </a:ln>
        </p:spPr>
        <p:txBody>
          <a:bodyPr anchorCtr="0" anchor="t" bIns="60925" lIns="121900" spcFirstLastPara="1" rIns="121900" wrap="square" tIns="60925">
            <a:noAutofit/>
          </a:bodyPr>
          <a:lstStyle/>
          <a:p>
            <a:pPr indent="-457189" lvl="0" marL="457189" rtl="0" algn="l">
              <a:lnSpc>
                <a:spcPct val="80000"/>
              </a:lnSpc>
              <a:spcBef>
                <a:spcPts val="0"/>
              </a:spcBef>
              <a:spcAft>
                <a:spcPts val="0"/>
              </a:spcAft>
              <a:buClr>
                <a:schemeClr val="dk1"/>
              </a:buClr>
              <a:buSzPts val="3740"/>
              <a:buChar char="•"/>
            </a:pPr>
            <a:r>
              <a:rPr lang="en" sz="3200">
                <a:latin typeface="Times New Roman"/>
                <a:ea typeface="Times New Roman"/>
                <a:cs typeface="Times New Roman"/>
                <a:sym typeface="Times New Roman"/>
              </a:rPr>
              <a:t>It is granted after both parties have been heard.</a:t>
            </a:r>
            <a:endParaRPr sz="3200"/>
          </a:p>
          <a:p>
            <a:pPr indent="-457189" lvl="0" marL="457189" rtl="0" algn="l">
              <a:lnSpc>
                <a:spcPct val="80000"/>
              </a:lnSpc>
              <a:spcBef>
                <a:spcPts val="997"/>
              </a:spcBef>
              <a:spcAft>
                <a:spcPts val="0"/>
              </a:spcAft>
              <a:buClr>
                <a:schemeClr val="dk1"/>
              </a:buClr>
              <a:buSzPts val="3740"/>
              <a:buChar char="•"/>
            </a:pPr>
            <a:r>
              <a:rPr lang="en" sz="3200">
                <a:latin typeface="Times New Roman"/>
                <a:ea typeface="Times New Roman"/>
                <a:cs typeface="Times New Roman"/>
                <a:sym typeface="Times New Roman"/>
              </a:rPr>
              <a:t>It is to last during the  pendency of the suit. </a:t>
            </a:r>
            <a:endParaRPr sz="3200"/>
          </a:p>
          <a:p>
            <a:pPr indent="-457189" lvl="0" marL="457189" rtl="0" algn="l">
              <a:lnSpc>
                <a:spcPct val="80000"/>
              </a:lnSpc>
              <a:spcBef>
                <a:spcPts val="997"/>
              </a:spcBef>
              <a:spcAft>
                <a:spcPts val="0"/>
              </a:spcAft>
              <a:buClr>
                <a:schemeClr val="dk1"/>
              </a:buClr>
              <a:buSzPts val="3740"/>
              <a:buChar char="•"/>
            </a:pPr>
            <a:r>
              <a:rPr lang="en" sz="3200">
                <a:latin typeface="Times New Roman"/>
                <a:ea typeface="Times New Roman"/>
                <a:cs typeface="Times New Roman"/>
                <a:sym typeface="Times New Roman"/>
              </a:rPr>
              <a:t>It is through motion on notice. See </a:t>
            </a:r>
            <a:r>
              <a:rPr b="1" lang="en" sz="3200">
                <a:latin typeface="Times New Roman"/>
                <a:ea typeface="Times New Roman"/>
                <a:cs typeface="Times New Roman"/>
                <a:sym typeface="Times New Roman"/>
              </a:rPr>
              <a:t>KOTOYE V CBN Supra</a:t>
            </a:r>
            <a:endParaRPr sz="3200"/>
          </a:p>
          <a:p>
            <a:pPr indent="-457189" lvl="0" marL="457189" rtl="0" algn="l">
              <a:lnSpc>
                <a:spcPct val="80000"/>
              </a:lnSpc>
              <a:spcBef>
                <a:spcPts val="997"/>
              </a:spcBef>
              <a:spcAft>
                <a:spcPts val="0"/>
              </a:spcAft>
              <a:buClr>
                <a:schemeClr val="dk1"/>
              </a:buClr>
              <a:buSzPts val="3740"/>
              <a:buChar char="•"/>
            </a:pPr>
            <a:r>
              <a:rPr lang="en" sz="3200">
                <a:latin typeface="Times New Roman"/>
                <a:ea typeface="Times New Roman"/>
                <a:cs typeface="Times New Roman"/>
                <a:sym typeface="Times New Roman"/>
              </a:rPr>
              <a:t>It is not granted in respect of a completed act. See </a:t>
            </a:r>
            <a:r>
              <a:rPr b="1" lang="en" sz="3200">
                <a:latin typeface="Times New Roman"/>
                <a:ea typeface="Times New Roman"/>
                <a:cs typeface="Times New Roman"/>
                <a:sym typeface="Times New Roman"/>
              </a:rPr>
              <a:t>OKAFOR V AG ANAMBRA (1992) 2SCNJ 219</a:t>
            </a:r>
            <a:endParaRPr b="1" sz="3200">
              <a:latin typeface="Times New Roman"/>
              <a:ea typeface="Times New Roman"/>
              <a:cs typeface="Times New Roman"/>
              <a:sym typeface="Times New Roman"/>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59"/>
          <p:cNvSpPr txBox="1"/>
          <p:nvPr>
            <p:ph type="title"/>
          </p:nvPr>
        </p:nvSpPr>
        <p:spPr>
          <a:xfrm>
            <a:off x="838200" y="365125"/>
            <a:ext cx="10515600" cy="1325563"/>
          </a:xfrm>
          <a:prstGeom prst="rect">
            <a:avLst/>
          </a:prstGeom>
          <a:noFill/>
          <a:ln>
            <a:noFill/>
          </a:ln>
        </p:spPr>
        <p:txBody>
          <a:bodyPr anchorCtr="0" anchor="ctr" bIns="60925" lIns="121900" spcFirstLastPara="1" rIns="121900" wrap="square" tIns="60925">
            <a:noAutofit/>
          </a:bodyPr>
          <a:lstStyle/>
          <a:p>
            <a:pPr indent="0" lvl="0" marL="0" rtl="0" algn="ctr">
              <a:lnSpc>
                <a:spcPct val="90000"/>
              </a:lnSpc>
              <a:spcBef>
                <a:spcPts val="0"/>
              </a:spcBef>
              <a:spcAft>
                <a:spcPts val="0"/>
              </a:spcAft>
              <a:buClr>
                <a:schemeClr val="dk1"/>
              </a:buClr>
              <a:buSzPts val="3959"/>
              <a:buFont typeface="Times New Roman"/>
              <a:buNone/>
            </a:pPr>
            <a:r>
              <a:rPr b="1" lang="en" sz="3200">
                <a:latin typeface="Times New Roman"/>
                <a:ea typeface="Times New Roman"/>
                <a:cs typeface="Times New Roman"/>
                <a:sym typeface="Times New Roman"/>
              </a:rPr>
              <a:t>Conditions for grant of Interlocutory Injunction</a:t>
            </a:r>
            <a:endParaRPr b="1" sz="3200">
              <a:latin typeface="Times New Roman"/>
              <a:ea typeface="Times New Roman"/>
              <a:cs typeface="Times New Roman"/>
              <a:sym typeface="Times New Roman"/>
            </a:endParaRPr>
          </a:p>
        </p:txBody>
      </p:sp>
      <p:sp>
        <p:nvSpPr>
          <p:cNvPr id="434" name="Google Shape;434;p59"/>
          <p:cNvSpPr txBox="1"/>
          <p:nvPr>
            <p:ph idx="1" type="body"/>
          </p:nvPr>
        </p:nvSpPr>
        <p:spPr>
          <a:xfrm>
            <a:off x="609600" y="1837767"/>
            <a:ext cx="10972800" cy="4708400"/>
          </a:xfrm>
          <a:prstGeom prst="rect">
            <a:avLst/>
          </a:prstGeom>
          <a:noFill/>
          <a:ln>
            <a:noFill/>
          </a:ln>
        </p:spPr>
        <p:txBody>
          <a:bodyPr anchorCtr="0" anchor="t" bIns="60925" lIns="121900" spcFirstLastPara="1" rIns="121900" wrap="square" tIns="60925">
            <a:noAutofit/>
          </a:bodyPr>
          <a:lstStyle/>
          <a:p>
            <a:pPr indent="-457189" lvl="0" marL="457189" rtl="0" algn="l">
              <a:lnSpc>
                <a:spcPct val="90000"/>
              </a:lnSpc>
              <a:spcBef>
                <a:spcPts val="0"/>
              </a:spcBef>
              <a:spcAft>
                <a:spcPts val="0"/>
              </a:spcAft>
              <a:buClr>
                <a:schemeClr val="dk1"/>
              </a:buClr>
              <a:buSzPts val="3200"/>
              <a:buChar char="•"/>
            </a:pPr>
            <a:r>
              <a:rPr lang="en" sz="3200">
                <a:latin typeface="Times New Roman"/>
                <a:ea typeface="Times New Roman"/>
                <a:cs typeface="Times New Roman"/>
                <a:sym typeface="Times New Roman"/>
              </a:rPr>
              <a:t>Existence of legal or equitable right</a:t>
            </a:r>
            <a:endParaRPr sz="3200"/>
          </a:p>
          <a:p>
            <a:pPr indent="-457189" lvl="0" marL="457189" rtl="0" algn="l">
              <a:lnSpc>
                <a:spcPct val="90000"/>
              </a:lnSpc>
              <a:spcBef>
                <a:spcPts val="853"/>
              </a:spcBef>
              <a:spcAft>
                <a:spcPts val="0"/>
              </a:spcAft>
              <a:buClr>
                <a:schemeClr val="dk1"/>
              </a:buClr>
              <a:buSzPts val="3200"/>
              <a:buChar char="•"/>
            </a:pPr>
            <a:r>
              <a:rPr lang="en" sz="3200">
                <a:latin typeface="Times New Roman"/>
                <a:ea typeface="Times New Roman"/>
                <a:cs typeface="Times New Roman"/>
                <a:sym typeface="Times New Roman"/>
              </a:rPr>
              <a:t>Existence of substantial issue to be tried</a:t>
            </a:r>
            <a:endParaRPr sz="3200"/>
          </a:p>
          <a:p>
            <a:pPr indent="-457189" lvl="0" marL="457189" rtl="0" algn="l">
              <a:lnSpc>
                <a:spcPct val="90000"/>
              </a:lnSpc>
              <a:spcBef>
                <a:spcPts val="853"/>
              </a:spcBef>
              <a:spcAft>
                <a:spcPts val="0"/>
              </a:spcAft>
              <a:buClr>
                <a:schemeClr val="dk1"/>
              </a:buClr>
              <a:buSzPts val="3200"/>
              <a:buChar char="•"/>
            </a:pPr>
            <a:r>
              <a:rPr lang="en" sz="3200">
                <a:latin typeface="Times New Roman"/>
                <a:ea typeface="Times New Roman"/>
                <a:cs typeface="Times New Roman"/>
                <a:sym typeface="Times New Roman"/>
              </a:rPr>
              <a:t>Balance of convenience</a:t>
            </a:r>
            <a:endParaRPr sz="3200"/>
          </a:p>
          <a:p>
            <a:pPr indent="-457189" lvl="0" marL="457189" rtl="0" algn="l">
              <a:lnSpc>
                <a:spcPct val="90000"/>
              </a:lnSpc>
              <a:spcBef>
                <a:spcPts val="853"/>
              </a:spcBef>
              <a:spcAft>
                <a:spcPts val="0"/>
              </a:spcAft>
              <a:buClr>
                <a:schemeClr val="dk1"/>
              </a:buClr>
              <a:buSzPts val="3200"/>
              <a:buChar char="•"/>
            </a:pPr>
            <a:r>
              <a:rPr lang="en" sz="3200">
                <a:latin typeface="Times New Roman"/>
                <a:ea typeface="Times New Roman"/>
                <a:cs typeface="Times New Roman"/>
                <a:sym typeface="Times New Roman"/>
              </a:rPr>
              <a:t>Irreparable damage or injury</a:t>
            </a:r>
            <a:endParaRPr sz="3200"/>
          </a:p>
          <a:p>
            <a:pPr indent="-457189" lvl="0" marL="457189" rtl="0" algn="l">
              <a:lnSpc>
                <a:spcPct val="90000"/>
              </a:lnSpc>
              <a:spcBef>
                <a:spcPts val="853"/>
              </a:spcBef>
              <a:spcAft>
                <a:spcPts val="0"/>
              </a:spcAft>
              <a:buClr>
                <a:schemeClr val="dk1"/>
              </a:buClr>
              <a:buSzPts val="3200"/>
              <a:buChar char="•"/>
            </a:pPr>
            <a:r>
              <a:rPr lang="en" sz="3200">
                <a:latin typeface="Times New Roman"/>
                <a:ea typeface="Times New Roman"/>
                <a:cs typeface="Times New Roman"/>
                <a:sym typeface="Times New Roman"/>
              </a:rPr>
              <a:t>Conduct of the parties( i.e. behaviors of the parties before and during the time of the application)</a:t>
            </a:r>
            <a:endParaRPr sz="3200"/>
          </a:p>
          <a:p>
            <a:pPr indent="-457189" lvl="0" marL="457189" rtl="0" algn="l">
              <a:lnSpc>
                <a:spcPct val="90000"/>
              </a:lnSpc>
              <a:spcBef>
                <a:spcPts val="853"/>
              </a:spcBef>
              <a:spcAft>
                <a:spcPts val="0"/>
              </a:spcAft>
              <a:buClr>
                <a:schemeClr val="dk1"/>
              </a:buClr>
              <a:buSzPts val="3200"/>
              <a:buChar char="•"/>
            </a:pPr>
            <a:r>
              <a:rPr lang="en" sz="3200">
                <a:latin typeface="Times New Roman"/>
                <a:ea typeface="Times New Roman"/>
                <a:cs typeface="Times New Roman"/>
                <a:sym typeface="Times New Roman"/>
              </a:rPr>
              <a:t>Undertaking as to damages</a:t>
            </a:r>
            <a:endParaRPr sz="3200"/>
          </a:p>
          <a:p>
            <a:pPr indent="0" lvl="0" marL="0" rtl="0" algn="l">
              <a:lnSpc>
                <a:spcPct val="90000"/>
              </a:lnSpc>
              <a:spcBef>
                <a:spcPts val="853"/>
              </a:spcBef>
              <a:spcAft>
                <a:spcPts val="0"/>
              </a:spcAft>
              <a:buClr>
                <a:schemeClr val="dk1"/>
              </a:buClr>
              <a:buSzPts val="3200"/>
              <a:buNone/>
            </a:pPr>
            <a:r>
              <a:rPr lang="en" sz="3200">
                <a:latin typeface="Times New Roman"/>
                <a:ea typeface="Times New Roman"/>
                <a:cs typeface="Times New Roman"/>
                <a:sym typeface="Times New Roman"/>
              </a:rPr>
              <a:t>See </a:t>
            </a:r>
            <a:r>
              <a:rPr b="1" lang="en" sz="3200">
                <a:latin typeface="Times New Roman"/>
                <a:ea typeface="Times New Roman"/>
                <a:cs typeface="Times New Roman"/>
                <a:sym typeface="Times New Roman"/>
              </a:rPr>
              <a:t>OBEYA MEMORIAL HOSPITAL V AG FEDERATION ( 1987) 7SCNJ 42</a:t>
            </a:r>
            <a:endParaRPr b="1" sz="3200">
              <a:latin typeface="Times New Roman"/>
              <a:ea typeface="Times New Roman"/>
              <a:cs typeface="Times New Roman"/>
              <a:sym typeface="Times New Roman"/>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8" name="Shape 438"/>
        <p:cNvGrpSpPr/>
        <p:nvPr/>
      </p:nvGrpSpPr>
      <p:grpSpPr>
        <a:xfrm>
          <a:off x="0" y="0"/>
          <a:ext cx="0" cy="0"/>
          <a:chOff x="0" y="0"/>
          <a:chExt cx="0" cy="0"/>
        </a:xfrm>
      </p:grpSpPr>
      <p:sp>
        <p:nvSpPr>
          <p:cNvPr id="439" name="Google Shape;439;p60"/>
          <p:cNvSpPr txBox="1"/>
          <p:nvPr>
            <p:ph type="title"/>
          </p:nvPr>
        </p:nvSpPr>
        <p:spPr>
          <a:xfrm>
            <a:off x="838200" y="365125"/>
            <a:ext cx="10515600" cy="1325563"/>
          </a:xfrm>
          <a:prstGeom prst="rect">
            <a:avLst/>
          </a:prstGeom>
          <a:noFill/>
          <a:ln>
            <a:noFill/>
          </a:ln>
        </p:spPr>
        <p:txBody>
          <a:bodyPr anchorCtr="0" anchor="ctr" bIns="60925" lIns="121900" spcFirstLastPara="1" rIns="121900" wrap="square" tIns="60925">
            <a:noAutofit/>
          </a:bodyPr>
          <a:lstStyle/>
          <a:p>
            <a:pPr indent="0" lvl="0" marL="0" rtl="0" algn="ctr">
              <a:lnSpc>
                <a:spcPct val="90000"/>
              </a:lnSpc>
              <a:spcBef>
                <a:spcPts val="0"/>
              </a:spcBef>
              <a:spcAft>
                <a:spcPts val="0"/>
              </a:spcAft>
              <a:buClr>
                <a:schemeClr val="dk1"/>
              </a:buClr>
              <a:buSzPts val="4400"/>
              <a:buFont typeface="Times New Roman"/>
              <a:buNone/>
            </a:pPr>
            <a:r>
              <a:rPr b="1" lang="en">
                <a:latin typeface="Times New Roman"/>
                <a:ea typeface="Times New Roman"/>
                <a:cs typeface="Times New Roman"/>
                <a:sym typeface="Times New Roman"/>
              </a:rPr>
              <a:t>Mandatory Injunction</a:t>
            </a:r>
            <a:endParaRPr b="1">
              <a:latin typeface="Times New Roman"/>
              <a:ea typeface="Times New Roman"/>
              <a:cs typeface="Times New Roman"/>
              <a:sym typeface="Times New Roman"/>
            </a:endParaRPr>
          </a:p>
        </p:txBody>
      </p:sp>
      <p:sp>
        <p:nvSpPr>
          <p:cNvPr id="440" name="Google Shape;440;p60"/>
          <p:cNvSpPr txBox="1"/>
          <p:nvPr>
            <p:ph idx="1" type="body"/>
          </p:nvPr>
        </p:nvSpPr>
        <p:spPr>
          <a:xfrm>
            <a:off x="838200" y="1825625"/>
            <a:ext cx="10515600" cy="4351338"/>
          </a:xfrm>
          <a:prstGeom prst="rect">
            <a:avLst/>
          </a:prstGeom>
          <a:noFill/>
          <a:ln>
            <a:noFill/>
          </a:ln>
        </p:spPr>
        <p:txBody>
          <a:bodyPr anchorCtr="0" anchor="t" bIns="60925" lIns="121900" spcFirstLastPara="1" rIns="121900" wrap="square" tIns="60925">
            <a:noAutofit/>
          </a:bodyPr>
          <a:lstStyle/>
          <a:p>
            <a:pPr indent="-457189" lvl="0" marL="457189" rtl="0" algn="l">
              <a:lnSpc>
                <a:spcPct val="90000"/>
              </a:lnSpc>
              <a:spcBef>
                <a:spcPts val="0"/>
              </a:spcBef>
              <a:spcAft>
                <a:spcPts val="0"/>
              </a:spcAft>
              <a:buClr>
                <a:schemeClr val="dk1"/>
              </a:buClr>
              <a:buSzPts val="3740"/>
              <a:buChar char="•"/>
            </a:pPr>
            <a:r>
              <a:rPr lang="en" sz="3200">
                <a:latin typeface="Times New Roman"/>
                <a:ea typeface="Times New Roman"/>
                <a:cs typeface="Times New Roman"/>
                <a:sym typeface="Times New Roman"/>
              </a:rPr>
              <a:t>It is an order compelling a party to do an act in some cases ( e.g. to forestall executive lawlessness).</a:t>
            </a:r>
            <a:endParaRPr sz="3200"/>
          </a:p>
          <a:p>
            <a:pPr indent="-457189" lvl="0" marL="457189" rtl="0" algn="l">
              <a:lnSpc>
                <a:spcPct val="90000"/>
              </a:lnSpc>
              <a:spcBef>
                <a:spcPts val="997"/>
              </a:spcBef>
              <a:spcAft>
                <a:spcPts val="0"/>
              </a:spcAft>
              <a:buClr>
                <a:schemeClr val="dk1"/>
              </a:buClr>
              <a:buSzPts val="3740"/>
              <a:buChar char="•"/>
            </a:pPr>
            <a:r>
              <a:rPr lang="en" sz="3200">
                <a:latin typeface="Times New Roman"/>
                <a:ea typeface="Times New Roman"/>
                <a:cs typeface="Times New Roman"/>
                <a:sym typeface="Times New Roman"/>
              </a:rPr>
              <a:t>It is to compel a Respondent to retrace his steps and to restore the  parties to the </a:t>
            </a:r>
            <a:r>
              <a:rPr b="1" i="1" lang="en" sz="3200">
                <a:latin typeface="Times New Roman"/>
                <a:ea typeface="Times New Roman"/>
                <a:cs typeface="Times New Roman"/>
                <a:sym typeface="Times New Roman"/>
              </a:rPr>
              <a:t>status quo ante bellum. </a:t>
            </a:r>
            <a:r>
              <a:rPr lang="en" sz="3200">
                <a:latin typeface="Times New Roman"/>
                <a:ea typeface="Times New Roman"/>
                <a:cs typeface="Times New Roman"/>
                <a:sym typeface="Times New Roman"/>
              </a:rPr>
              <a:t>See </a:t>
            </a:r>
            <a:r>
              <a:rPr b="1" lang="en" sz="3200">
                <a:latin typeface="Times New Roman"/>
                <a:ea typeface="Times New Roman"/>
                <a:cs typeface="Times New Roman"/>
                <a:sym typeface="Times New Roman"/>
              </a:rPr>
              <a:t>SULU GAMBARI V BUKOLA (2004) 1NWLR (PT853)122 @ 140-141</a:t>
            </a:r>
            <a:endParaRPr b="1" i="1" sz="3200">
              <a:latin typeface="Times New Roman"/>
              <a:ea typeface="Times New Roman"/>
              <a:cs typeface="Times New Roman"/>
              <a:sym typeface="Times New Roman"/>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4" name="Shape 444"/>
        <p:cNvGrpSpPr/>
        <p:nvPr/>
      </p:nvGrpSpPr>
      <p:grpSpPr>
        <a:xfrm>
          <a:off x="0" y="0"/>
          <a:ext cx="0" cy="0"/>
          <a:chOff x="0" y="0"/>
          <a:chExt cx="0" cy="0"/>
        </a:xfrm>
      </p:grpSpPr>
      <p:sp>
        <p:nvSpPr>
          <p:cNvPr id="445" name="Google Shape;445;p61"/>
          <p:cNvSpPr txBox="1"/>
          <p:nvPr>
            <p:ph type="title"/>
          </p:nvPr>
        </p:nvSpPr>
        <p:spPr>
          <a:xfrm>
            <a:off x="838200" y="365125"/>
            <a:ext cx="10515600" cy="1325563"/>
          </a:xfrm>
          <a:prstGeom prst="rect">
            <a:avLst/>
          </a:prstGeom>
          <a:noFill/>
          <a:ln>
            <a:noFill/>
          </a:ln>
        </p:spPr>
        <p:txBody>
          <a:bodyPr anchorCtr="0" anchor="ctr" bIns="60925" lIns="121900" spcFirstLastPara="1" rIns="121900" wrap="square" tIns="60925">
            <a:noAutofit/>
          </a:bodyPr>
          <a:lstStyle/>
          <a:p>
            <a:pPr indent="0" lvl="0" marL="0" rtl="0" algn="ctr">
              <a:lnSpc>
                <a:spcPct val="90000"/>
              </a:lnSpc>
              <a:spcBef>
                <a:spcPts val="0"/>
              </a:spcBef>
              <a:spcAft>
                <a:spcPts val="0"/>
              </a:spcAft>
              <a:buClr>
                <a:schemeClr val="dk1"/>
              </a:buClr>
              <a:buSzPts val="4400"/>
              <a:buFont typeface="Times New Roman"/>
              <a:buNone/>
            </a:pPr>
            <a:r>
              <a:rPr b="1" lang="en" sz="3200">
                <a:latin typeface="Times New Roman"/>
                <a:ea typeface="Times New Roman"/>
                <a:cs typeface="Times New Roman"/>
                <a:sym typeface="Times New Roman"/>
              </a:rPr>
              <a:t>Anton Piller Injunction</a:t>
            </a:r>
            <a:endParaRPr b="1" sz="3200">
              <a:latin typeface="Times New Roman"/>
              <a:ea typeface="Times New Roman"/>
              <a:cs typeface="Times New Roman"/>
              <a:sym typeface="Times New Roman"/>
            </a:endParaRPr>
          </a:p>
        </p:txBody>
      </p:sp>
      <p:sp>
        <p:nvSpPr>
          <p:cNvPr id="446" name="Google Shape;446;p61"/>
          <p:cNvSpPr txBox="1"/>
          <p:nvPr>
            <p:ph idx="1" type="body"/>
          </p:nvPr>
        </p:nvSpPr>
        <p:spPr>
          <a:xfrm>
            <a:off x="812800" y="1600163"/>
            <a:ext cx="10769600" cy="4983200"/>
          </a:xfrm>
          <a:prstGeom prst="rect">
            <a:avLst/>
          </a:prstGeom>
          <a:noFill/>
          <a:ln>
            <a:noFill/>
          </a:ln>
        </p:spPr>
        <p:txBody>
          <a:bodyPr anchorCtr="0" anchor="t" bIns="60925" lIns="121900" spcFirstLastPara="1" rIns="121900" wrap="square" tIns="60925">
            <a:noAutofit/>
          </a:bodyPr>
          <a:lstStyle/>
          <a:p>
            <a:pPr indent="-457189" lvl="0" marL="457189" rtl="0" algn="l">
              <a:lnSpc>
                <a:spcPct val="90000"/>
              </a:lnSpc>
              <a:spcBef>
                <a:spcPts val="0"/>
              </a:spcBef>
              <a:spcAft>
                <a:spcPts val="0"/>
              </a:spcAft>
              <a:buClr>
                <a:schemeClr val="dk1"/>
              </a:buClr>
              <a:buSzPts val="3600"/>
              <a:buChar char="•"/>
            </a:pPr>
            <a:r>
              <a:rPr lang="en" sz="2667">
                <a:latin typeface="Times New Roman"/>
                <a:ea typeface="Times New Roman"/>
                <a:cs typeface="Times New Roman"/>
                <a:sym typeface="Times New Roman"/>
              </a:rPr>
              <a:t>It is an </a:t>
            </a:r>
            <a:r>
              <a:rPr i="1" lang="en" sz="2667">
                <a:latin typeface="Times New Roman"/>
                <a:ea typeface="Times New Roman"/>
                <a:cs typeface="Times New Roman"/>
                <a:sym typeface="Times New Roman"/>
              </a:rPr>
              <a:t>ex parte </a:t>
            </a:r>
            <a:r>
              <a:rPr lang="en" sz="2667">
                <a:latin typeface="Times New Roman"/>
                <a:ea typeface="Times New Roman"/>
                <a:cs typeface="Times New Roman"/>
                <a:sym typeface="Times New Roman"/>
              </a:rPr>
              <a:t>order permitting the applicant to enter into the respondent premises to seize, detain and preserve goods or articles in possession of the respondent</a:t>
            </a:r>
            <a:endParaRPr sz="2667"/>
          </a:p>
          <a:p>
            <a:pPr indent="-457189" lvl="0" marL="457189" rtl="0" algn="l">
              <a:lnSpc>
                <a:spcPct val="90000"/>
              </a:lnSpc>
              <a:spcBef>
                <a:spcPts val="960"/>
              </a:spcBef>
              <a:spcAft>
                <a:spcPts val="0"/>
              </a:spcAft>
              <a:buClr>
                <a:schemeClr val="dk1"/>
              </a:buClr>
              <a:buSzPts val="3600"/>
              <a:buChar char="•"/>
            </a:pPr>
            <a:r>
              <a:rPr lang="en" sz="2667">
                <a:latin typeface="Times New Roman"/>
                <a:ea typeface="Times New Roman"/>
                <a:cs typeface="Times New Roman"/>
                <a:sym typeface="Times New Roman"/>
              </a:rPr>
              <a:t>It is granted in case of infringement of copy right, trademark, patent</a:t>
            </a:r>
            <a:endParaRPr sz="2667"/>
          </a:p>
          <a:p>
            <a:pPr indent="-457189" lvl="0" marL="457189" rtl="0" algn="l">
              <a:lnSpc>
                <a:spcPct val="90000"/>
              </a:lnSpc>
              <a:spcBef>
                <a:spcPts val="960"/>
              </a:spcBef>
              <a:spcAft>
                <a:spcPts val="0"/>
              </a:spcAft>
              <a:buClr>
                <a:schemeClr val="dk1"/>
              </a:buClr>
              <a:buSzPts val="3600"/>
              <a:buChar char="•"/>
            </a:pPr>
            <a:r>
              <a:rPr lang="en" sz="2667">
                <a:latin typeface="Times New Roman"/>
                <a:ea typeface="Times New Roman"/>
                <a:cs typeface="Times New Roman"/>
                <a:sym typeface="Times New Roman"/>
              </a:rPr>
              <a:t>See </a:t>
            </a:r>
            <a:r>
              <a:rPr b="1" lang="en" sz="2667">
                <a:latin typeface="Times New Roman"/>
                <a:ea typeface="Times New Roman"/>
                <a:cs typeface="Times New Roman"/>
                <a:sym typeface="Times New Roman"/>
              </a:rPr>
              <a:t>ANTON PILLER K,G V. MANUFACTURING PROCESSES LTD &amp; ORS (1976) 1 ALL ER 779</a:t>
            </a:r>
            <a:endParaRPr b="1" sz="2667">
              <a:latin typeface="Times New Roman"/>
              <a:ea typeface="Times New Roman"/>
              <a:cs typeface="Times New Roman"/>
              <a:sym typeface="Times New Roman"/>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0" name="Shape 450"/>
        <p:cNvGrpSpPr/>
        <p:nvPr/>
      </p:nvGrpSpPr>
      <p:grpSpPr>
        <a:xfrm>
          <a:off x="0" y="0"/>
          <a:ext cx="0" cy="0"/>
          <a:chOff x="0" y="0"/>
          <a:chExt cx="0" cy="0"/>
        </a:xfrm>
      </p:grpSpPr>
      <p:sp>
        <p:nvSpPr>
          <p:cNvPr id="451" name="Google Shape;451;p62"/>
          <p:cNvSpPr txBox="1"/>
          <p:nvPr>
            <p:ph type="title"/>
          </p:nvPr>
        </p:nvSpPr>
        <p:spPr>
          <a:xfrm>
            <a:off x="838200" y="365125"/>
            <a:ext cx="10515600" cy="1325563"/>
          </a:xfrm>
          <a:prstGeom prst="rect">
            <a:avLst/>
          </a:prstGeom>
          <a:noFill/>
          <a:ln>
            <a:noFill/>
          </a:ln>
        </p:spPr>
        <p:txBody>
          <a:bodyPr anchorCtr="0" anchor="ctr" bIns="60925" lIns="121900" spcFirstLastPara="1" rIns="121900" wrap="square" tIns="60925">
            <a:noAutofit/>
          </a:bodyPr>
          <a:lstStyle/>
          <a:p>
            <a:pPr indent="0" lvl="0" marL="0" rtl="0" algn="ctr">
              <a:lnSpc>
                <a:spcPct val="90000"/>
              </a:lnSpc>
              <a:spcBef>
                <a:spcPts val="0"/>
              </a:spcBef>
              <a:spcAft>
                <a:spcPts val="0"/>
              </a:spcAft>
              <a:buClr>
                <a:schemeClr val="dk1"/>
              </a:buClr>
              <a:buSzPts val="3600"/>
              <a:buFont typeface="Times New Roman"/>
              <a:buNone/>
            </a:pPr>
            <a:r>
              <a:rPr b="1" lang="en" sz="3600">
                <a:latin typeface="Times New Roman"/>
                <a:ea typeface="Times New Roman"/>
                <a:cs typeface="Times New Roman"/>
                <a:sym typeface="Times New Roman"/>
              </a:rPr>
              <a:t>Principles Guiding the grant of Anton Piller Injunction</a:t>
            </a:r>
            <a:endParaRPr b="1" sz="3600">
              <a:latin typeface="Times New Roman"/>
              <a:ea typeface="Times New Roman"/>
              <a:cs typeface="Times New Roman"/>
              <a:sym typeface="Times New Roman"/>
            </a:endParaRPr>
          </a:p>
        </p:txBody>
      </p:sp>
      <p:sp>
        <p:nvSpPr>
          <p:cNvPr id="452" name="Google Shape;452;p62"/>
          <p:cNvSpPr txBox="1"/>
          <p:nvPr>
            <p:ph idx="1" type="body"/>
          </p:nvPr>
        </p:nvSpPr>
        <p:spPr>
          <a:xfrm>
            <a:off x="838200" y="1825625"/>
            <a:ext cx="10515600" cy="4351338"/>
          </a:xfrm>
          <a:prstGeom prst="rect">
            <a:avLst/>
          </a:prstGeom>
          <a:noFill/>
          <a:ln>
            <a:noFill/>
          </a:ln>
        </p:spPr>
        <p:txBody>
          <a:bodyPr anchorCtr="0" anchor="t" bIns="60925" lIns="121900" spcFirstLastPara="1" rIns="121900" wrap="square" tIns="60925">
            <a:noAutofit/>
          </a:bodyPr>
          <a:lstStyle/>
          <a:p>
            <a:pPr indent="-457189" lvl="0" marL="457189" rtl="0" algn="l">
              <a:lnSpc>
                <a:spcPct val="90000"/>
              </a:lnSpc>
              <a:spcBef>
                <a:spcPts val="0"/>
              </a:spcBef>
              <a:spcAft>
                <a:spcPts val="0"/>
              </a:spcAft>
              <a:buClr>
                <a:schemeClr val="dk1"/>
              </a:buClr>
              <a:buSzPts val="3500"/>
              <a:buChar char="•"/>
            </a:pPr>
            <a:r>
              <a:rPr lang="en" sz="3200">
                <a:latin typeface="Times New Roman"/>
                <a:ea typeface="Times New Roman"/>
                <a:cs typeface="Times New Roman"/>
                <a:sym typeface="Times New Roman"/>
              </a:rPr>
              <a:t>The guiding principles was laid in </a:t>
            </a:r>
            <a:r>
              <a:rPr b="1" lang="en" sz="3200">
                <a:latin typeface="Times New Roman"/>
                <a:ea typeface="Times New Roman"/>
                <a:cs typeface="Times New Roman"/>
                <a:sym typeface="Times New Roman"/>
              </a:rPr>
              <a:t>FERDO LTD V UNIBRO STORES ( 1980) Fleet Street Report 489</a:t>
            </a:r>
            <a:r>
              <a:rPr lang="en" sz="3200">
                <a:latin typeface="Times New Roman"/>
                <a:ea typeface="Times New Roman"/>
                <a:cs typeface="Times New Roman"/>
                <a:sym typeface="Times New Roman"/>
              </a:rPr>
              <a:t> as follows:</a:t>
            </a:r>
            <a:endParaRPr sz="3200"/>
          </a:p>
          <a:p>
            <a:pPr indent="-457189" lvl="0" marL="457189" rtl="0" algn="l">
              <a:lnSpc>
                <a:spcPct val="90000"/>
              </a:lnSpc>
              <a:spcBef>
                <a:spcPts val="933"/>
              </a:spcBef>
              <a:spcAft>
                <a:spcPts val="0"/>
              </a:spcAft>
              <a:buClr>
                <a:schemeClr val="dk1"/>
              </a:buClr>
              <a:buSzPts val="3500"/>
              <a:buFont typeface="Noto Sans Symbols"/>
              <a:buChar char="✔"/>
            </a:pPr>
            <a:r>
              <a:rPr lang="en" sz="3200">
                <a:latin typeface="Times New Roman"/>
                <a:ea typeface="Times New Roman"/>
                <a:cs typeface="Times New Roman"/>
                <a:sym typeface="Times New Roman"/>
              </a:rPr>
              <a:t>The Applicant must show that there is an  infringement against his trade marks, copy right, patent right or designs.</a:t>
            </a:r>
            <a:endParaRPr sz="3200"/>
          </a:p>
          <a:p>
            <a:pPr indent="-457189" lvl="0" marL="457189" rtl="0" algn="l">
              <a:lnSpc>
                <a:spcPct val="90000"/>
              </a:lnSpc>
              <a:spcBef>
                <a:spcPts val="933"/>
              </a:spcBef>
              <a:spcAft>
                <a:spcPts val="0"/>
              </a:spcAft>
              <a:buClr>
                <a:schemeClr val="dk1"/>
              </a:buClr>
              <a:buSzPts val="3500"/>
              <a:buFont typeface="Noto Sans Symbols"/>
              <a:buChar char="✔"/>
            </a:pPr>
            <a:r>
              <a:rPr lang="en" sz="3200">
                <a:latin typeface="Times New Roman"/>
                <a:ea typeface="Times New Roman"/>
                <a:cs typeface="Times New Roman"/>
                <a:sym typeface="Times New Roman"/>
              </a:rPr>
              <a:t>The Applicant must show that the infringing property is in the possession of the Respondent.</a:t>
            </a:r>
            <a:endParaRPr sz="3200"/>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6" name="Shape 456"/>
        <p:cNvGrpSpPr/>
        <p:nvPr/>
      </p:nvGrpSpPr>
      <p:grpSpPr>
        <a:xfrm>
          <a:off x="0" y="0"/>
          <a:ext cx="0" cy="0"/>
          <a:chOff x="0" y="0"/>
          <a:chExt cx="0" cy="0"/>
        </a:xfrm>
      </p:grpSpPr>
      <p:sp>
        <p:nvSpPr>
          <p:cNvPr id="457" name="Google Shape;457;p63"/>
          <p:cNvSpPr txBox="1"/>
          <p:nvPr>
            <p:ph idx="1" type="body"/>
          </p:nvPr>
        </p:nvSpPr>
        <p:spPr>
          <a:xfrm>
            <a:off x="838200" y="1825625"/>
            <a:ext cx="10515600" cy="4351338"/>
          </a:xfrm>
          <a:prstGeom prst="rect">
            <a:avLst/>
          </a:prstGeom>
          <a:noFill/>
          <a:ln>
            <a:noFill/>
          </a:ln>
        </p:spPr>
        <p:txBody>
          <a:bodyPr anchorCtr="0" anchor="t" bIns="60925" lIns="121900" spcFirstLastPara="1" rIns="121900" wrap="square" tIns="60925">
            <a:noAutofit/>
          </a:bodyPr>
          <a:lstStyle/>
          <a:p>
            <a:pPr indent="-457189" lvl="0" marL="457189" rtl="0" algn="l">
              <a:lnSpc>
                <a:spcPct val="90000"/>
              </a:lnSpc>
              <a:spcBef>
                <a:spcPts val="0"/>
              </a:spcBef>
              <a:spcAft>
                <a:spcPts val="0"/>
              </a:spcAft>
              <a:buClr>
                <a:schemeClr val="dk1"/>
              </a:buClr>
              <a:buSzPts val="3600"/>
              <a:buFont typeface="Noto Sans Symbols"/>
              <a:buChar char="✔"/>
            </a:pPr>
            <a:r>
              <a:rPr lang="en" sz="2667">
                <a:latin typeface="Times New Roman"/>
                <a:ea typeface="Times New Roman"/>
                <a:cs typeface="Times New Roman"/>
                <a:sym typeface="Times New Roman"/>
              </a:rPr>
              <a:t>The Applicant must show that if an application is made on notice , the Respondent is likely to destroy or hide the property away.</a:t>
            </a:r>
            <a:endParaRPr sz="2667"/>
          </a:p>
          <a:p>
            <a:pPr indent="-457189" lvl="0" marL="457189" rtl="0" algn="l">
              <a:lnSpc>
                <a:spcPct val="90000"/>
              </a:lnSpc>
              <a:spcBef>
                <a:spcPts val="960"/>
              </a:spcBef>
              <a:spcAft>
                <a:spcPts val="0"/>
              </a:spcAft>
              <a:buClr>
                <a:schemeClr val="dk1"/>
              </a:buClr>
              <a:buSzPts val="3600"/>
              <a:buFont typeface="Noto Sans Symbols"/>
              <a:buChar char="✔"/>
            </a:pPr>
            <a:r>
              <a:rPr lang="en" sz="2667">
                <a:latin typeface="Times New Roman"/>
                <a:ea typeface="Times New Roman"/>
                <a:cs typeface="Times New Roman"/>
                <a:sym typeface="Times New Roman"/>
              </a:rPr>
              <a:t>The Applicant must further show that his case would be seriously frustrated if the court refuses to make the order for Anton piller injunction against the Respondent.</a:t>
            </a:r>
            <a:endParaRPr sz="2667"/>
          </a:p>
          <a:p>
            <a:pPr indent="-152396" lvl="0" marL="457189" rtl="0" algn="l">
              <a:lnSpc>
                <a:spcPct val="90000"/>
              </a:lnSpc>
              <a:spcBef>
                <a:spcPts val="960"/>
              </a:spcBef>
              <a:spcAft>
                <a:spcPts val="0"/>
              </a:spcAft>
              <a:buClr>
                <a:schemeClr val="dk1"/>
              </a:buClr>
              <a:buSzPts val="3600"/>
              <a:buNone/>
            </a:pPr>
            <a:r>
              <a:t/>
            </a:r>
            <a:endParaRPr sz="2667"/>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1" name="Shape 461"/>
        <p:cNvGrpSpPr/>
        <p:nvPr/>
      </p:nvGrpSpPr>
      <p:grpSpPr>
        <a:xfrm>
          <a:off x="0" y="0"/>
          <a:ext cx="0" cy="0"/>
          <a:chOff x="0" y="0"/>
          <a:chExt cx="0" cy="0"/>
        </a:xfrm>
      </p:grpSpPr>
      <p:sp>
        <p:nvSpPr>
          <p:cNvPr id="462" name="Google Shape;462;p64"/>
          <p:cNvSpPr txBox="1"/>
          <p:nvPr>
            <p:ph type="title"/>
          </p:nvPr>
        </p:nvSpPr>
        <p:spPr>
          <a:xfrm>
            <a:off x="838200" y="365125"/>
            <a:ext cx="10515600" cy="1325563"/>
          </a:xfrm>
          <a:prstGeom prst="rect">
            <a:avLst/>
          </a:prstGeom>
          <a:noFill/>
          <a:ln>
            <a:noFill/>
          </a:ln>
        </p:spPr>
        <p:txBody>
          <a:bodyPr anchorCtr="0" anchor="ctr" bIns="60925" lIns="121900" spcFirstLastPara="1" rIns="121900" wrap="square" tIns="60925">
            <a:noAutofit/>
          </a:bodyPr>
          <a:lstStyle/>
          <a:p>
            <a:pPr indent="0" lvl="0" marL="0" rtl="0" algn="ctr">
              <a:lnSpc>
                <a:spcPct val="90000"/>
              </a:lnSpc>
              <a:spcBef>
                <a:spcPts val="0"/>
              </a:spcBef>
              <a:spcAft>
                <a:spcPts val="0"/>
              </a:spcAft>
              <a:buClr>
                <a:schemeClr val="dk1"/>
              </a:buClr>
              <a:buSzPts val="4400"/>
              <a:buFont typeface="Times New Roman"/>
              <a:buNone/>
            </a:pPr>
            <a:r>
              <a:rPr b="1" lang="en">
                <a:latin typeface="Times New Roman"/>
                <a:ea typeface="Times New Roman"/>
                <a:cs typeface="Times New Roman"/>
                <a:sym typeface="Times New Roman"/>
              </a:rPr>
              <a:t>Mareva Injunction</a:t>
            </a:r>
            <a:endParaRPr b="1">
              <a:latin typeface="Times New Roman"/>
              <a:ea typeface="Times New Roman"/>
              <a:cs typeface="Times New Roman"/>
              <a:sym typeface="Times New Roman"/>
            </a:endParaRPr>
          </a:p>
        </p:txBody>
      </p:sp>
      <p:sp>
        <p:nvSpPr>
          <p:cNvPr id="463" name="Google Shape;463;p64"/>
          <p:cNvSpPr txBox="1"/>
          <p:nvPr>
            <p:ph idx="1" type="body"/>
          </p:nvPr>
        </p:nvSpPr>
        <p:spPr>
          <a:xfrm>
            <a:off x="609600" y="1690688"/>
            <a:ext cx="10972800" cy="4754400"/>
          </a:xfrm>
          <a:prstGeom prst="rect">
            <a:avLst/>
          </a:prstGeom>
          <a:noFill/>
          <a:ln>
            <a:noFill/>
          </a:ln>
        </p:spPr>
        <p:txBody>
          <a:bodyPr anchorCtr="0" anchor="t" bIns="60925" lIns="121900" spcFirstLastPara="1" rIns="121900" wrap="square" tIns="60925">
            <a:noAutofit/>
          </a:bodyPr>
          <a:lstStyle/>
          <a:p>
            <a:pPr indent="-457189" lvl="0" marL="457189" rtl="0" algn="l">
              <a:lnSpc>
                <a:spcPct val="90000"/>
              </a:lnSpc>
              <a:spcBef>
                <a:spcPts val="0"/>
              </a:spcBef>
              <a:spcAft>
                <a:spcPts val="0"/>
              </a:spcAft>
              <a:buClr>
                <a:schemeClr val="dk1"/>
              </a:buClr>
              <a:buSzPts val="4000"/>
              <a:buChar char="•"/>
            </a:pPr>
            <a:r>
              <a:rPr lang="en" sz="3200">
                <a:latin typeface="Times New Roman"/>
                <a:ea typeface="Times New Roman"/>
                <a:cs typeface="Times New Roman"/>
                <a:sym typeface="Times New Roman"/>
              </a:rPr>
              <a:t>This is an order restraining a defendant from removing his assets within jurisdiction so as to render a judgment nugatory.</a:t>
            </a:r>
            <a:endParaRPr sz="3200"/>
          </a:p>
          <a:p>
            <a:pPr indent="-457189" lvl="0" marL="457189" rtl="0" algn="l">
              <a:lnSpc>
                <a:spcPct val="90000"/>
              </a:lnSpc>
              <a:spcBef>
                <a:spcPts val="1067"/>
              </a:spcBef>
              <a:spcAft>
                <a:spcPts val="0"/>
              </a:spcAft>
              <a:buClr>
                <a:schemeClr val="dk1"/>
              </a:buClr>
              <a:buSzPts val="4000"/>
              <a:buChar char="•"/>
            </a:pPr>
            <a:r>
              <a:rPr lang="en" sz="3200">
                <a:latin typeface="Times New Roman"/>
                <a:ea typeface="Times New Roman"/>
                <a:cs typeface="Times New Roman"/>
                <a:sym typeface="Times New Roman"/>
              </a:rPr>
              <a:t>See </a:t>
            </a:r>
            <a:r>
              <a:rPr b="1" lang="en" sz="3200">
                <a:latin typeface="Times New Roman"/>
                <a:ea typeface="Times New Roman"/>
                <a:cs typeface="Times New Roman"/>
                <a:sym typeface="Times New Roman"/>
              </a:rPr>
              <a:t>MAREVA COMPANIA NAVIERA V INTERNATIONAL BULK CARRIER LTD (1975) Lyod’s Rep. 509</a:t>
            </a:r>
            <a:endParaRPr b="1" sz="3200">
              <a:latin typeface="Times New Roman"/>
              <a:ea typeface="Times New Roman"/>
              <a:cs typeface="Times New Roman"/>
              <a:sym typeface="Times New Roman"/>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65"/>
          <p:cNvSpPr txBox="1"/>
          <p:nvPr>
            <p:ph type="title"/>
          </p:nvPr>
        </p:nvSpPr>
        <p:spPr>
          <a:xfrm>
            <a:off x="838200" y="365125"/>
            <a:ext cx="10515600" cy="1325563"/>
          </a:xfrm>
          <a:prstGeom prst="rect">
            <a:avLst/>
          </a:prstGeom>
          <a:noFill/>
          <a:ln>
            <a:noFill/>
          </a:ln>
        </p:spPr>
        <p:txBody>
          <a:bodyPr anchorCtr="0" anchor="ctr" bIns="60925" lIns="121900" spcFirstLastPara="1" rIns="121900" wrap="square" tIns="60925">
            <a:noAutofit/>
          </a:bodyPr>
          <a:lstStyle/>
          <a:p>
            <a:pPr indent="0" lvl="0" marL="0" rtl="0" algn="ctr">
              <a:lnSpc>
                <a:spcPct val="90000"/>
              </a:lnSpc>
              <a:spcBef>
                <a:spcPts val="0"/>
              </a:spcBef>
              <a:spcAft>
                <a:spcPts val="0"/>
              </a:spcAft>
              <a:buClr>
                <a:schemeClr val="dk1"/>
              </a:buClr>
              <a:buSzPts val="3600"/>
              <a:buFont typeface="Times New Roman"/>
              <a:buNone/>
            </a:pPr>
            <a:r>
              <a:rPr b="1" lang="en" sz="4800">
                <a:latin typeface="Times New Roman"/>
                <a:ea typeface="Times New Roman"/>
                <a:cs typeface="Times New Roman"/>
                <a:sym typeface="Times New Roman"/>
              </a:rPr>
              <a:t>Guiding Principless for the grant of Mareva Injunction</a:t>
            </a:r>
            <a:endParaRPr b="1" sz="4800">
              <a:latin typeface="Times New Roman"/>
              <a:ea typeface="Times New Roman"/>
              <a:cs typeface="Times New Roman"/>
              <a:sym typeface="Times New Roman"/>
            </a:endParaRPr>
          </a:p>
        </p:txBody>
      </p:sp>
      <p:sp>
        <p:nvSpPr>
          <p:cNvPr id="469" name="Google Shape;469;p65"/>
          <p:cNvSpPr txBox="1"/>
          <p:nvPr>
            <p:ph idx="1" type="body"/>
          </p:nvPr>
        </p:nvSpPr>
        <p:spPr>
          <a:xfrm>
            <a:off x="838200" y="1825625"/>
            <a:ext cx="10515600" cy="4351338"/>
          </a:xfrm>
          <a:prstGeom prst="rect">
            <a:avLst/>
          </a:prstGeom>
          <a:noFill/>
          <a:ln>
            <a:noFill/>
          </a:ln>
        </p:spPr>
        <p:txBody>
          <a:bodyPr anchorCtr="0" anchor="t" bIns="60925" lIns="121900" spcFirstLastPara="1" rIns="121900" wrap="square" tIns="60925">
            <a:noAutofit/>
          </a:bodyPr>
          <a:lstStyle/>
          <a:p>
            <a:pPr indent="-457189" lvl="0" marL="457189" rtl="0" algn="l">
              <a:lnSpc>
                <a:spcPct val="90000"/>
              </a:lnSpc>
              <a:spcBef>
                <a:spcPts val="0"/>
              </a:spcBef>
              <a:spcAft>
                <a:spcPts val="0"/>
              </a:spcAft>
              <a:buClr>
                <a:schemeClr val="dk1"/>
              </a:buClr>
              <a:buSzPts val="3100"/>
              <a:buChar char="•"/>
            </a:pPr>
            <a:r>
              <a:rPr lang="en" sz="3200">
                <a:latin typeface="Times New Roman"/>
                <a:ea typeface="Times New Roman"/>
                <a:cs typeface="Times New Roman"/>
                <a:sym typeface="Times New Roman"/>
              </a:rPr>
              <a:t>The guiding principles are laid in </a:t>
            </a:r>
            <a:r>
              <a:rPr b="1" lang="en" sz="3200">
                <a:latin typeface="Times New Roman"/>
                <a:ea typeface="Times New Roman"/>
                <a:cs typeface="Times New Roman"/>
                <a:sym typeface="Times New Roman"/>
              </a:rPr>
              <a:t>SOTIMINU V OCEAN STEAMSHIP NIG LTD ( 1992) 5 SCNJ 1 </a:t>
            </a:r>
            <a:r>
              <a:rPr lang="en" sz="3200">
                <a:latin typeface="Times New Roman"/>
                <a:ea typeface="Times New Roman"/>
                <a:cs typeface="Times New Roman"/>
                <a:sym typeface="Times New Roman"/>
              </a:rPr>
              <a:t>as follows:</a:t>
            </a:r>
            <a:endParaRPr sz="3200"/>
          </a:p>
          <a:p>
            <a:pPr indent="-457189" lvl="0" marL="457189" rtl="0" algn="l">
              <a:lnSpc>
                <a:spcPct val="90000"/>
              </a:lnSpc>
              <a:spcBef>
                <a:spcPts val="827"/>
              </a:spcBef>
              <a:spcAft>
                <a:spcPts val="0"/>
              </a:spcAft>
              <a:buClr>
                <a:schemeClr val="dk1"/>
              </a:buClr>
              <a:buSzPts val="3100"/>
              <a:buFont typeface="Noto Sans Symbols"/>
              <a:buChar char="✔"/>
            </a:pPr>
            <a:r>
              <a:rPr lang="en" sz="3200">
                <a:latin typeface="Times New Roman"/>
                <a:ea typeface="Times New Roman"/>
                <a:cs typeface="Times New Roman"/>
                <a:sym typeface="Times New Roman"/>
              </a:rPr>
              <a:t>That he has a cause of action which is justifiable</a:t>
            </a:r>
            <a:endParaRPr sz="3200"/>
          </a:p>
          <a:p>
            <a:pPr indent="-457189" lvl="0" marL="457189" rtl="0" algn="l">
              <a:lnSpc>
                <a:spcPct val="90000"/>
              </a:lnSpc>
              <a:spcBef>
                <a:spcPts val="827"/>
              </a:spcBef>
              <a:spcAft>
                <a:spcPts val="0"/>
              </a:spcAft>
              <a:buClr>
                <a:schemeClr val="dk1"/>
              </a:buClr>
              <a:buSzPts val="3100"/>
              <a:buFont typeface="Noto Sans Symbols"/>
              <a:buChar char="✔"/>
            </a:pPr>
            <a:r>
              <a:rPr lang="en" sz="3200">
                <a:latin typeface="Times New Roman"/>
                <a:ea typeface="Times New Roman"/>
                <a:cs typeface="Times New Roman"/>
                <a:sym typeface="Times New Roman"/>
              </a:rPr>
              <a:t>That there is real and imminent risk of the Defendant removing his assets from jurisdiction and thereby rendering nugatory any judgment which the plaintiff may obtain</a:t>
            </a:r>
            <a:endParaRPr sz="3200"/>
          </a:p>
          <a:p>
            <a:pPr indent="-457189" lvl="0" marL="457189" rtl="0" algn="l">
              <a:lnSpc>
                <a:spcPct val="90000"/>
              </a:lnSpc>
              <a:spcBef>
                <a:spcPts val="827"/>
              </a:spcBef>
              <a:spcAft>
                <a:spcPts val="0"/>
              </a:spcAft>
              <a:buClr>
                <a:schemeClr val="dk1"/>
              </a:buClr>
              <a:buSzPts val="3100"/>
              <a:buFont typeface="Noto Sans Symbols"/>
              <a:buChar char="✔"/>
            </a:pPr>
            <a:r>
              <a:rPr lang="en" sz="3200">
                <a:latin typeface="Times New Roman"/>
                <a:ea typeface="Times New Roman"/>
                <a:cs typeface="Times New Roman"/>
                <a:sym typeface="Times New Roman"/>
              </a:rPr>
              <a:t>That the applicant has made a full disclosure of all material facts relevant in the application</a:t>
            </a:r>
            <a:endParaRPr sz="3200"/>
          </a:p>
          <a:p>
            <a:pPr indent="0" lvl="0" marL="0" rtl="0" algn="l">
              <a:lnSpc>
                <a:spcPct val="90000"/>
              </a:lnSpc>
              <a:spcBef>
                <a:spcPts val="827"/>
              </a:spcBef>
              <a:spcAft>
                <a:spcPts val="0"/>
              </a:spcAft>
              <a:buClr>
                <a:schemeClr val="dk1"/>
              </a:buClr>
              <a:buSzPts val="3100"/>
              <a:buNone/>
            </a:pPr>
            <a:r>
              <a:t/>
            </a:r>
            <a:endParaRPr sz="3200">
              <a:latin typeface="Times New Roman"/>
              <a:ea typeface="Times New Roman"/>
              <a:cs typeface="Times New Roman"/>
              <a:sym typeface="Times New Roman"/>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3" name="Shape 473"/>
        <p:cNvGrpSpPr/>
        <p:nvPr/>
      </p:nvGrpSpPr>
      <p:grpSpPr>
        <a:xfrm>
          <a:off x="0" y="0"/>
          <a:ext cx="0" cy="0"/>
          <a:chOff x="0" y="0"/>
          <a:chExt cx="0" cy="0"/>
        </a:xfrm>
      </p:grpSpPr>
      <p:sp>
        <p:nvSpPr>
          <p:cNvPr id="474" name="Google Shape;474;p66"/>
          <p:cNvSpPr txBox="1"/>
          <p:nvPr>
            <p:ph type="title"/>
          </p:nvPr>
        </p:nvSpPr>
        <p:spPr>
          <a:xfrm>
            <a:off x="838200" y="365125"/>
            <a:ext cx="10515600" cy="1325563"/>
          </a:xfrm>
          <a:prstGeom prst="rect">
            <a:avLst/>
          </a:prstGeom>
          <a:noFill/>
          <a:ln>
            <a:noFill/>
          </a:ln>
        </p:spPr>
        <p:txBody>
          <a:bodyPr anchorCtr="0" anchor="ctr" bIns="60925" lIns="121900" spcFirstLastPara="1" rIns="121900" wrap="square" tIns="60925">
            <a:noAutofit/>
          </a:bodyPr>
          <a:lstStyle/>
          <a:p>
            <a:pPr indent="0" lvl="0" marL="0" rtl="0" algn="ctr">
              <a:lnSpc>
                <a:spcPct val="90000"/>
              </a:lnSpc>
              <a:spcBef>
                <a:spcPts val="0"/>
              </a:spcBef>
              <a:spcAft>
                <a:spcPts val="0"/>
              </a:spcAft>
              <a:buClr>
                <a:schemeClr val="dk1"/>
              </a:buClr>
              <a:buSzPts val="4400"/>
              <a:buFont typeface="Calibri"/>
              <a:buNone/>
            </a:pPr>
            <a:r>
              <a:t/>
            </a:r>
            <a:endParaRPr/>
          </a:p>
        </p:txBody>
      </p:sp>
      <p:sp>
        <p:nvSpPr>
          <p:cNvPr id="475" name="Google Shape;475;p66"/>
          <p:cNvSpPr txBox="1"/>
          <p:nvPr>
            <p:ph idx="1" type="body"/>
          </p:nvPr>
        </p:nvSpPr>
        <p:spPr>
          <a:xfrm>
            <a:off x="838200" y="1825625"/>
            <a:ext cx="10515600" cy="4351338"/>
          </a:xfrm>
          <a:prstGeom prst="rect">
            <a:avLst/>
          </a:prstGeom>
          <a:noFill/>
          <a:ln>
            <a:noFill/>
          </a:ln>
        </p:spPr>
        <p:txBody>
          <a:bodyPr anchorCtr="0" anchor="t" bIns="60925" lIns="121900" spcFirstLastPara="1" rIns="121900" wrap="square" tIns="60925">
            <a:noAutofit/>
          </a:bodyPr>
          <a:lstStyle/>
          <a:p>
            <a:pPr indent="-457189" lvl="0" marL="457189" rtl="0" algn="l">
              <a:lnSpc>
                <a:spcPct val="90000"/>
              </a:lnSpc>
              <a:spcBef>
                <a:spcPts val="0"/>
              </a:spcBef>
              <a:spcAft>
                <a:spcPts val="0"/>
              </a:spcAft>
              <a:buClr>
                <a:schemeClr val="dk1"/>
              </a:buClr>
              <a:buSzPts val="3600"/>
              <a:buFont typeface="Noto Sans Symbols"/>
              <a:buChar char="✔"/>
            </a:pPr>
            <a:r>
              <a:rPr lang="en" sz="3200">
                <a:latin typeface="Times New Roman"/>
                <a:ea typeface="Times New Roman"/>
                <a:cs typeface="Times New Roman"/>
                <a:sym typeface="Times New Roman"/>
              </a:rPr>
              <a:t>That he has given full particulars of the Defendant’s assets within the jurisdiction</a:t>
            </a:r>
            <a:endParaRPr sz="3200"/>
          </a:p>
          <a:p>
            <a:pPr indent="-457189" lvl="0" marL="457189" rtl="0" algn="l">
              <a:lnSpc>
                <a:spcPct val="90000"/>
              </a:lnSpc>
              <a:spcBef>
                <a:spcPts val="960"/>
              </a:spcBef>
              <a:spcAft>
                <a:spcPts val="0"/>
              </a:spcAft>
              <a:buClr>
                <a:schemeClr val="dk1"/>
              </a:buClr>
              <a:buSzPts val="3600"/>
              <a:buFont typeface="Noto Sans Symbols"/>
              <a:buChar char="✔"/>
            </a:pPr>
            <a:r>
              <a:rPr lang="en" sz="3200">
                <a:latin typeface="Times New Roman"/>
                <a:ea typeface="Times New Roman"/>
                <a:cs typeface="Times New Roman"/>
                <a:sym typeface="Times New Roman"/>
              </a:rPr>
              <a:t>That the balance of convenience is on the side of the applicant</a:t>
            </a:r>
            <a:endParaRPr sz="3200"/>
          </a:p>
          <a:p>
            <a:pPr indent="-457189" lvl="0" marL="457189" rtl="0" algn="l">
              <a:lnSpc>
                <a:spcPct val="90000"/>
              </a:lnSpc>
              <a:spcBef>
                <a:spcPts val="960"/>
              </a:spcBef>
              <a:spcAft>
                <a:spcPts val="0"/>
              </a:spcAft>
              <a:buClr>
                <a:schemeClr val="dk1"/>
              </a:buClr>
              <a:buSzPts val="3600"/>
              <a:buFont typeface="Noto Sans Symbols"/>
              <a:buChar char="✔"/>
            </a:pPr>
            <a:r>
              <a:rPr lang="en" sz="3200">
                <a:latin typeface="Times New Roman"/>
                <a:ea typeface="Times New Roman"/>
                <a:cs typeface="Times New Roman"/>
                <a:sym typeface="Times New Roman"/>
              </a:rPr>
              <a:t>That he is prepared to make undertakings as to damages.</a:t>
            </a:r>
            <a:endParaRPr sz="3200">
              <a:latin typeface="Times New Roman"/>
              <a:ea typeface="Times New Roman"/>
              <a:cs typeface="Times New Roman"/>
              <a:sym typeface="Times New Roman"/>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9" name="Shape 479"/>
        <p:cNvGrpSpPr/>
        <p:nvPr/>
      </p:nvGrpSpPr>
      <p:grpSpPr>
        <a:xfrm>
          <a:off x="0" y="0"/>
          <a:ext cx="0" cy="0"/>
          <a:chOff x="0" y="0"/>
          <a:chExt cx="0" cy="0"/>
        </a:xfrm>
      </p:grpSpPr>
      <p:sp>
        <p:nvSpPr>
          <p:cNvPr id="480" name="Google Shape;480;p67"/>
          <p:cNvSpPr txBox="1"/>
          <p:nvPr>
            <p:ph type="title"/>
          </p:nvPr>
        </p:nvSpPr>
        <p:spPr>
          <a:xfrm>
            <a:off x="838200" y="365125"/>
            <a:ext cx="10515600" cy="1325563"/>
          </a:xfrm>
          <a:prstGeom prst="rect">
            <a:avLst/>
          </a:prstGeom>
          <a:noFill/>
          <a:ln>
            <a:noFill/>
          </a:ln>
        </p:spPr>
        <p:txBody>
          <a:bodyPr anchorCtr="0" anchor="ctr" bIns="60925" lIns="121900" spcFirstLastPara="1" rIns="121900" wrap="square" tIns="60925">
            <a:noAutofit/>
          </a:bodyPr>
          <a:lstStyle/>
          <a:p>
            <a:pPr indent="0" lvl="0" marL="0" rtl="0" algn="ctr">
              <a:lnSpc>
                <a:spcPct val="90000"/>
              </a:lnSpc>
              <a:spcBef>
                <a:spcPts val="0"/>
              </a:spcBef>
              <a:spcAft>
                <a:spcPts val="0"/>
              </a:spcAft>
              <a:buClr>
                <a:schemeClr val="dk1"/>
              </a:buClr>
              <a:buSzPts val="4400"/>
              <a:buFont typeface="Times New Roman"/>
              <a:buNone/>
            </a:pPr>
            <a:r>
              <a:rPr b="1" lang="en">
                <a:latin typeface="Times New Roman"/>
                <a:ea typeface="Times New Roman"/>
                <a:cs typeface="Times New Roman"/>
                <a:sym typeface="Times New Roman"/>
              </a:rPr>
              <a:t>Interpleader </a:t>
            </a:r>
            <a:endParaRPr b="1">
              <a:latin typeface="Times New Roman"/>
              <a:ea typeface="Times New Roman"/>
              <a:cs typeface="Times New Roman"/>
              <a:sym typeface="Times New Roman"/>
            </a:endParaRPr>
          </a:p>
        </p:txBody>
      </p:sp>
      <p:sp>
        <p:nvSpPr>
          <p:cNvPr id="481" name="Google Shape;481;p67"/>
          <p:cNvSpPr txBox="1"/>
          <p:nvPr>
            <p:ph idx="1" type="body"/>
          </p:nvPr>
        </p:nvSpPr>
        <p:spPr>
          <a:xfrm>
            <a:off x="838200" y="1825625"/>
            <a:ext cx="10515600" cy="4351338"/>
          </a:xfrm>
          <a:prstGeom prst="rect">
            <a:avLst/>
          </a:prstGeom>
          <a:noFill/>
          <a:ln>
            <a:noFill/>
          </a:ln>
        </p:spPr>
        <p:txBody>
          <a:bodyPr anchorCtr="0" anchor="t" bIns="60925" lIns="121900" spcFirstLastPara="1" rIns="121900" wrap="square" tIns="60925">
            <a:noAutofit/>
          </a:bodyPr>
          <a:lstStyle/>
          <a:p>
            <a:pPr indent="-457189" lvl="0" marL="457189" rtl="0" algn="l">
              <a:lnSpc>
                <a:spcPct val="90000"/>
              </a:lnSpc>
              <a:spcBef>
                <a:spcPts val="0"/>
              </a:spcBef>
              <a:spcAft>
                <a:spcPts val="0"/>
              </a:spcAft>
              <a:buClr>
                <a:schemeClr val="dk1"/>
              </a:buClr>
              <a:buSzPts val="4000"/>
              <a:buChar char="•"/>
            </a:pPr>
            <a:r>
              <a:rPr lang="en" sz="3200">
                <a:latin typeface="Times New Roman"/>
                <a:ea typeface="Times New Roman"/>
                <a:cs typeface="Times New Roman"/>
                <a:sym typeface="Times New Roman"/>
              </a:rPr>
              <a:t>People often find themselves in possession of property or money claimed by two or more persons. The person in possession becomes confused as to who is the right owner</a:t>
            </a:r>
            <a:endParaRPr sz="3200"/>
          </a:p>
          <a:p>
            <a:pPr indent="-457189" lvl="0" marL="457189" rtl="0" algn="l">
              <a:lnSpc>
                <a:spcPct val="90000"/>
              </a:lnSpc>
              <a:spcBef>
                <a:spcPts val="1067"/>
              </a:spcBef>
              <a:spcAft>
                <a:spcPts val="0"/>
              </a:spcAft>
              <a:buClr>
                <a:schemeClr val="dk1"/>
              </a:buClr>
              <a:buSzPts val="4000"/>
              <a:buChar char="•"/>
            </a:pPr>
            <a:r>
              <a:rPr lang="en" sz="3200">
                <a:latin typeface="Times New Roman"/>
                <a:ea typeface="Times New Roman"/>
                <a:cs typeface="Times New Roman"/>
                <a:sym typeface="Times New Roman"/>
              </a:rPr>
              <a:t>Delivery to one person may result to a suit against him by the other</a:t>
            </a:r>
            <a:endParaRPr sz="3200"/>
          </a:p>
          <a:p>
            <a:pPr indent="0" lvl="0" marL="0" rtl="0" algn="l">
              <a:lnSpc>
                <a:spcPct val="90000"/>
              </a:lnSpc>
              <a:spcBef>
                <a:spcPts val="1067"/>
              </a:spcBef>
              <a:spcAft>
                <a:spcPts val="0"/>
              </a:spcAft>
              <a:buClr>
                <a:schemeClr val="dk1"/>
              </a:buClr>
              <a:buSzPts val="4000"/>
              <a:buNone/>
            </a:pPr>
            <a:r>
              <a:t/>
            </a:r>
            <a:endParaRPr sz="3200">
              <a:latin typeface="Times New Roman"/>
              <a:ea typeface="Times New Roman"/>
              <a:cs typeface="Times New Roman"/>
              <a:sym typeface="Times New Roman"/>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6" name="Shape 486"/>
        <p:cNvGrpSpPr/>
        <p:nvPr/>
      </p:nvGrpSpPr>
      <p:grpSpPr>
        <a:xfrm>
          <a:off x="0" y="0"/>
          <a:ext cx="0" cy="0"/>
          <a:chOff x="0" y="0"/>
          <a:chExt cx="0" cy="0"/>
        </a:xfrm>
      </p:grpSpPr>
      <p:sp>
        <p:nvSpPr>
          <p:cNvPr id="487" name="Google Shape;487;p68"/>
          <p:cNvSpPr txBox="1"/>
          <p:nvPr>
            <p:ph idx="1" type="body"/>
          </p:nvPr>
        </p:nvSpPr>
        <p:spPr>
          <a:xfrm>
            <a:off x="838200" y="1825625"/>
            <a:ext cx="10515600" cy="4351338"/>
          </a:xfrm>
          <a:prstGeom prst="rect">
            <a:avLst/>
          </a:prstGeom>
          <a:noFill/>
          <a:ln>
            <a:noFill/>
          </a:ln>
        </p:spPr>
        <p:txBody>
          <a:bodyPr anchorCtr="0" anchor="t" bIns="60925" lIns="121900" spcFirstLastPara="1" rIns="121900" wrap="square" tIns="60925">
            <a:noAutofit/>
          </a:bodyPr>
          <a:lstStyle/>
          <a:p>
            <a:pPr indent="-457189" lvl="0" marL="457189" rtl="0" algn="l">
              <a:lnSpc>
                <a:spcPct val="90000"/>
              </a:lnSpc>
              <a:spcBef>
                <a:spcPts val="0"/>
              </a:spcBef>
              <a:spcAft>
                <a:spcPts val="0"/>
              </a:spcAft>
              <a:buClr>
                <a:schemeClr val="dk1"/>
              </a:buClr>
              <a:buSzPts val="4000"/>
              <a:buChar char="•"/>
            </a:pPr>
            <a:r>
              <a:rPr lang="en" sz="3733">
                <a:latin typeface="Times New Roman"/>
                <a:ea typeface="Times New Roman"/>
                <a:cs typeface="Times New Roman"/>
                <a:sym typeface="Times New Roman"/>
              </a:rPr>
              <a:t>To avoid this the party in possession applies to court by way of interpleader to compel the claimants to interplead (take proceedings between themselves to determine who is entitled to the subject matter</a:t>
            </a:r>
            <a:endParaRPr sz="3733"/>
          </a:p>
          <a:p>
            <a:pPr indent="-118530" lvl="0" marL="457189" rtl="0" algn="l">
              <a:lnSpc>
                <a:spcPct val="90000"/>
              </a:lnSpc>
              <a:spcBef>
                <a:spcPts val="1067"/>
              </a:spcBef>
              <a:spcAft>
                <a:spcPts val="0"/>
              </a:spcAft>
              <a:buClr>
                <a:schemeClr val="dk1"/>
              </a:buClr>
              <a:buSzPts val="4000"/>
              <a:buNone/>
            </a:pPr>
            <a:r>
              <a:t/>
            </a:r>
            <a:endParaRPr sz="3733">
              <a:latin typeface="Times New Roman"/>
              <a:ea typeface="Times New Roman"/>
              <a:cs typeface="Times New Roman"/>
              <a:sym typeface="Times New Roman"/>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1" name="Shape 491"/>
        <p:cNvGrpSpPr/>
        <p:nvPr/>
      </p:nvGrpSpPr>
      <p:grpSpPr>
        <a:xfrm>
          <a:off x="0" y="0"/>
          <a:ext cx="0" cy="0"/>
          <a:chOff x="0" y="0"/>
          <a:chExt cx="0" cy="0"/>
        </a:xfrm>
      </p:grpSpPr>
      <p:sp>
        <p:nvSpPr>
          <p:cNvPr id="492" name="Google Shape;492;p69"/>
          <p:cNvSpPr txBox="1"/>
          <p:nvPr>
            <p:ph type="title"/>
          </p:nvPr>
        </p:nvSpPr>
        <p:spPr>
          <a:xfrm>
            <a:off x="838200" y="365125"/>
            <a:ext cx="10515600" cy="1325563"/>
          </a:xfrm>
          <a:prstGeom prst="rect">
            <a:avLst/>
          </a:prstGeom>
          <a:noFill/>
          <a:ln>
            <a:noFill/>
          </a:ln>
        </p:spPr>
        <p:txBody>
          <a:bodyPr anchorCtr="0" anchor="ctr" bIns="60925" lIns="121900" spcFirstLastPara="1" rIns="121900" wrap="square" tIns="60925">
            <a:noAutofit/>
          </a:bodyPr>
          <a:lstStyle/>
          <a:p>
            <a:pPr indent="0" lvl="0" marL="0" rtl="0" algn="ctr">
              <a:lnSpc>
                <a:spcPct val="90000"/>
              </a:lnSpc>
              <a:spcBef>
                <a:spcPts val="0"/>
              </a:spcBef>
              <a:spcAft>
                <a:spcPts val="0"/>
              </a:spcAft>
              <a:buClr>
                <a:schemeClr val="dk1"/>
              </a:buClr>
              <a:buSzPts val="4400"/>
              <a:buFont typeface="Times New Roman"/>
              <a:buNone/>
            </a:pPr>
            <a:r>
              <a:rPr b="1" lang="en">
                <a:latin typeface="Times New Roman"/>
                <a:ea typeface="Times New Roman"/>
                <a:cs typeface="Times New Roman"/>
                <a:sym typeface="Times New Roman"/>
              </a:rPr>
              <a:t>Types of Interpleader</a:t>
            </a:r>
            <a:endParaRPr b="1">
              <a:latin typeface="Times New Roman"/>
              <a:ea typeface="Times New Roman"/>
              <a:cs typeface="Times New Roman"/>
              <a:sym typeface="Times New Roman"/>
            </a:endParaRPr>
          </a:p>
        </p:txBody>
      </p:sp>
      <p:sp>
        <p:nvSpPr>
          <p:cNvPr id="493" name="Google Shape;493;p69"/>
          <p:cNvSpPr txBox="1"/>
          <p:nvPr>
            <p:ph idx="1" type="body"/>
          </p:nvPr>
        </p:nvSpPr>
        <p:spPr>
          <a:xfrm>
            <a:off x="838200" y="1825625"/>
            <a:ext cx="10515600" cy="4351338"/>
          </a:xfrm>
          <a:prstGeom prst="rect">
            <a:avLst/>
          </a:prstGeom>
          <a:noFill/>
          <a:ln>
            <a:noFill/>
          </a:ln>
        </p:spPr>
        <p:txBody>
          <a:bodyPr anchorCtr="0" anchor="t" bIns="60925" lIns="121900" spcFirstLastPara="1" rIns="121900" wrap="square" tIns="60925">
            <a:noAutofit/>
          </a:bodyPr>
          <a:lstStyle/>
          <a:p>
            <a:pPr indent="-457189" lvl="0" marL="457189" rtl="0" algn="l">
              <a:lnSpc>
                <a:spcPct val="90000"/>
              </a:lnSpc>
              <a:spcBef>
                <a:spcPts val="0"/>
              </a:spcBef>
              <a:spcAft>
                <a:spcPts val="0"/>
              </a:spcAft>
              <a:buClr>
                <a:schemeClr val="dk1"/>
              </a:buClr>
              <a:buSzPts val="4000"/>
              <a:buChar char="•"/>
            </a:pPr>
            <a:r>
              <a:rPr lang="en" sz="3200">
                <a:latin typeface="Times New Roman"/>
                <a:ea typeface="Times New Roman"/>
                <a:cs typeface="Times New Roman"/>
                <a:sym typeface="Times New Roman"/>
              </a:rPr>
              <a:t>Sheriff interpleader. See section 34 of the Sheriff &amp; Civil process Act.</a:t>
            </a:r>
            <a:endParaRPr sz="3200"/>
          </a:p>
          <a:p>
            <a:pPr indent="-457189" lvl="0" marL="457189" rtl="0" algn="l">
              <a:lnSpc>
                <a:spcPct val="90000"/>
              </a:lnSpc>
              <a:spcBef>
                <a:spcPts val="1067"/>
              </a:spcBef>
              <a:spcAft>
                <a:spcPts val="0"/>
              </a:spcAft>
              <a:buClr>
                <a:schemeClr val="dk1"/>
              </a:buClr>
              <a:buSzPts val="4000"/>
              <a:buChar char="•"/>
            </a:pPr>
            <a:r>
              <a:rPr lang="en" sz="3200">
                <a:latin typeface="Times New Roman"/>
                <a:ea typeface="Times New Roman"/>
                <a:cs typeface="Times New Roman"/>
                <a:sym typeface="Times New Roman"/>
              </a:rPr>
              <a:t>Stakeholder interpleader. See </a:t>
            </a:r>
            <a:r>
              <a:rPr b="1" lang="en" sz="3200">
                <a:solidFill>
                  <a:srgbClr val="FF0000"/>
                </a:solidFill>
                <a:latin typeface="Times New Roman"/>
                <a:ea typeface="Times New Roman"/>
                <a:cs typeface="Times New Roman"/>
                <a:sym typeface="Times New Roman"/>
              </a:rPr>
              <a:t>O. 26 R 1 </a:t>
            </a:r>
            <a:r>
              <a:rPr lang="en" sz="3200">
                <a:solidFill>
                  <a:srgbClr val="FF0000"/>
                </a:solidFill>
                <a:latin typeface="Times New Roman"/>
                <a:ea typeface="Times New Roman"/>
                <a:cs typeface="Times New Roman"/>
                <a:sym typeface="Times New Roman"/>
              </a:rPr>
              <a:t>Abuja</a:t>
            </a:r>
            <a:r>
              <a:rPr lang="en" sz="3200">
                <a:latin typeface="Times New Roman"/>
                <a:ea typeface="Times New Roman"/>
                <a:cs typeface="Times New Roman"/>
                <a:sym typeface="Times New Roman"/>
              </a:rPr>
              <a:t>, </a:t>
            </a:r>
            <a:r>
              <a:rPr b="1" lang="en" sz="3200">
                <a:latin typeface="Times New Roman"/>
                <a:ea typeface="Times New Roman"/>
                <a:cs typeface="Times New Roman"/>
                <a:sym typeface="Times New Roman"/>
              </a:rPr>
              <a:t>O 47 R1</a:t>
            </a:r>
            <a:r>
              <a:rPr lang="en" sz="3200">
                <a:latin typeface="Times New Roman"/>
                <a:ea typeface="Times New Roman"/>
                <a:cs typeface="Times New Roman"/>
                <a:sym typeface="Times New Roman"/>
              </a:rPr>
              <a:t> Lag , </a:t>
            </a:r>
            <a:r>
              <a:rPr b="1" lang="en" sz="3200">
                <a:latin typeface="Times New Roman"/>
                <a:ea typeface="Times New Roman"/>
                <a:cs typeface="Times New Roman"/>
                <a:sym typeface="Times New Roman"/>
              </a:rPr>
              <a:t>NWEKESON V ONUIGBO (1991) 3 NWLR (PT.178) 125</a:t>
            </a:r>
            <a:endParaRPr b="1" sz="3200">
              <a:latin typeface="Times New Roman"/>
              <a:ea typeface="Times New Roman"/>
              <a:cs typeface="Times New Roman"/>
              <a:sym typeface="Times New Roman"/>
            </a:endParaRPr>
          </a:p>
          <a:p>
            <a:pPr indent="-118530" lvl="0" marL="457189" rtl="0" algn="l">
              <a:lnSpc>
                <a:spcPct val="90000"/>
              </a:lnSpc>
              <a:spcBef>
                <a:spcPts val="1067"/>
              </a:spcBef>
              <a:spcAft>
                <a:spcPts val="0"/>
              </a:spcAft>
              <a:buClr>
                <a:schemeClr val="dk1"/>
              </a:buClr>
              <a:buSzPts val="4000"/>
              <a:buNone/>
            </a:pPr>
            <a:r>
              <a:t/>
            </a:r>
            <a:endParaRPr sz="3200">
              <a:latin typeface="Times New Roman"/>
              <a:ea typeface="Times New Roman"/>
              <a:cs typeface="Times New Roman"/>
              <a:sym typeface="Times New Roman"/>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sp>
        <p:nvSpPr>
          <p:cNvPr id="498" name="Google Shape;498;p70"/>
          <p:cNvSpPr txBox="1"/>
          <p:nvPr>
            <p:ph type="title"/>
          </p:nvPr>
        </p:nvSpPr>
        <p:spPr>
          <a:xfrm>
            <a:off x="838200" y="365125"/>
            <a:ext cx="10515600" cy="1325563"/>
          </a:xfrm>
          <a:prstGeom prst="rect">
            <a:avLst/>
          </a:prstGeom>
          <a:noFill/>
          <a:ln>
            <a:noFill/>
          </a:ln>
        </p:spPr>
        <p:txBody>
          <a:bodyPr anchorCtr="0" anchor="ctr" bIns="60925" lIns="121900" spcFirstLastPara="1" rIns="121900" wrap="square" tIns="60925">
            <a:noAutofit/>
          </a:bodyPr>
          <a:lstStyle/>
          <a:p>
            <a:pPr indent="0" lvl="0" marL="0" rtl="0" algn="ctr">
              <a:lnSpc>
                <a:spcPct val="90000"/>
              </a:lnSpc>
              <a:spcBef>
                <a:spcPts val="0"/>
              </a:spcBef>
              <a:spcAft>
                <a:spcPts val="0"/>
              </a:spcAft>
              <a:buClr>
                <a:schemeClr val="dk1"/>
              </a:buClr>
              <a:buSzPts val="3959"/>
              <a:buFont typeface="Times New Roman"/>
              <a:buNone/>
            </a:pPr>
            <a:r>
              <a:rPr b="1" lang="en" sz="5279">
                <a:latin typeface="Times New Roman"/>
                <a:ea typeface="Times New Roman"/>
                <a:cs typeface="Times New Roman"/>
                <a:sym typeface="Times New Roman"/>
              </a:rPr>
              <a:t>Procedure for Interpleader</a:t>
            </a:r>
            <a:endParaRPr b="1" sz="5279">
              <a:latin typeface="Times New Roman"/>
              <a:ea typeface="Times New Roman"/>
              <a:cs typeface="Times New Roman"/>
              <a:sym typeface="Times New Roman"/>
            </a:endParaRPr>
          </a:p>
        </p:txBody>
      </p:sp>
      <p:sp>
        <p:nvSpPr>
          <p:cNvPr id="499" name="Google Shape;499;p70"/>
          <p:cNvSpPr txBox="1"/>
          <p:nvPr>
            <p:ph idx="1" type="body"/>
          </p:nvPr>
        </p:nvSpPr>
        <p:spPr>
          <a:xfrm>
            <a:off x="838200" y="1825625"/>
            <a:ext cx="10515600" cy="4351338"/>
          </a:xfrm>
          <a:prstGeom prst="rect">
            <a:avLst/>
          </a:prstGeom>
          <a:noFill/>
          <a:ln>
            <a:noFill/>
          </a:ln>
        </p:spPr>
        <p:txBody>
          <a:bodyPr anchorCtr="0" anchor="t" bIns="60925" lIns="121900" spcFirstLastPara="1" rIns="121900" wrap="square" tIns="60925">
            <a:noAutofit/>
          </a:bodyPr>
          <a:lstStyle/>
          <a:p>
            <a:pPr indent="-457189" lvl="0" marL="457189" rtl="0" algn="l">
              <a:lnSpc>
                <a:spcPct val="90000"/>
              </a:lnSpc>
              <a:spcBef>
                <a:spcPts val="0"/>
              </a:spcBef>
              <a:spcAft>
                <a:spcPts val="0"/>
              </a:spcAft>
              <a:buClr>
                <a:schemeClr val="dk1"/>
              </a:buClr>
              <a:buSzPts val="4000"/>
              <a:buFont typeface="Noto Sans Symbols"/>
              <a:buChar char="⮚"/>
            </a:pPr>
            <a:r>
              <a:rPr lang="en" sz="3200">
                <a:latin typeface="Times New Roman"/>
                <a:ea typeface="Times New Roman"/>
                <a:cs typeface="Times New Roman"/>
                <a:sym typeface="Times New Roman"/>
              </a:rPr>
              <a:t>By way of originating summons</a:t>
            </a:r>
            <a:endParaRPr sz="3200"/>
          </a:p>
          <a:p>
            <a:pPr indent="-457189" lvl="0" marL="457189" rtl="0" algn="l">
              <a:lnSpc>
                <a:spcPct val="90000"/>
              </a:lnSpc>
              <a:spcBef>
                <a:spcPts val="1067"/>
              </a:spcBef>
              <a:spcAft>
                <a:spcPts val="0"/>
              </a:spcAft>
              <a:buClr>
                <a:schemeClr val="dk1"/>
              </a:buClr>
              <a:buSzPts val="4000"/>
              <a:buFont typeface="Noto Sans Symbols"/>
              <a:buChar char="⮚"/>
            </a:pPr>
            <a:r>
              <a:rPr lang="en" sz="3200">
                <a:latin typeface="Times New Roman"/>
                <a:ea typeface="Times New Roman"/>
                <a:cs typeface="Times New Roman"/>
                <a:sym typeface="Times New Roman"/>
              </a:rPr>
              <a:t>Where a suit is pending it will  be by way of  ordinary interlocutory summons</a:t>
            </a:r>
            <a:endParaRPr sz="3200"/>
          </a:p>
          <a:p>
            <a:pPr indent="-457189" lvl="0" marL="457189" rtl="0" algn="l">
              <a:lnSpc>
                <a:spcPct val="90000"/>
              </a:lnSpc>
              <a:spcBef>
                <a:spcPts val="1067"/>
              </a:spcBef>
              <a:spcAft>
                <a:spcPts val="0"/>
              </a:spcAft>
              <a:buClr>
                <a:schemeClr val="dk1"/>
              </a:buClr>
              <a:buSzPts val="4000"/>
              <a:buChar char="•"/>
            </a:pPr>
            <a:r>
              <a:rPr b="1" lang="en" sz="3200">
                <a:latin typeface="Times New Roman"/>
                <a:ea typeface="Times New Roman"/>
                <a:cs typeface="Times New Roman"/>
                <a:sym typeface="Times New Roman"/>
              </a:rPr>
              <a:t>See O 26 R 2(1) and </a:t>
            </a:r>
            <a:r>
              <a:rPr b="1" lang="en" sz="3200">
                <a:solidFill>
                  <a:srgbClr val="FF0000"/>
                </a:solidFill>
                <a:latin typeface="Times New Roman"/>
                <a:ea typeface="Times New Roman"/>
                <a:cs typeface="Times New Roman"/>
                <a:sym typeface="Times New Roman"/>
              </a:rPr>
              <a:t>O 48 R 5 Abuja</a:t>
            </a:r>
            <a:endParaRPr b="1" sz="3200">
              <a:solidFill>
                <a:srgbClr val="FF0000"/>
              </a:solidFill>
              <a:latin typeface="Times New Roman"/>
              <a:ea typeface="Times New Roman"/>
              <a:cs typeface="Times New Roman"/>
              <a:sym typeface="Times New Roman"/>
            </a:endParaRPr>
          </a:p>
          <a:p>
            <a:pPr indent="0" lvl="0" marL="0" rtl="0" algn="l">
              <a:lnSpc>
                <a:spcPct val="90000"/>
              </a:lnSpc>
              <a:spcBef>
                <a:spcPts val="1067"/>
              </a:spcBef>
              <a:spcAft>
                <a:spcPts val="0"/>
              </a:spcAft>
              <a:buClr>
                <a:schemeClr val="dk1"/>
              </a:buClr>
              <a:buSzPts val="4000"/>
              <a:buNone/>
            </a:pPr>
            <a:r>
              <a:t/>
            </a:r>
            <a:endParaRPr b="1" sz="3200">
              <a:latin typeface="Times New Roman"/>
              <a:ea typeface="Times New Roman"/>
              <a:cs typeface="Times New Roman"/>
              <a:sym typeface="Times New Roman"/>
            </a:endParaRPr>
          </a:p>
          <a:p>
            <a:pPr indent="0" lvl="0" marL="0" rtl="0" algn="l">
              <a:lnSpc>
                <a:spcPct val="90000"/>
              </a:lnSpc>
              <a:spcBef>
                <a:spcPts val="1067"/>
              </a:spcBef>
              <a:spcAft>
                <a:spcPts val="0"/>
              </a:spcAft>
              <a:buClr>
                <a:schemeClr val="dk1"/>
              </a:buClr>
              <a:buSzPts val="4000"/>
              <a:buNone/>
            </a:pPr>
            <a:r>
              <a:t/>
            </a:r>
            <a:endParaRPr sz="3200">
              <a:latin typeface="Times New Roman"/>
              <a:ea typeface="Times New Roman"/>
              <a:cs typeface="Times New Roman"/>
              <a:sym typeface="Times New Roman"/>
            </a:endParaRPr>
          </a:p>
          <a:p>
            <a:pPr indent="-118530" lvl="0" marL="457189" rtl="0" algn="l">
              <a:lnSpc>
                <a:spcPct val="90000"/>
              </a:lnSpc>
              <a:spcBef>
                <a:spcPts val="1067"/>
              </a:spcBef>
              <a:spcAft>
                <a:spcPts val="0"/>
              </a:spcAft>
              <a:buClr>
                <a:schemeClr val="dk1"/>
              </a:buClr>
              <a:buSzPts val="4000"/>
              <a:buNone/>
            </a:pPr>
            <a:r>
              <a:t/>
            </a:r>
            <a:endParaRPr sz="3200">
              <a:latin typeface="Times New Roman"/>
              <a:ea typeface="Times New Roman"/>
              <a:cs typeface="Times New Roman"/>
              <a:sym typeface="Times New Roman"/>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3" name="Shape 503"/>
        <p:cNvGrpSpPr/>
        <p:nvPr/>
      </p:nvGrpSpPr>
      <p:grpSpPr>
        <a:xfrm>
          <a:off x="0" y="0"/>
          <a:ext cx="0" cy="0"/>
          <a:chOff x="0" y="0"/>
          <a:chExt cx="0" cy="0"/>
        </a:xfrm>
      </p:grpSpPr>
      <p:sp>
        <p:nvSpPr>
          <p:cNvPr id="504" name="Google Shape;504;p71"/>
          <p:cNvSpPr txBox="1"/>
          <p:nvPr>
            <p:ph type="title"/>
          </p:nvPr>
        </p:nvSpPr>
        <p:spPr>
          <a:xfrm>
            <a:off x="838200" y="365125"/>
            <a:ext cx="10515600" cy="1325563"/>
          </a:xfrm>
          <a:prstGeom prst="rect">
            <a:avLst/>
          </a:prstGeom>
          <a:noFill/>
          <a:ln>
            <a:noFill/>
          </a:ln>
        </p:spPr>
        <p:txBody>
          <a:bodyPr anchorCtr="0" anchor="ctr" bIns="60925" lIns="121900" spcFirstLastPara="1" rIns="121900" wrap="square" tIns="60925">
            <a:noAutofit/>
          </a:bodyPr>
          <a:lstStyle/>
          <a:p>
            <a:pPr indent="0" lvl="0" marL="0" rtl="0" algn="ctr">
              <a:lnSpc>
                <a:spcPct val="90000"/>
              </a:lnSpc>
              <a:spcBef>
                <a:spcPts val="0"/>
              </a:spcBef>
              <a:spcAft>
                <a:spcPts val="0"/>
              </a:spcAft>
              <a:buClr>
                <a:schemeClr val="dk1"/>
              </a:buClr>
              <a:buSzPts val="3959"/>
              <a:buFont typeface="Times New Roman"/>
              <a:buNone/>
            </a:pPr>
            <a:r>
              <a:rPr b="1" lang="en" sz="2667">
                <a:latin typeface="Times New Roman"/>
                <a:ea typeface="Times New Roman"/>
                <a:cs typeface="Times New Roman"/>
                <a:sym typeface="Times New Roman"/>
              </a:rPr>
              <a:t>Content of Affidavit for Interpleader </a:t>
            </a:r>
            <a:endParaRPr b="1" sz="2667">
              <a:latin typeface="Times New Roman"/>
              <a:ea typeface="Times New Roman"/>
              <a:cs typeface="Times New Roman"/>
              <a:sym typeface="Times New Roman"/>
            </a:endParaRPr>
          </a:p>
        </p:txBody>
      </p:sp>
      <p:sp>
        <p:nvSpPr>
          <p:cNvPr id="505" name="Google Shape;505;p71"/>
          <p:cNvSpPr txBox="1"/>
          <p:nvPr>
            <p:ph idx="1" type="body"/>
          </p:nvPr>
        </p:nvSpPr>
        <p:spPr>
          <a:xfrm>
            <a:off x="609600" y="1752600"/>
            <a:ext cx="10972800" cy="4373600"/>
          </a:xfrm>
          <a:prstGeom prst="rect">
            <a:avLst/>
          </a:prstGeom>
          <a:noFill/>
          <a:ln>
            <a:noFill/>
          </a:ln>
        </p:spPr>
        <p:txBody>
          <a:bodyPr anchorCtr="0" anchor="t" bIns="60925" lIns="121900" spcFirstLastPara="1" rIns="121900" wrap="square" tIns="60925">
            <a:noAutofit/>
          </a:bodyPr>
          <a:lstStyle/>
          <a:p>
            <a:pPr indent="-457189" lvl="0" marL="457189" rtl="0" algn="l">
              <a:lnSpc>
                <a:spcPct val="90000"/>
              </a:lnSpc>
              <a:spcBef>
                <a:spcPts val="0"/>
              </a:spcBef>
              <a:spcAft>
                <a:spcPts val="0"/>
              </a:spcAft>
              <a:buClr>
                <a:schemeClr val="dk1"/>
              </a:buClr>
              <a:buSzPts val="4000"/>
              <a:buChar char="•"/>
            </a:pPr>
            <a:r>
              <a:rPr lang="en" sz="3200">
                <a:latin typeface="Times New Roman"/>
                <a:ea typeface="Times New Roman"/>
                <a:cs typeface="Times New Roman"/>
                <a:sym typeface="Times New Roman"/>
              </a:rPr>
              <a:t>That the applicant has no interest in the subject matter</a:t>
            </a:r>
            <a:endParaRPr sz="3200"/>
          </a:p>
          <a:p>
            <a:pPr indent="-457189" lvl="0" marL="457189" rtl="0" algn="l">
              <a:lnSpc>
                <a:spcPct val="90000"/>
              </a:lnSpc>
              <a:spcBef>
                <a:spcPts val="1067"/>
              </a:spcBef>
              <a:spcAft>
                <a:spcPts val="0"/>
              </a:spcAft>
              <a:buClr>
                <a:schemeClr val="dk1"/>
              </a:buClr>
              <a:buSzPts val="4000"/>
              <a:buChar char="•"/>
            </a:pPr>
            <a:r>
              <a:rPr lang="en" sz="3200">
                <a:latin typeface="Times New Roman"/>
                <a:ea typeface="Times New Roman"/>
                <a:cs typeface="Times New Roman"/>
                <a:sym typeface="Times New Roman"/>
              </a:rPr>
              <a:t>That the applicant has not colluded with any of the claimants.</a:t>
            </a:r>
            <a:endParaRPr sz="3200"/>
          </a:p>
          <a:p>
            <a:pPr indent="-457189" lvl="0" marL="457189" rtl="0" algn="l">
              <a:lnSpc>
                <a:spcPct val="90000"/>
              </a:lnSpc>
              <a:spcBef>
                <a:spcPts val="1067"/>
              </a:spcBef>
              <a:spcAft>
                <a:spcPts val="0"/>
              </a:spcAft>
              <a:buClr>
                <a:schemeClr val="dk1"/>
              </a:buClr>
              <a:buSzPts val="4000"/>
              <a:buChar char="•"/>
            </a:pPr>
            <a:r>
              <a:rPr lang="en" sz="3200">
                <a:latin typeface="Times New Roman"/>
                <a:ea typeface="Times New Roman"/>
                <a:cs typeface="Times New Roman"/>
                <a:sym typeface="Times New Roman"/>
              </a:rPr>
              <a:t>That the applicant is wiling to transfer or dispose of as the court may direct</a:t>
            </a:r>
            <a:endParaRPr sz="3200">
              <a:latin typeface="Times New Roman"/>
              <a:ea typeface="Times New Roman"/>
              <a:cs typeface="Times New Roman"/>
              <a:sym typeface="Times New Roman"/>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9" name="Shape 509"/>
        <p:cNvGrpSpPr/>
        <p:nvPr/>
      </p:nvGrpSpPr>
      <p:grpSpPr>
        <a:xfrm>
          <a:off x="0" y="0"/>
          <a:ext cx="0" cy="0"/>
          <a:chOff x="0" y="0"/>
          <a:chExt cx="0" cy="0"/>
        </a:xfrm>
      </p:grpSpPr>
      <p:sp>
        <p:nvSpPr>
          <p:cNvPr id="510" name="Google Shape;510;p72"/>
          <p:cNvSpPr txBox="1"/>
          <p:nvPr>
            <p:ph type="title"/>
          </p:nvPr>
        </p:nvSpPr>
        <p:spPr>
          <a:xfrm>
            <a:off x="838200" y="365125"/>
            <a:ext cx="10515600" cy="1325563"/>
          </a:xfrm>
          <a:prstGeom prst="rect">
            <a:avLst/>
          </a:prstGeom>
          <a:noFill/>
          <a:ln>
            <a:noFill/>
          </a:ln>
        </p:spPr>
        <p:txBody>
          <a:bodyPr anchorCtr="0" anchor="ctr" bIns="60925" lIns="121900" spcFirstLastPara="1" rIns="121900" wrap="square" tIns="60925">
            <a:noAutofit/>
          </a:bodyPr>
          <a:lstStyle/>
          <a:p>
            <a:pPr indent="0" lvl="0" marL="0" rtl="0" algn="ctr">
              <a:lnSpc>
                <a:spcPct val="90000"/>
              </a:lnSpc>
              <a:spcBef>
                <a:spcPts val="0"/>
              </a:spcBef>
              <a:spcAft>
                <a:spcPts val="0"/>
              </a:spcAft>
              <a:buClr>
                <a:schemeClr val="dk1"/>
              </a:buClr>
              <a:buSzPts val="4400"/>
              <a:buFont typeface="Times New Roman"/>
              <a:buNone/>
            </a:pPr>
            <a:r>
              <a:rPr b="1" lang="en">
                <a:latin typeface="Times New Roman"/>
                <a:ea typeface="Times New Roman"/>
                <a:cs typeface="Times New Roman"/>
                <a:sym typeface="Times New Roman"/>
              </a:rPr>
              <a:t>Sheriffs Interpleader</a:t>
            </a:r>
            <a:endParaRPr b="1">
              <a:latin typeface="Times New Roman"/>
              <a:ea typeface="Times New Roman"/>
              <a:cs typeface="Times New Roman"/>
              <a:sym typeface="Times New Roman"/>
            </a:endParaRPr>
          </a:p>
        </p:txBody>
      </p:sp>
      <p:sp>
        <p:nvSpPr>
          <p:cNvPr id="511" name="Google Shape;511;p72"/>
          <p:cNvSpPr txBox="1"/>
          <p:nvPr>
            <p:ph idx="1" type="body"/>
          </p:nvPr>
        </p:nvSpPr>
        <p:spPr>
          <a:xfrm>
            <a:off x="838200" y="1825625"/>
            <a:ext cx="10515600" cy="4351338"/>
          </a:xfrm>
          <a:prstGeom prst="rect">
            <a:avLst/>
          </a:prstGeom>
          <a:noFill/>
          <a:ln>
            <a:noFill/>
          </a:ln>
        </p:spPr>
        <p:txBody>
          <a:bodyPr anchorCtr="0" anchor="t" bIns="60925" lIns="121900" spcFirstLastPara="1" rIns="121900" wrap="square" tIns="60925">
            <a:noAutofit/>
          </a:bodyPr>
          <a:lstStyle/>
          <a:p>
            <a:pPr indent="-457189" lvl="0" marL="457189" rtl="0" algn="l">
              <a:lnSpc>
                <a:spcPct val="90000"/>
              </a:lnSpc>
              <a:spcBef>
                <a:spcPts val="0"/>
              </a:spcBef>
              <a:spcAft>
                <a:spcPts val="0"/>
              </a:spcAft>
              <a:buClr>
                <a:schemeClr val="dk1"/>
              </a:buClr>
              <a:buSzPts val="3600"/>
              <a:buChar char="•"/>
            </a:pPr>
            <a:r>
              <a:rPr lang="en" sz="3200">
                <a:latin typeface="Times New Roman"/>
                <a:ea typeface="Times New Roman"/>
                <a:cs typeface="Times New Roman"/>
                <a:sym typeface="Times New Roman"/>
              </a:rPr>
              <a:t>Where a sheriff  carries out attachment pursuant to a judgment and a third party is laying claim to the property to be attached.</a:t>
            </a:r>
            <a:endParaRPr sz="3200"/>
          </a:p>
          <a:p>
            <a:pPr indent="-457189" lvl="0" marL="457189" rtl="0" algn="l">
              <a:lnSpc>
                <a:spcPct val="90000"/>
              </a:lnSpc>
              <a:spcBef>
                <a:spcPts val="960"/>
              </a:spcBef>
              <a:spcAft>
                <a:spcPts val="0"/>
              </a:spcAft>
              <a:buClr>
                <a:schemeClr val="dk1"/>
              </a:buClr>
              <a:buSzPts val="3600"/>
              <a:buChar char="•"/>
            </a:pPr>
            <a:r>
              <a:rPr lang="en" sz="3200">
                <a:latin typeface="Times New Roman"/>
                <a:ea typeface="Times New Roman"/>
                <a:cs typeface="Times New Roman"/>
                <a:sym typeface="Times New Roman"/>
              </a:rPr>
              <a:t>It is applicable when the goods or chattel of a person who is not named in the  writ of </a:t>
            </a:r>
            <a:r>
              <a:rPr i="1" lang="en" sz="3200">
                <a:latin typeface="Times New Roman"/>
                <a:ea typeface="Times New Roman"/>
                <a:cs typeface="Times New Roman"/>
                <a:sym typeface="Times New Roman"/>
              </a:rPr>
              <a:t>fi fa </a:t>
            </a:r>
            <a:r>
              <a:rPr lang="en" sz="3200">
                <a:latin typeface="Times New Roman"/>
                <a:ea typeface="Times New Roman"/>
                <a:cs typeface="Times New Roman"/>
                <a:sym typeface="Times New Roman"/>
              </a:rPr>
              <a:t>is attached. See </a:t>
            </a:r>
            <a:r>
              <a:rPr b="1" lang="en" sz="3200">
                <a:latin typeface="Times New Roman"/>
                <a:ea typeface="Times New Roman"/>
                <a:cs typeface="Times New Roman"/>
                <a:sym typeface="Times New Roman"/>
              </a:rPr>
              <a:t>KEY STONE BANK LTD V M &amp;M LTD (2018) ALL FWLR (PT 918) 143</a:t>
            </a:r>
            <a:endParaRPr sz="3200"/>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5" name="Shape 515"/>
        <p:cNvGrpSpPr/>
        <p:nvPr/>
      </p:nvGrpSpPr>
      <p:grpSpPr>
        <a:xfrm>
          <a:off x="0" y="0"/>
          <a:ext cx="0" cy="0"/>
          <a:chOff x="0" y="0"/>
          <a:chExt cx="0" cy="0"/>
        </a:xfrm>
      </p:grpSpPr>
      <p:sp>
        <p:nvSpPr>
          <p:cNvPr id="516" name="Google Shape;516;p73"/>
          <p:cNvSpPr txBox="1"/>
          <p:nvPr>
            <p:ph type="title"/>
          </p:nvPr>
        </p:nvSpPr>
        <p:spPr>
          <a:xfrm>
            <a:off x="838200" y="365125"/>
            <a:ext cx="10515600" cy="1325563"/>
          </a:xfrm>
          <a:prstGeom prst="rect">
            <a:avLst/>
          </a:prstGeom>
          <a:noFill/>
          <a:ln>
            <a:noFill/>
          </a:ln>
        </p:spPr>
        <p:txBody>
          <a:bodyPr anchorCtr="0" anchor="ctr" bIns="60925" lIns="121900" spcFirstLastPara="1" rIns="121900" wrap="square" tIns="60925">
            <a:noAutofit/>
          </a:bodyPr>
          <a:lstStyle/>
          <a:p>
            <a:pPr indent="0" lvl="0" marL="0" rtl="0" algn="ctr">
              <a:lnSpc>
                <a:spcPct val="90000"/>
              </a:lnSpc>
              <a:spcBef>
                <a:spcPts val="0"/>
              </a:spcBef>
              <a:spcAft>
                <a:spcPts val="0"/>
              </a:spcAft>
              <a:buClr>
                <a:schemeClr val="dk1"/>
              </a:buClr>
              <a:buSzPts val="4400"/>
              <a:buFont typeface="Calibri"/>
              <a:buNone/>
            </a:pPr>
            <a:r>
              <a:t/>
            </a:r>
            <a:endParaRPr/>
          </a:p>
        </p:txBody>
      </p:sp>
      <p:sp>
        <p:nvSpPr>
          <p:cNvPr id="517" name="Google Shape;517;p73"/>
          <p:cNvSpPr txBox="1"/>
          <p:nvPr>
            <p:ph idx="1" type="body"/>
          </p:nvPr>
        </p:nvSpPr>
        <p:spPr>
          <a:xfrm>
            <a:off x="838200" y="1825625"/>
            <a:ext cx="10515600" cy="4351338"/>
          </a:xfrm>
          <a:prstGeom prst="rect">
            <a:avLst/>
          </a:prstGeom>
          <a:noFill/>
          <a:ln>
            <a:noFill/>
          </a:ln>
        </p:spPr>
        <p:txBody>
          <a:bodyPr anchorCtr="0" anchor="t" bIns="60925" lIns="121900" spcFirstLastPara="1" rIns="121900" wrap="square" tIns="60925">
            <a:noAutofit/>
          </a:bodyPr>
          <a:lstStyle/>
          <a:p>
            <a:pPr indent="-457189" lvl="0" marL="457189" rtl="0" algn="l">
              <a:lnSpc>
                <a:spcPct val="90000"/>
              </a:lnSpc>
              <a:spcBef>
                <a:spcPts val="0"/>
              </a:spcBef>
              <a:spcAft>
                <a:spcPts val="0"/>
              </a:spcAft>
              <a:buClr>
                <a:schemeClr val="dk1"/>
              </a:buClr>
              <a:buSzPts val="4000"/>
              <a:buChar char="•"/>
            </a:pPr>
            <a:r>
              <a:rPr lang="en" sz="3200">
                <a:latin typeface="Times New Roman"/>
                <a:ea typeface="Times New Roman"/>
                <a:cs typeface="Times New Roman"/>
                <a:sym typeface="Times New Roman"/>
              </a:rPr>
              <a:t>The third party and the judgment creditor are called upon to substantiate the claim.</a:t>
            </a:r>
            <a:endParaRPr sz="3200"/>
          </a:p>
          <a:p>
            <a:pPr indent="-457189" lvl="0" marL="457189" rtl="0" algn="l">
              <a:lnSpc>
                <a:spcPct val="90000"/>
              </a:lnSpc>
              <a:spcBef>
                <a:spcPts val="1067"/>
              </a:spcBef>
              <a:spcAft>
                <a:spcPts val="0"/>
              </a:spcAft>
              <a:buClr>
                <a:schemeClr val="dk1"/>
              </a:buClr>
              <a:buSzPts val="4000"/>
              <a:buChar char="•"/>
            </a:pPr>
            <a:r>
              <a:rPr lang="en" sz="3200">
                <a:latin typeface="Times New Roman"/>
                <a:ea typeface="Times New Roman"/>
                <a:cs typeface="Times New Roman"/>
                <a:sym typeface="Times New Roman"/>
              </a:rPr>
              <a:t>It operates as a stay pending the determination  of the matter. See </a:t>
            </a:r>
            <a:r>
              <a:rPr b="1" lang="en" sz="3200">
                <a:latin typeface="Times New Roman"/>
                <a:ea typeface="Times New Roman"/>
                <a:cs typeface="Times New Roman"/>
                <a:sym typeface="Times New Roman"/>
              </a:rPr>
              <a:t>SHELLE V OSHUN 11 NLR 43</a:t>
            </a:r>
            <a:endParaRPr b="1" sz="3200">
              <a:latin typeface="Times New Roman"/>
              <a:ea typeface="Times New Roman"/>
              <a:cs typeface="Times New Roman"/>
              <a:sym typeface="Times New Roman"/>
            </a:endParaRPr>
          </a:p>
          <a:p>
            <a:pPr indent="-118530" lvl="0" marL="457189" rtl="0" algn="l">
              <a:lnSpc>
                <a:spcPct val="90000"/>
              </a:lnSpc>
              <a:spcBef>
                <a:spcPts val="1067"/>
              </a:spcBef>
              <a:spcAft>
                <a:spcPts val="0"/>
              </a:spcAft>
              <a:buClr>
                <a:schemeClr val="dk1"/>
              </a:buClr>
              <a:buSzPts val="4000"/>
              <a:buNone/>
            </a:pPr>
            <a:r>
              <a:t/>
            </a:r>
            <a:endParaRPr sz="3200">
              <a:latin typeface="Times New Roman"/>
              <a:ea typeface="Times New Roman"/>
              <a:cs typeface="Times New Roman"/>
              <a:sym typeface="Times New Roman"/>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1" name="Shape 521"/>
        <p:cNvGrpSpPr/>
        <p:nvPr/>
      </p:nvGrpSpPr>
      <p:grpSpPr>
        <a:xfrm>
          <a:off x="0" y="0"/>
          <a:ext cx="0" cy="0"/>
          <a:chOff x="0" y="0"/>
          <a:chExt cx="0" cy="0"/>
        </a:xfrm>
      </p:grpSpPr>
      <p:sp>
        <p:nvSpPr>
          <p:cNvPr id="522" name="Google Shape;522;p74"/>
          <p:cNvSpPr txBox="1"/>
          <p:nvPr>
            <p:ph type="title"/>
          </p:nvPr>
        </p:nvSpPr>
        <p:spPr>
          <a:xfrm>
            <a:off x="838200" y="365125"/>
            <a:ext cx="10515600" cy="1325563"/>
          </a:xfrm>
          <a:prstGeom prst="rect">
            <a:avLst/>
          </a:prstGeom>
          <a:noFill/>
          <a:ln>
            <a:noFill/>
          </a:ln>
        </p:spPr>
        <p:txBody>
          <a:bodyPr anchorCtr="0" anchor="ctr" bIns="60925" lIns="121900" spcFirstLastPara="1" rIns="121900" wrap="square" tIns="60925">
            <a:noAutofit/>
          </a:bodyPr>
          <a:lstStyle/>
          <a:p>
            <a:pPr indent="0" lvl="0" marL="0" rtl="0" algn="ctr">
              <a:lnSpc>
                <a:spcPct val="90000"/>
              </a:lnSpc>
              <a:spcBef>
                <a:spcPts val="0"/>
              </a:spcBef>
              <a:spcAft>
                <a:spcPts val="0"/>
              </a:spcAft>
              <a:buClr>
                <a:schemeClr val="dk1"/>
              </a:buClr>
              <a:buSzPts val="3959"/>
              <a:buFont typeface="Times New Roman"/>
              <a:buNone/>
            </a:pPr>
            <a:r>
              <a:rPr b="1" lang="en" sz="5279">
                <a:latin typeface="Times New Roman"/>
                <a:ea typeface="Times New Roman"/>
                <a:cs typeface="Times New Roman"/>
                <a:sym typeface="Times New Roman"/>
              </a:rPr>
              <a:t>Time for bringing Interpleader</a:t>
            </a:r>
            <a:endParaRPr b="1" sz="5279">
              <a:latin typeface="Times New Roman"/>
              <a:ea typeface="Times New Roman"/>
              <a:cs typeface="Times New Roman"/>
              <a:sym typeface="Times New Roman"/>
            </a:endParaRPr>
          </a:p>
        </p:txBody>
      </p:sp>
      <p:sp>
        <p:nvSpPr>
          <p:cNvPr id="523" name="Google Shape;523;p74"/>
          <p:cNvSpPr txBox="1"/>
          <p:nvPr>
            <p:ph idx="1" type="body"/>
          </p:nvPr>
        </p:nvSpPr>
        <p:spPr>
          <a:xfrm>
            <a:off x="838200" y="1825625"/>
            <a:ext cx="10515600" cy="4351338"/>
          </a:xfrm>
          <a:prstGeom prst="rect">
            <a:avLst/>
          </a:prstGeom>
          <a:noFill/>
          <a:ln>
            <a:noFill/>
          </a:ln>
        </p:spPr>
        <p:txBody>
          <a:bodyPr anchorCtr="0" anchor="t" bIns="60925" lIns="121900" spcFirstLastPara="1" rIns="121900" wrap="square" tIns="60925">
            <a:noAutofit/>
          </a:bodyPr>
          <a:lstStyle/>
          <a:p>
            <a:pPr indent="-457189" lvl="0" marL="457189" rtl="0" algn="l">
              <a:lnSpc>
                <a:spcPct val="90000"/>
              </a:lnSpc>
              <a:spcBef>
                <a:spcPts val="0"/>
              </a:spcBef>
              <a:spcAft>
                <a:spcPts val="0"/>
              </a:spcAft>
              <a:buClr>
                <a:schemeClr val="dk1"/>
              </a:buClr>
              <a:buSzPts val="3600"/>
              <a:buChar char="•"/>
            </a:pPr>
            <a:r>
              <a:rPr lang="en" sz="4800">
                <a:latin typeface="Times New Roman"/>
                <a:ea typeface="Times New Roman"/>
                <a:cs typeface="Times New Roman"/>
                <a:sym typeface="Times New Roman"/>
              </a:rPr>
              <a:t>No time frame but it must t be brought before the sale of the property attached.</a:t>
            </a:r>
            <a:endParaRPr sz="4800">
              <a:latin typeface="Times New Roman"/>
              <a:ea typeface="Times New Roman"/>
              <a:cs typeface="Times New Roman"/>
              <a:sym typeface="Times New Roman"/>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sp>
        <p:nvSpPr>
          <p:cNvPr id="528" name="Google Shape;528;p7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Times New Roman"/>
              <a:buNone/>
            </a:pPr>
            <a:r>
              <a:rPr b="1" lang="en">
                <a:latin typeface="Times New Roman"/>
                <a:ea typeface="Times New Roman"/>
                <a:cs typeface="Times New Roman"/>
                <a:sym typeface="Times New Roman"/>
              </a:rPr>
              <a:t>ETHICAL ISSUES RELATING TO INTERLOCUTORY APPLICATIONS </a:t>
            </a:r>
            <a:endParaRPr b="1">
              <a:latin typeface="Times New Roman"/>
              <a:ea typeface="Times New Roman"/>
              <a:cs typeface="Times New Roman"/>
              <a:sym typeface="Times New Roman"/>
            </a:endParaRPr>
          </a:p>
        </p:txBody>
      </p:sp>
      <p:sp>
        <p:nvSpPr>
          <p:cNvPr id="529" name="Google Shape;529;p7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3" name="Shape 533"/>
        <p:cNvGrpSpPr/>
        <p:nvPr/>
      </p:nvGrpSpPr>
      <p:grpSpPr>
        <a:xfrm>
          <a:off x="0" y="0"/>
          <a:ext cx="0" cy="0"/>
          <a:chOff x="0" y="0"/>
          <a:chExt cx="0" cy="0"/>
        </a:xfrm>
      </p:grpSpPr>
      <p:sp>
        <p:nvSpPr>
          <p:cNvPr id="534" name="Google Shape;534;p7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sp>
        <p:nvSpPr>
          <p:cNvPr id="535" name="Google Shape;535;p7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1" marL="685800" rtl="0" algn="l">
              <a:lnSpc>
                <a:spcPct val="90000"/>
              </a:lnSpc>
              <a:spcBef>
                <a:spcPts val="0"/>
              </a:spcBef>
              <a:spcAft>
                <a:spcPts val="0"/>
              </a:spcAft>
              <a:buClr>
                <a:schemeClr val="dk1"/>
              </a:buClr>
              <a:buSzPts val="2400"/>
              <a:buChar char="•"/>
            </a:pPr>
            <a:r>
              <a:rPr lang="en"/>
              <a:t>Abuse of ex-parte injunctions</a:t>
            </a:r>
            <a:endParaRPr sz="2000"/>
          </a:p>
          <a:p>
            <a:pPr indent="-228600" lvl="1" marL="685800" rtl="0" algn="l">
              <a:lnSpc>
                <a:spcPct val="90000"/>
              </a:lnSpc>
              <a:spcBef>
                <a:spcPts val="500"/>
              </a:spcBef>
              <a:spcAft>
                <a:spcPts val="0"/>
              </a:spcAft>
              <a:buClr>
                <a:schemeClr val="dk1"/>
              </a:buClr>
              <a:buSzPts val="2400"/>
              <a:buChar char="•"/>
            </a:pPr>
            <a:r>
              <a:rPr lang="en"/>
              <a:t>Suppression of facts in ex parte applications (duty of counsel to verify facts relied on)</a:t>
            </a:r>
            <a:endParaRPr sz="2000"/>
          </a:p>
          <a:p>
            <a:pPr indent="-228600" lvl="1" marL="685800" rtl="0" algn="l">
              <a:lnSpc>
                <a:spcPct val="90000"/>
              </a:lnSpc>
              <a:spcBef>
                <a:spcPts val="500"/>
              </a:spcBef>
              <a:spcAft>
                <a:spcPts val="0"/>
              </a:spcAft>
              <a:buClr>
                <a:schemeClr val="dk1"/>
              </a:buClr>
              <a:buSzPts val="2400"/>
              <a:buChar char="•"/>
            </a:pPr>
            <a:r>
              <a:rPr lang="en"/>
              <a:t>Falsification or misrepresentation of facts in affidavit(duty of counsel to verify facts relied on in affidavit)</a:t>
            </a:r>
            <a:endParaRPr sz="2000"/>
          </a:p>
          <a:p>
            <a:pPr indent="-228600" lvl="1" marL="685800" rtl="0" algn="l">
              <a:lnSpc>
                <a:spcPct val="90000"/>
              </a:lnSpc>
              <a:spcBef>
                <a:spcPts val="500"/>
              </a:spcBef>
              <a:spcAft>
                <a:spcPts val="0"/>
              </a:spcAft>
              <a:buClr>
                <a:schemeClr val="dk1"/>
              </a:buClr>
              <a:buSzPts val="2400"/>
              <a:buChar char="•"/>
            </a:pPr>
            <a:r>
              <a:rPr lang="en"/>
              <a:t>Deposing to affidavit by counsel</a:t>
            </a:r>
            <a:endParaRPr sz="2000"/>
          </a:p>
          <a:p>
            <a:pPr indent="-228600" lvl="1" marL="685800" rtl="0" algn="l">
              <a:lnSpc>
                <a:spcPct val="90000"/>
              </a:lnSpc>
              <a:spcBef>
                <a:spcPts val="500"/>
              </a:spcBef>
              <a:spcAft>
                <a:spcPts val="0"/>
              </a:spcAft>
              <a:buClr>
                <a:schemeClr val="dk1"/>
              </a:buClr>
              <a:buSzPts val="2400"/>
              <a:buChar char="•"/>
            </a:pPr>
            <a:r>
              <a:rPr lang="en"/>
              <a:t>Late filing of motions and affidavits </a:t>
            </a:r>
            <a:endParaRPr sz="2000"/>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9" name="Shape 539"/>
        <p:cNvGrpSpPr/>
        <p:nvPr/>
      </p:nvGrpSpPr>
      <p:grpSpPr>
        <a:xfrm>
          <a:off x="0" y="0"/>
          <a:ext cx="0" cy="0"/>
          <a:chOff x="0" y="0"/>
          <a:chExt cx="0" cy="0"/>
        </a:xfrm>
      </p:grpSpPr>
      <p:sp>
        <p:nvSpPr>
          <p:cNvPr id="540" name="Google Shape;540;p77"/>
          <p:cNvSpPr txBox="1"/>
          <p:nvPr>
            <p:ph type="title"/>
          </p:nvPr>
        </p:nvSpPr>
        <p:spPr>
          <a:xfrm>
            <a:off x="838200" y="365125"/>
            <a:ext cx="10515600" cy="1325563"/>
          </a:xfrm>
          <a:prstGeom prst="rect">
            <a:avLst/>
          </a:prstGeom>
          <a:noFill/>
          <a:ln>
            <a:noFill/>
          </a:ln>
        </p:spPr>
        <p:txBody>
          <a:bodyPr anchorCtr="0" anchor="ctr" bIns="60925" lIns="121900" spcFirstLastPara="1" rIns="121900" wrap="square" tIns="60925">
            <a:noAutofit/>
          </a:bodyPr>
          <a:lstStyle/>
          <a:p>
            <a:pPr indent="0" lvl="0" marL="0" rtl="0" algn="ctr">
              <a:lnSpc>
                <a:spcPct val="90000"/>
              </a:lnSpc>
              <a:spcBef>
                <a:spcPts val="0"/>
              </a:spcBef>
              <a:spcAft>
                <a:spcPts val="0"/>
              </a:spcAft>
              <a:buClr>
                <a:schemeClr val="dk1"/>
              </a:buClr>
              <a:buSzPts val="3959"/>
              <a:buFont typeface="Times New Roman"/>
              <a:buNone/>
            </a:pPr>
            <a:r>
              <a:rPr b="1" lang="en" sz="5279">
                <a:latin typeface="Times New Roman"/>
                <a:ea typeface="Times New Roman"/>
                <a:cs typeface="Times New Roman"/>
                <a:sym typeface="Times New Roman"/>
              </a:rPr>
              <a:t>1. Abuse of Ex parte Injunctions</a:t>
            </a:r>
            <a:endParaRPr b="1" sz="5279">
              <a:latin typeface="Times New Roman"/>
              <a:ea typeface="Times New Roman"/>
              <a:cs typeface="Times New Roman"/>
              <a:sym typeface="Times New Roman"/>
            </a:endParaRPr>
          </a:p>
        </p:txBody>
      </p:sp>
      <p:sp>
        <p:nvSpPr>
          <p:cNvPr id="541" name="Google Shape;541;p77"/>
          <p:cNvSpPr txBox="1"/>
          <p:nvPr>
            <p:ph idx="1" type="body"/>
          </p:nvPr>
        </p:nvSpPr>
        <p:spPr>
          <a:xfrm>
            <a:off x="838200" y="1825625"/>
            <a:ext cx="10515600" cy="4351338"/>
          </a:xfrm>
          <a:prstGeom prst="rect">
            <a:avLst/>
          </a:prstGeom>
          <a:noFill/>
          <a:ln>
            <a:noFill/>
          </a:ln>
        </p:spPr>
        <p:txBody>
          <a:bodyPr anchorCtr="0" anchor="t" bIns="60925" lIns="121900" spcFirstLastPara="1" rIns="121900" wrap="square" tIns="60925">
            <a:noAutofit/>
          </a:bodyPr>
          <a:lstStyle/>
          <a:p>
            <a:pPr indent="-457189" lvl="0" marL="457189" rtl="0" algn="l">
              <a:lnSpc>
                <a:spcPct val="90000"/>
              </a:lnSpc>
              <a:spcBef>
                <a:spcPts val="0"/>
              </a:spcBef>
              <a:spcAft>
                <a:spcPts val="0"/>
              </a:spcAft>
              <a:buClr>
                <a:schemeClr val="dk1"/>
              </a:buClr>
              <a:buSzPts val="3600"/>
              <a:buChar char="•"/>
            </a:pPr>
            <a:r>
              <a:rPr lang="en" sz="3733">
                <a:latin typeface="Times New Roman"/>
                <a:ea typeface="Times New Roman"/>
                <a:cs typeface="Times New Roman"/>
                <a:sym typeface="Times New Roman"/>
              </a:rPr>
              <a:t>The whole purpose is to ensure that the subject matter is not irreversibly altered before the motion on notice is heard.</a:t>
            </a:r>
            <a:endParaRPr sz="3733"/>
          </a:p>
          <a:p>
            <a:pPr indent="-457189" lvl="0" marL="457189" rtl="0" algn="l">
              <a:lnSpc>
                <a:spcPct val="90000"/>
              </a:lnSpc>
              <a:spcBef>
                <a:spcPts val="960"/>
              </a:spcBef>
              <a:spcAft>
                <a:spcPts val="0"/>
              </a:spcAft>
              <a:buClr>
                <a:schemeClr val="dk1"/>
              </a:buClr>
              <a:buSzPts val="3600"/>
              <a:buChar char="•"/>
            </a:pPr>
            <a:r>
              <a:rPr lang="en" sz="3733">
                <a:latin typeface="Times New Roman"/>
                <a:ea typeface="Times New Roman"/>
                <a:cs typeface="Times New Roman"/>
                <a:sym typeface="Times New Roman"/>
              </a:rPr>
              <a:t>In recent past there had been cases of abuse and misuse of </a:t>
            </a:r>
            <a:r>
              <a:rPr i="1" lang="en" sz="3733">
                <a:latin typeface="Times New Roman"/>
                <a:ea typeface="Times New Roman"/>
                <a:cs typeface="Times New Roman"/>
                <a:sym typeface="Times New Roman"/>
              </a:rPr>
              <a:t>ex parte</a:t>
            </a:r>
            <a:r>
              <a:rPr lang="en" sz="3733">
                <a:latin typeface="Times New Roman"/>
                <a:ea typeface="Times New Roman"/>
                <a:cs typeface="Times New Roman"/>
                <a:sym typeface="Times New Roman"/>
              </a:rPr>
              <a:t> injunction. </a:t>
            </a:r>
            <a:endParaRPr sz="3733"/>
          </a:p>
          <a:p>
            <a:pPr indent="-457189" lvl="0" marL="457189" rtl="0" algn="l">
              <a:lnSpc>
                <a:spcPct val="90000"/>
              </a:lnSpc>
              <a:spcBef>
                <a:spcPts val="960"/>
              </a:spcBef>
              <a:spcAft>
                <a:spcPts val="0"/>
              </a:spcAft>
              <a:buClr>
                <a:schemeClr val="dk1"/>
              </a:buClr>
              <a:buSzPts val="3600"/>
              <a:buChar char="•"/>
            </a:pPr>
            <a:r>
              <a:rPr i="1" lang="en" sz="3733">
                <a:latin typeface="Times New Roman"/>
                <a:ea typeface="Times New Roman"/>
                <a:cs typeface="Times New Roman"/>
                <a:sym typeface="Times New Roman"/>
              </a:rPr>
              <a:t>Ex parte</a:t>
            </a:r>
            <a:r>
              <a:rPr lang="en" sz="3733">
                <a:latin typeface="Times New Roman"/>
                <a:ea typeface="Times New Roman"/>
                <a:cs typeface="Times New Roman"/>
                <a:sym typeface="Times New Roman"/>
              </a:rPr>
              <a:t> injunctions are being abused by Judges and Lawyers.</a:t>
            </a:r>
            <a:endParaRPr sz="3733"/>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5" name="Shape 545"/>
        <p:cNvGrpSpPr/>
        <p:nvPr/>
      </p:nvGrpSpPr>
      <p:grpSpPr>
        <a:xfrm>
          <a:off x="0" y="0"/>
          <a:ext cx="0" cy="0"/>
          <a:chOff x="0" y="0"/>
          <a:chExt cx="0" cy="0"/>
        </a:xfrm>
      </p:grpSpPr>
      <p:sp>
        <p:nvSpPr>
          <p:cNvPr id="546" name="Google Shape;546;p78"/>
          <p:cNvSpPr txBox="1"/>
          <p:nvPr>
            <p:ph type="title"/>
          </p:nvPr>
        </p:nvSpPr>
        <p:spPr>
          <a:xfrm>
            <a:off x="609600" y="-152400"/>
            <a:ext cx="10972800" cy="1143200"/>
          </a:xfrm>
          <a:prstGeom prst="rect">
            <a:avLst/>
          </a:prstGeom>
          <a:noFill/>
          <a:ln>
            <a:noFill/>
          </a:ln>
        </p:spPr>
        <p:txBody>
          <a:bodyPr anchorCtr="0" anchor="ctr" bIns="60925" lIns="121900" spcFirstLastPara="1" rIns="121900" wrap="square" tIns="60925">
            <a:noAutofit/>
          </a:bodyPr>
          <a:lstStyle/>
          <a:p>
            <a:pPr indent="0" lvl="0" marL="0" rtl="0" algn="ctr">
              <a:lnSpc>
                <a:spcPct val="90000"/>
              </a:lnSpc>
              <a:spcBef>
                <a:spcPts val="0"/>
              </a:spcBef>
              <a:spcAft>
                <a:spcPts val="0"/>
              </a:spcAft>
              <a:buClr>
                <a:schemeClr val="dk1"/>
              </a:buClr>
              <a:buSzPts val="4400"/>
              <a:buFont typeface="Calibri"/>
              <a:buNone/>
            </a:pPr>
            <a:r>
              <a:t/>
            </a:r>
            <a:endParaRPr/>
          </a:p>
        </p:txBody>
      </p:sp>
      <p:sp>
        <p:nvSpPr>
          <p:cNvPr id="547" name="Google Shape;547;p78"/>
          <p:cNvSpPr txBox="1"/>
          <p:nvPr>
            <p:ph idx="1" type="body"/>
          </p:nvPr>
        </p:nvSpPr>
        <p:spPr>
          <a:xfrm>
            <a:off x="508000" y="1295400"/>
            <a:ext cx="11074400" cy="4830800"/>
          </a:xfrm>
          <a:prstGeom prst="rect">
            <a:avLst/>
          </a:prstGeom>
          <a:noFill/>
          <a:ln>
            <a:noFill/>
          </a:ln>
        </p:spPr>
        <p:txBody>
          <a:bodyPr anchorCtr="0" anchor="t" bIns="60925" lIns="121900" spcFirstLastPara="1" rIns="121900" wrap="square" tIns="60925">
            <a:noAutofit/>
          </a:bodyPr>
          <a:lstStyle/>
          <a:p>
            <a:pPr indent="-457189" lvl="0" marL="457189" rtl="0" algn="l">
              <a:lnSpc>
                <a:spcPct val="90000"/>
              </a:lnSpc>
              <a:spcBef>
                <a:spcPts val="0"/>
              </a:spcBef>
              <a:spcAft>
                <a:spcPts val="0"/>
              </a:spcAft>
              <a:buClr>
                <a:schemeClr val="dk1"/>
              </a:buClr>
              <a:buSzPts val="3600"/>
              <a:buChar char="•"/>
            </a:pPr>
            <a:r>
              <a:rPr lang="en" sz="3733">
                <a:latin typeface="Times New Roman"/>
                <a:ea typeface="Times New Roman"/>
                <a:cs typeface="Times New Roman"/>
                <a:sym typeface="Times New Roman"/>
              </a:rPr>
              <a:t>Examples of such abuse are:</a:t>
            </a:r>
            <a:endParaRPr sz="3733"/>
          </a:p>
          <a:p>
            <a:pPr indent="-457189" lvl="0" marL="457189" rtl="0" algn="l">
              <a:lnSpc>
                <a:spcPct val="90000"/>
              </a:lnSpc>
              <a:spcBef>
                <a:spcPts val="960"/>
              </a:spcBef>
              <a:spcAft>
                <a:spcPts val="0"/>
              </a:spcAft>
              <a:buClr>
                <a:schemeClr val="dk1"/>
              </a:buClr>
              <a:buSzPts val="3600"/>
              <a:buFont typeface="Noto Sans Symbols"/>
              <a:buChar char="✔"/>
            </a:pPr>
            <a:r>
              <a:rPr lang="en" sz="3733">
                <a:latin typeface="Times New Roman"/>
                <a:ea typeface="Times New Roman"/>
                <a:cs typeface="Times New Roman"/>
                <a:sym typeface="Times New Roman"/>
              </a:rPr>
              <a:t>Where a court in one state refused to grant </a:t>
            </a:r>
            <a:r>
              <a:rPr i="1" lang="en" sz="3733">
                <a:latin typeface="Times New Roman"/>
                <a:ea typeface="Times New Roman"/>
                <a:cs typeface="Times New Roman"/>
                <a:sym typeface="Times New Roman"/>
              </a:rPr>
              <a:t>ex parte</a:t>
            </a:r>
            <a:r>
              <a:rPr lang="en" sz="3733">
                <a:latin typeface="Times New Roman"/>
                <a:ea typeface="Times New Roman"/>
                <a:cs typeface="Times New Roman"/>
                <a:sym typeface="Times New Roman"/>
              </a:rPr>
              <a:t> injunction and the applicant rushed to another state and filed a similar suit with an </a:t>
            </a:r>
            <a:r>
              <a:rPr i="1" lang="en" sz="3733">
                <a:latin typeface="Times New Roman"/>
                <a:ea typeface="Times New Roman"/>
                <a:cs typeface="Times New Roman"/>
                <a:sym typeface="Times New Roman"/>
              </a:rPr>
              <a:t>ex parte</a:t>
            </a:r>
            <a:r>
              <a:rPr lang="en" sz="3733">
                <a:latin typeface="Times New Roman"/>
                <a:ea typeface="Times New Roman"/>
                <a:cs typeface="Times New Roman"/>
                <a:sym typeface="Times New Roman"/>
              </a:rPr>
              <a:t> application for injunction without disclosing the previous application to the court. </a:t>
            </a:r>
            <a:r>
              <a:rPr b="1" lang="en" sz="3733">
                <a:latin typeface="Times New Roman"/>
                <a:ea typeface="Times New Roman"/>
                <a:cs typeface="Times New Roman"/>
                <a:sym typeface="Times New Roman"/>
              </a:rPr>
              <a:t>NATIONAL BANK OF NIG LTD V YINKA COMM. ENT. LTD see Interlocutory Applications by Afe Babalola page 38</a:t>
            </a:r>
            <a:endParaRPr b="1" sz="3733">
              <a:latin typeface="Times New Roman"/>
              <a:ea typeface="Times New Roman"/>
              <a:cs typeface="Times New Roman"/>
              <a:sym typeface="Times New Roman"/>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1" name="Shape 551"/>
        <p:cNvGrpSpPr/>
        <p:nvPr/>
      </p:nvGrpSpPr>
      <p:grpSpPr>
        <a:xfrm>
          <a:off x="0" y="0"/>
          <a:ext cx="0" cy="0"/>
          <a:chOff x="0" y="0"/>
          <a:chExt cx="0" cy="0"/>
        </a:xfrm>
      </p:grpSpPr>
      <p:sp>
        <p:nvSpPr>
          <p:cNvPr id="552" name="Google Shape;552;p79"/>
          <p:cNvSpPr txBox="1"/>
          <p:nvPr>
            <p:ph idx="1" type="body"/>
          </p:nvPr>
        </p:nvSpPr>
        <p:spPr>
          <a:xfrm>
            <a:off x="508000" y="762000"/>
            <a:ext cx="11074400" cy="5364000"/>
          </a:xfrm>
          <a:prstGeom prst="rect">
            <a:avLst/>
          </a:prstGeom>
          <a:noFill/>
          <a:ln>
            <a:noFill/>
          </a:ln>
        </p:spPr>
        <p:txBody>
          <a:bodyPr anchorCtr="0" anchor="t" bIns="60925" lIns="121900" spcFirstLastPara="1" rIns="121900" wrap="square" tIns="60925">
            <a:noAutofit/>
          </a:bodyPr>
          <a:lstStyle/>
          <a:p>
            <a:pPr indent="-457189" lvl="0" marL="457189" rtl="0" algn="l">
              <a:lnSpc>
                <a:spcPct val="90000"/>
              </a:lnSpc>
              <a:spcBef>
                <a:spcPts val="0"/>
              </a:spcBef>
              <a:spcAft>
                <a:spcPts val="0"/>
              </a:spcAft>
              <a:buClr>
                <a:schemeClr val="dk1"/>
              </a:buClr>
              <a:buSzPts val="3600"/>
              <a:buFont typeface="Noto Sans Symbols"/>
              <a:buChar char="✔"/>
            </a:pPr>
            <a:r>
              <a:rPr lang="en" sz="3733">
                <a:latin typeface="Times New Roman"/>
                <a:ea typeface="Times New Roman"/>
                <a:cs typeface="Times New Roman"/>
                <a:sym typeface="Times New Roman"/>
              </a:rPr>
              <a:t>A court granted </a:t>
            </a:r>
            <a:r>
              <a:rPr i="1" lang="en" sz="3733">
                <a:latin typeface="Times New Roman"/>
                <a:ea typeface="Times New Roman"/>
                <a:cs typeface="Times New Roman"/>
                <a:sym typeface="Times New Roman"/>
              </a:rPr>
              <a:t>ex parte</a:t>
            </a:r>
            <a:r>
              <a:rPr lang="en" sz="3733">
                <a:latin typeface="Times New Roman"/>
                <a:ea typeface="Times New Roman"/>
                <a:cs typeface="Times New Roman"/>
                <a:sym typeface="Times New Roman"/>
              </a:rPr>
              <a:t> order of interim injunction in favor of a Claimant. The defendant served. Counsel for the defendant went ahead to file a similar suit and obtained an </a:t>
            </a:r>
            <a:r>
              <a:rPr i="1" lang="en" sz="3733">
                <a:latin typeface="Times New Roman"/>
                <a:ea typeface="Times New Roman"/>
                <a:cs typeface="Times New Roman"/>
                <a:sym typeface="Times New Roman"/>
              </a:rPr>
              <a:t>ex parte</a:t>
            </a:r>
            <a:r>
              <a:rPr lang="en" sz="3733">
                <a:latin typeface="Times New Roman"/>
                <a:ea typeface="Times New Roman"/>
                <a:cs typeface="Times New Roman"/>
                <a:sym typeface="Times New Roman"/>
              </a:rPr>
              <a:t> order of injunction against the claimant on the same subject matter. </a:t>
            </a:r>
            <a:r>
              <a:rPr b="1" lang="en" sz="3733">
                <a:latin typeface="Times New Roman"/>
                <a:ea typeface="Times New Roman"/>
                <a:cs typeface="Times New Roman"/>
                <a:sym typeface="Times New Roman"/>
              </a:rPr>
              <a:t>PANAF INVESTMENT LTD V TEMPLE &amp; GOLDERS LTD see Interlocutory Applications by Afe Babalola page 38</a:t>
            </a:r>
            <a:endParaRPr sz="3733"/>
          </a:p>
          <a:p>
            <a:pPr indent="-152396" lvl="0" marL="457189" rtl="0" algn="l">
              <a:lnSpc>
                <a:spcPct val="90000"/>
              </a:lnSpc>
              <a:spcBef>
                <a:spcPts val="960"/>
              </a:spcBef>
              <a:spcAft>
                <a:spcPts val="0"/>
              </a:spcAft>
              <a:buClr>
                <a:schemeClr val="dk1"/>
              </a:buClr>
              <a:buSzPts val="3600"/>
              <a:buNone/>
            </a:pPr>
            <a:r>
              <a:t/>
            </a:r>
            <a:endParaRPr b="1" sz="4800">
              <a:latin typeface="Times New Roman"/>
              <a:ea typeface="Times New Roman"/>
              <a:cs typeface="Times New Roman"/>
              <a:sym typeface="Times New Roman"/>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6" name="Shape 556"/>
        <p:cNvGrpSpPr/>
        <p:nvPr/>
      </p:nvGrpSpPr>
      <p:grpSpPr>
        <a:xfrm>
          <a:off x="0" y="0"/>
          <a:ext cx="0" cy="0"/>
          <a:chOff x="0" y="0"/>
          <a:chExt cx="0" cy="0"/>
        </a:xfrm>
      </p:grpSpPr>
      <p:sp>
        <p:nvSpPr>
          <p:cNvPr id="557" name="Google Shape;557;p80"/>
          <p:cNvSpPr txBox="1"/>
          <p:nvPr>
            <p:ph type="title"/>
          </p:nvPr>
        </p:nvSpPr>
        <p:spPr>
          <a:xfrm>
            <a:off x="838200" y="365125"/>
            <a:ext cx="10515600" cy="1325563"/>
          </a:xfrm>
          <a:prstGeom prst="rect">
            <a:avLst/>
          </a:prstGeom>
          <a:noFill/>
          <a:ln>
            <a:noFill/>
          </a:ln>
        </p:spPr>
        <p:txBody>
          <a:bodyPr anchorCtr="0" anchor="ctr" bIns="60925" lIns="121900" spcFirstLastPara="1" rIns="121900" wrap="square" tIns="60925">
            <a:noAutofit/>
          </a:bodyPr>
          <a:lstStyle/>
          <a:p>
            <a:pPr indent="0" lvl="0" marL="0" rtl="0" algn="ctr">
              <a:lnSpc>
                <a:spcPct val="90000"/>
              </a:lnSpc>
              <a:spcBef>
                <a:spcPts val="0"/>
              </a:spcBef>
              <a:spcAft>
                <a:spcPts val="0"/>
              </a:spcAft>
              <a:buClr>
                <a:schemeClr val="dk1"/>
              </a:buClr>
              <a:buSzPts val="4400"/>
              <a:buFont typeface="Calibri"/>
              <a:buNone/>
            </a:pPr>
            <a:r>
              <a:t/>
            </a:r>
            <a:endParaRPr/>
          </a:p>
        </p:txBody>
      </p:sp>
      <p:sp>
        <p:nvSpPr>
          <p:cNvPr id="558" name="Google Shape;558;p80"/>
          <p:cNvSpPr txBox="1"/>
          <p:nvPr>
            <p:ph idx="1" type="body"/>
          </p:nvPr>
        </p:nvSpPr>
        <p:spPr>
          <a:xfrm>
            <a:off x="609600" y="1447800"/>
            <a:ext cx="10972800" cy="4678400"/>
          </a:xfrm>
          <a:prstGeom prst="rect">
            <a:avLst/>
          </a:prstGeom>
          <a:noFill/>
          <a:ln>
            <a:noFill/>
          </a:ln>
        </p:spPr>
        <p:txBody>
          <a:bodyPr anchorCtr="0" anchor="t" bIns="60925" lIns="121900" spcFirstLastPara="1" rIns="121900" wrap="square" tIns="60925">
            <a:noAutofit/>
          </a:bodyPr>
          <a:lstStyle/>
          <a:p>
            <a:pPr indent="-457189" lvl="0" marL="457189" rtl="0" algn="l">
              <a:lnSpc>
                <a:spcPct val="90000"/>
              </a:lnSpc>
              <a:spcBef>
                <a:spcPts val="0"/>
              </a:spcBef>
              <a:spcAft>
                <a:spcPts val="0"/>
              </a:spcAft>
              <a:buClr>
                <a:schemeClr val="dk1"/>
              </a:buClr>
              <a:buSzPts val="3600"/>
              <a:buFont typeface="Noto Sans Symbols"/>
              <a:buChar char="✔"/>
            </a:pPr>
            <a:r>
              <a:rPr lang="en" sz="3733">
                <a:latin typeface="Times New Roman"/>
                <a:ea typeface="Times New Roman"/>
                <a:cs typeface="Times New Roman"/>
                <a:sym typeface="Times New Roman"/>
              </a:rPr>
              <a:t>A case where a Judge  adjourned the hearing of an </a:t>
            </a:r>
            <a:r>
              <a:rPr i="1" lang="en" sz="3733">
                <a:latin typeface="Times New Roman"/>
                <a:ea typeface="Times New Roman"/>
                <a:cs typeface="Times New Roman"/>
                <a:sym typeface="Times New Roman"/>
              </a:rPr>
              <a:t>ex parte</a:t>
            </a:r>
            <a:r>
              <a:rPr lang="en" sz="3733">
                <a:latin typeface="Times New Roman"/>
                <a:ea typeface="Times New Roman"/>
                <a:cs typeface="Times New Roman"/>
                <a:sym typeface="Times New Roman"/>
              </a:rPr>
              <a:t> application for interim injunction, for two weeks. After hearing, ruling adjourned for another one week. </a:t>
            </a:r>
            <a:r>
              <a:rPr b="1" lang="en" sz="3733">
                <a:latin typeface="Times New Roman"/>
                <a:ea typeface="Times New Roman"/>
                <a:cs typeface="Times New Roman"/>
                <a:sym typeface="Times New Roman"/>
              </a:rPr>
              <a:t>MORGAN AIRLINES LTD V TRANSNET LTD &amp; ORS see Interlocutory Applications by Afe Babalola page 40</a:t>
            </a:r>
            <a:endParaRPr b="1" sz="3733">
              <a:latin typeface="Times New Roman"/>
              <a:ea typeface="Times New Roman"/>
              <a:cs typeface="Times New Roman"/>
              <a:sym typeface="Times New Roman"/>
            </a:endParaRPr>
          </a:p>
          <a:p>
            <a:pPr indent="-152396" lvl="0" marL="457189" rtl="0" algn="l">
              <a:lnSpc>
                <a:spcPct val="90000"/>
              </a:lnSpc>
              <a:spcBef>
                <a:spcPts val="960"/>
              </a:spcBef>
              <a:spcAft>
                <a:spcPts val="0"/>
              </a:spcAft>
              <a:buClr>
                <a:schemeClr val="dk1"/>
              </a:buClr>
              <a:buSzPts val="3600"/>
              <a:buNone/>
            </a:pPr>
            <a:r>
              <a:t/>
            </a:r>
            <a:endParaRPr b="1" sz="3733">
              <a:latin typeface="Times New Roman"/>
              <a:ea typeface="Times New Roman"/>
              <a:cs typeface="Times New Roman"/>
              <a:sym typeface="Times New Roman"/>
            </a:endParaRPr>
          </a:p>
          <a:p>
            <a:pPr indent="0" lvl="0" marL="0" rtl="0" algn="l">
              <a:lnSpc>
                <a:spcPct val="90000"/>
              </a:lnSpc>
              <a:spcBef>
                <a:spcPts val="960"/>
              </a:spcBef>
              <a:spcAft>
                <a:spcPts val="0"/>
              </a:spcAft>
              <a:buClr>
                <a:schemeClr val="dk1"/>
              </a:buClr>
              <a:buSzPts val="3600"/>
              <a:buNone/>
            </a:pPr>
            <a:r>
              <a:t/>
            </a:r>
            <a:endParaRPr b="1" sz="3733">
              <a:latin typeface="Times New Roman"/>
              <a:ea typeface="Times New Roman"/>
              <a:cs typeface="Times New Roman"/>
              <a:sym typeface="Times New Roman"/>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2" name="Shape 562"/>
        <p:cNvGrpSpPr/>
        <p:nvPr/>
      </p:nvGrpSpPr>
      <p:grpSpPr>
        <a:xfrm>
          <a:off x="0" y="0"/>
          <a:ext cx="0" cy="0"/>
          <a:chOff x="0" y="0"/>
          <a:chExt cx="0" cy="0"/>
        </a:xfrm>
      </p:grpSpPr>
      <p:sp>
        <p:nvSpPr>
          <p:cNvPr id="563" name="Google Shape;563;p81"/>
          <p:cNvSpPr txBox="1"/>
          <p:nvPr>
            <p:ph idx="1" type="body"/>
          </p:nvPr>
        </p:nvSpPr>
        <p:spPr>
          <a:xfrm>
            <a:off x="838200" y="1825625"/>
            <a:ext cx="10515600" cy="4351338"/>
          </a:xfrm>
          <a:prstGeom prst="rect">
            <a:avLst/>
          </a:prstGeom>
          <a:noFill/>
          <a:ln>
            <a:noFill/>
          </a:ln>
        </p:spPr>
        <p:txBody>
          <a:bodyPr anchorCtr="0" anchor="t" bIns="60925" lIns="121900" spcFirstLastPara="1" rIns="121900" wrap="square" tIns="60925">
            <a:noAutofit/>
          </a:bodyPr>
          <a:lstStyle/>
          <a:p>
            <a:pPr indent="-457189" lvl="0" marL="457189" rtl="0" algn="l">
              <a:lnSpc>
                <a:spcPct val="90000"/>
              </a:lnSpc>
              <a:spcBef>
                <a:spcPts val="0"/>
              </a:spcBef>
              <a:spcAft>
                <a:spcPts val="0"/>
              </a:spcAft>
              <a:buClr>
                <a:schemeClr val="dk1"/>
              </a:buClr>
              <a:buSzPts val="4000"/>
              <a:buFont typeface="Noto Sans Symbols"/>
              <a:buChar char="✔"/>
            </a:pPr>
            <a:r>
              <a:rPr lang="en" sz="3733">
                <a:latin typeface="Times New Roman"/>
                <a:ea typeface="Times New Roman"/>
                <a:cs typeface="Times New Roman"/>
                <a:sym typeface="Times New Roman"/>
              </a:rPr>
              <a:t>Where a ruling for </a:t>
            </a:r>
            <a:r>
              <a:rPr i="1" lang="en" sz="3733">
                <a:latin typeface="Times New Roman"/>
                <a:ea typeface="Times New Roman"/>
                <a:cs typeface="Times New Roman"/>
                <a:sym typeface="Times New Roman"/>
              </a:rPr>
              <a:t>ex parte </a:t>
            </a:r>
            <a:r>
              <a:rPr lang="en" sz="3733">
                <a:latin typeface="Times New Roman"/>
                <a:ea typeface="Times New Roman"/>
                <a:cs typeface="Times New Roman"/>
                <a:sym typeface="Times New Roman"/>
              </a:rPr>
              <a:t>application for interim injunction  was adjourned sine die because the defendant who had notice that the judge had adjourned for ruling, filed a motion arresting the ruling. </a:t>
            </a:r>
            <a:r>
              <a:rPr b="1" lang="en" sz="3733">
                <a:latin typeface="Times New Roman"/>
                <a:ea typeface="Times New Roman"/>
                <a:cs typeface="Times New Roman"/>
                <a:sym typeface="Times New Roman"/>
              </a:rPr>
              <a:t>MORGAN AIRLINE V TRANSNET LTD.</a:t>
            </a:r>
            <a:endParaRPr b="1" sz="3733">
              <a:latin typeface="Times New Roman"/>
              <a:ea typeface="Times New Roman"/>
              <a:cs typeface="Times New Roman"/>
              <a:sym typeface="Times New Roman"/>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7" name="Shape 567"/>
        <p:cNvGrpSpPr/>
        <p:nvPr/>
      </p:nvGrpSpPr>
      <p:grpSpPr>
        <a:xfrm>
          <a:off x="0" y="0"/>
          <a:ext cx="0" cy="0"/>
          <a:chOff x="0" y="0"/>
          <a:chExt cx="0" cy="0"/>
        </a:xfrm>
      </p:grpSpPr>
      <p:sp>
        <p:nvSpPr>
          <p:cNvPr id="568" name="Google Shape;568;p82"/>
          <p:cNvSpPr txBox="1"/>
          <p:nvPr>
            <p:ph type="title"/>
          </p:nvPr>
        </p:nvSpPr>
        <p:spPr>
          <a:xfrm>
            <a:off x="838200" y="365125"/>
            <a:ext cx="10515600" cy="1325563"/>
          </a:xfrm>
          <a:prstGeom prst="rect">
            <a:avLst/>
          </a:prstGeom>
          <a:noFill/>
          <a:ln>
            <a:noFill/>
          </a:ln>
        </p:spPr>
        <p:txBody>
          <a:bodyPr anchorCtr="0" anchor="ctr" bIns="60925" lIns="121900" spcFirstLastPara="1" rIns="121900" wrap="square" tIns="60925">
            <a:noAutofit/>
          </a:bodyPr>
          <a:lstStyle/>
          <a:p>
            <a:pPr indent="0" lvl="0" marL="0" rtl="0" algn="ctr">
              <a:lnSpc>
                <a:spcPct val="90000"/>
              </a:lnSpc>
              <a:spcBef>
                <a:spcPts val="0"/>
              </a:spcBef>
              <a:spcAft>
                <a:spcPts val="0"/>
              </a:spcAft>
              <a:buClr>
                <a:schemeClr val="dk1"/>
              </a:buClr>
              <a:buSzPts val="4400"/>
              <a:buFont typeface="Calibri"/>
              <a:buNone/>
            </a:pPr>
            <a:r>
              <a:t/>
            </a:r>
            <a:endParaRPr/>
          </a:p>
        </p:txBody>
      </p:sp>
      <p:sp>
        <p:nvSpPr>
          <p:cNvPr id="569" name="Google Shape;569;p82"/>
          <p:cNvSpPr txBox="1"/>
          <p:nvPr>
            <p:ph idx="1" type="body"/>
          </p:nvPr>
        </p:nvSpPr>
        <p:spPr>
          <a:xfrm>
            <a:off x="609600" y="1865870"/>
            <a:ext cx="10972800" cy="4526000"/>
          </a:xfrm>
          <a:prstGeom prst="rect">
            <a:avLst/>
          </a:prstGeom>
          <a:noFill/>
          <a:ln>
            <a:noFill/>
          </a:ln>
        </p:spPr>
        <p:txBody>
          <a:bodyPr anchorCtr="0" anchor="t" bIns="60925" lIns="121900" spcFirstLastPara="1" rIns="121900" wrap="square" tIns="60925">
            <a:noAutofit/>
          </a:bodyPr>
          <a:lstStyle/>
          <a:p>
            <a:pPr indent="-457189" lvl="0" marL="457189" rtl="0" algn="l">
              <a:lnSpc>
                <a:spcPct val="90000"/>
              </a:lnSpc>
              <a:spcBef>
                <a:spcPts val="0"/>
              </a:spcBef>
              <a:spcAft>
                <a:spcPts val="0"/>
              </a:spcAft>
              <a:buClr>
                <a:schemeClr val="dk1"/>
              </a:buClr>
              <a:buSzPts val="4800"/>
              <a:buChar char="•"/>
            </a:pPr>
            <a:r>
              <a:rPr b="1" lang="en" sz="3733">
                <a:latin typeface="Times New Roman"/>
                <a:ea typeface="Times New Roman"/>
                <a:cs typeface="Times New Roman"/>
                <a:sym typeface="Times New Roman"/>
              </a:rPr>
              <a:t>Hon Justice Mohammed Bello</a:t>
            </a:r>
            <a:r>
              <a:rPr lang="en" sz="3733">
                <a:latin typeface="Times New Roman"/>
                <a:ea typeface="Times New Roman"/>
                <a:cs typeface="Times New Roman"/>
                <a:sym typeface="Times New Roman"/>
              </a:rPr>
              <a:t>, </a:t>
            </a:r>
            <a:r>
              <a:rPr b="1" lang="en" sz="3733">
                <a:latin typeface="Times New Roman"/>
                <a:ea typeface="Times New Roman"/>
                <a:cs typeface="Times New Roman"/>
                <a:sym typeface="Times New Roman"/>
              </a:rPr>
              <a:t>CJN</a:t>
            </a:r>
            <a:r>
              <a:rPr lang="en" sz="3733">
                <a:latin typeface="Times New Roman"/>
                <a:ea typeface="Times New Roman"/>
                <a:cs typeface="Times New Roman"/>
                <a:sym typeface="Times New Roman"/>
              </a:rPr>
              <a:t> as he then was admonished Judges and practitioners at the </a:t>
            </a:r>
            <a:r>
              <a:rPr b="1" lang="en" sz="3733">
                <a:latin typeface="Times New Roman"/>
                <a:ea typeface="Times New Roman"/>
                <a:cs typeface="Times New Roman"/>
                <a:sym typeface="Times New Roman"/>
              </a:rPr>
              <a:t>All Nigerian Judges Conference held in Abuja</a:t>
            </a:r>
            <a:r>
              <a:rPr lang="en" sz="3733">
                <a:latin typeface="Times New Roman"/>
                <a:ea typeface="Times New Roman"/>
                <a:cs typeface="Times New Roman"/>
                <a:sym typeface="Times New Roman"/>
              </a:rPr>
              <a:t> in 1985 in the following words:</a:t>
            </a:r>
            <a:endParaRPr sz="3733"/>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3" name="Shape 573"/>
        <p:cNvGrpSpPr/>
        <p:nvPr/>
      </p:nvGrpSpPr>
      <p:grpSpPr>
        <a:xfrm>
          <a:off x="0" y="0"/>
          <a:ext cx="0" cy="0"/>
          <a:chOff x="0" y="0"/>
          <a:chExt cx="0" cy="0"/>
        </a:xfrm>
      </p:grpSpPr>
      <p:sp>
        <p:nvSpPr>
          <p:cNvPr id="574" name="Google Shape;574;p83"/>
          <p:cNvSpPr txBox="1"/>
          <p:nvPr>
            <p:ph type="title"/>
          </p:nvPr>
        </p:nvSpPr>
        <p:spPr>
          <a:xfrm>
            <a:off x="838200" y="365125"/>
            <a:ext cx="10515600" cy="1325563"/>
          </a:xfrm>
          <a:prstGeom prst="rect">
            <a:avLst/>
          </a:prstGeom>
          <a:noFill/>
          <a:ln>
            <a:noFill/>
          </a:ln>
        </p:spPr>
        <p:txBody>
          <a:bodyPr anchorCtr="0" anchor="ctr" bIns="60925" lIns="121900" spcFirstLastPara="1" rIns="121900" wrap="square" tIns="60925">
            <a:noAutofit/>
          </a:bodyPr>
          <a:lstStyle/>
          <a:p>
            <a:pPr indent="0" lvl="0" marL="0" rtl="0" algn="ctr">
              <a:lnSpc>
                <a:spcPct val="90000"/>
              </a:lnSpc>
              <a:spcBef>
                <a:spcPts val="0"/>
              </a:spcBef>
              <a:spcAft>
                <a:spcPts val="0"/>
              </a:spcAft>
              <a:buClr>
                <a:schemeClr val="dk1"/>
              </a:buClr>
              <a:buSzPts val="4400"/>
              <a:buFont typeface="Calibri"/>
              <a:buNone/>
            </a:pPr>
            <a:r>
              <a:t/>
            </a:r>
            <a:endParaRPr/>
          </a:p>
        </p:txBody>
      </p:sp>
      <p:sp>
        <p:nvSpPr>
          <p:cNvPr id="575" name="Google Shape;575;p83"/>
          <p:cNvSpPr txBox="1"/>
          <p:nvPr>
            <p:ph idx="1" type="body"/>
          </p:nvPr>
        </p:nvSpPr>
        <p:spPr>
          <a:xfrm>
            <a:off x="937054" y="1862696"/>
            <a:ext cx="10515600" cy="4351338"/>
          </a:xfrm>
          <a:prstGeom prst="rect">
            <a:avLst/>
          </a:prstGeom>
          <a:noFill/>
          <a:ln>
            <a:noFill/>
          </a:ln>
        </p:spPr>
        <p:txBody>
          <a:bodyPr anchorCtr="0" anchor="t" bIns="60925" lIns="121900" spcFirstLastPara="1" rIns="121900" wrap="square" tIns="60925">
            <a:noAutofit/>
          </a:bodyPr>
          <a:lstStyle/>
          <a:p>
            <a:pPr indent="0" lvl="0" marL="0" rtl="0" algn="l">
              <a:lnSpc>
                <a:spcPct val="90000"/>
              </a:lnSpc>
              <a:spcBef>
                <a:spcPts val="0"/>
              </a:spcBef>
              <a:spcAft>
                <a:spcPts val="0"/>
              </a:spcAft>
              <a:buClr>
                <a:schemeClr val="dk1"/>
              </a:buClr>
              <a:buSzPts val="4400"/>
              <a:buNone/>
            </a:pPr>
            <a:r>
              <a:rPr lang="en" sz="3200">
                <a:latin typeface="Times New Roman"/>
                <a:ea typeface="Times New Roman"/>
                <a:cs typeface="Times New Roman"/>
                <a:sym typeface="Times New Roman"/>
              </a:rPr>
              <a:t>“</a:t>
            </a:r>
            <a:r>
              <a:rPr i="1" lang="en" sz="3200">
                <a:latin typeface="Times New Roman"/>
                <a:ea typeface="Times New Roman"/>
                <a:cs typeface="Times New Roman"/>
                <a:sym typeface="Times New Roman"/>
              </a:rPr>
              <a:t>the decision of some of our courts on ex parte injunction seem to put individual interest over national interest in Nigeria. Public functionaries have been restrained without given a hearing  from performing their constitutional and statutory duties at the instance of exuberant individual. I had of occasion to point out early this year that it was only in Nigeria that a court of law would restrain a university by order of an ex parte injunction from holding convocation to award degrees to over a thousand students, who had passed their examinations. </a:t>
            </a:r>
            <a:endParaRPr/>
          </a:p>
          <a:p>
            <a:pPr indent="0" lvl="0" marL="0" rtl="0" algn="l">
              <a:lnSpc>
                <a:spcPct val="90000"/>
              </a:lnSpc>
              <a:spcBef>
                <a:spcPts val="0"/>
              </a:spcBef>
              <a:spcAft>
                <a:spcPts val="0"/>
              </a:spcAft>
              <a:buClr>
                <a:schemeClr val="dk1"/>
              </a:buClr>
              <a:buSzPts val="4400"/>
              <a:buNone/>
            </a:pPr>
            <a:r>
              <a:t/>
            </a:r>
            <a:endParaRPr sz="3200"/>
          </a:p>
          <a:p>
            <a:pPr indent="0" lvl="0" marL="0" rtl="0" algn="l">
              <a:lnSpc>
                <a:spcPct val="90000"/>
              </a:lnSpc>
              <a:spcBef>
                <a:spcPts val="1173"/>
              </a:spcBef>
              <a:spcAft>
                <a:spcPts val="0"/>
              </a:spcAft>
              <a:buClr>
                <a:schemeClr val="dk1"/>
              </a:buClr>
              <a:buSzPts val="4400"/>
              <a:buNone/>
            </a:pPr>
            <a:r>
              <a:t/>
            </a:r>
            <a:endParaRPr sz="3200"/>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9" name="Shape 579"/>
        <p:cNvGrpSpPr/>
        <p:nvPr/>
      </p:nvGrpSpPr>
      <p:grpSpPr>
        <a:xfrm>
          <a:off x="0" y="0"/>
          <a:ext cx="0" cy="0"/>
          <a:chOff x="0" y="0"/>
          <a:chExt cx="0" cy="0"/>
        </a:xfrm>
      </p:grpSpPr>
      <p:sp>
        <p:nvSpPr>
          <p:cNvPr id="580" name="Google Shape;580;p8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sp>
        <p:nvSpPr>
          <p:cNvPr id="581" name="Google Shape;581;p8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90000"/>
              </a:lnSpc>
              <a:spcBef>
                <a:spcPts val="0"/>
              </a:spcBef>
              <a:spcAft>
                <a:spcPts val="0"/>
              </a:spcAft>
              <a:buClr>
                <a:schemeClr val="dk1"/>
              </a:buClr>
              <a:buSzPts val="3600"/>
              <a:buChar char="•"/>
            </a:pPr>
            <a:r>
              <a:rPr i="1" lang="en" sz="3600">
                <a:latin typeface="Times New Roman"/>
                <a:ea typeface="Times New Roman"/>
                <a:cs typeface="Times New Roman"/>
                <a:sym typeface="Times New Roman"/>
              </a:rPr>
              <a:t>A court of law denied the deserving students their degrees because two students who had failed the examinations had applied to the court for a declaration that they too were entitled to be awarded degrees…. Indeed, there is urgent need among some of us, the Judges, to appreciate that ex parte injunction which was devised as a vehicle for the carriage of instant justice in proper cases should not be  converted into bulldozer for demolition of substantial justice…”</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5" name="Shape 585"/>
        <p:cNvGrpSpPr/>
        <p:nvPr/>
      </p:nvGrpSpPr>
      <p:grpSpPr>
        <a:xfrm>
          <a:off x="0" y="0"/>
          <a:ext cx="0" cy="0"/>
          <a:chOff x="0" y="0"/>
          <a:chExt cx="0" cy="0"/>
        </a:xfrm>
      </p:grpSpPr>
      <p:sp>
        <p:nvSpPr>
          <p:cNvPr id="586" name="Google Shape;586;p85"/>
          <p:cNvSpPr txBox="1"/>
          <p:nvPr>
            <p:ph type="title"/>
          </p:nvPr>
        </p:nvSpPr>
        <p:spPr>
          <a:xfrm>
            <a:off x="838200" y="365125"/>
            <a:ext cx="10515600" cy="1325563"/>
          </a:xfrm>
          <a:prstGeom prst="rect">
            <a:avLst/>
          </a:prstGeom>
          <a:noFill/>
          <a:ln>
            <a:noFill/>
          </a:ln>
        </p:spPr>
        <p:txBody>
          <a:bodyPr anchorCtr="0" anchor="ctr" bIns="60925" lIns="121900" spcFirstLastPara="1" rIns="121900" wrap="square" tIns="60925">
            <a:noAutofit/>
          </a:bodyPr>
          <a:lstStyle/>
          <a:p>
            <a:pPr indent="0" lvl="0" marL="0" rtl="0" algn="ctr">
              <a:lnSpc>
                <a:spcPct val="90000"/>
              </a:lnSpc>
              <a:spcBef>
                <a:spcPts val="0"/>
              </a:spcBef>
              <a:spcAft>
                <a:spcPts val="0"/>
              </a:spcAft>
              <a:buClr>
                <a:schemeClr val="dk1"/>
              </a:buClr>
              <a:buSzPts val="3959"/>
              <a:buFont typeface="Calibri"/>
              <a:buNone/>
            </a:pPr>
            <a:r>
              <a:t/>
            </a:r>
            <a:endParaRPr b="1" sz="5279">
              <a:latin typeface="Times New Roman"/>
              <a:ea typeface="Times New Roman"/>
              <a:cs typeface="Times New Roman"/>
              <a:sym typeface="Times New Roman"/>
            </a:endParaRPr>
          </a:p>
        </p:txBody>
      </p:sp>
      <p:sp>
        <p:nvSpPr>
          <p:cNvPr id="587" name="Google Shape;587;p85"/>
          <p:cNvSpPr txBox="1"/>
          <p:nvPr>
            <p:ph idx="1" type="body"/>
          </p:nvPr>
        </p:nvSpPr>
        <p:spPr>
          <a:xfrm>
            <a:off x="838200" y="1825625"/>
            <a:ext cx="10515600" cy="4351338"/>
          </a:xfrm>
          <a:prstGeom prst="rect">
            <a:avLst/>
          </a:prstGeom>
          <a:noFill/>
          <a:ln>
            <a:noFill/>
          </a:ln>
        </p:spPr>
        <p:txBody>
          <a:bodyPr anchorCtr="0" anchor="t" bIns="60925" lIns="121900" spcFirstLastPara="1" rIns="121900" wrap="square" tIns="60925">
            <a:noAutofit/>
          </a:bodyPr>
          <a:lstStyle/>
          <a:p>
            <a:pPr indent="-457189" lvl="0" marL="457189" rtl="0" algn="l">
              <a:lnSpc>
                <a:spcPct val="90000"/>
              </a:lnSpc>
              <a:spcBef>
                <a:spcPts val="0"/>
              </a:spcBef>
              <a:spcAft>
                <a:spcPts val="0"/>
              </a:spcAft>
              <a:buClr>
                <a:schemeClr val="dk1"/>
              </a:buClr>
              <a:buSzPts val="4800"/>
              <a:buChar char="•"/>
            </a:pPr>
            <a:r>
              <a:rPr lang="en" sz="3733">
                <a:latin typeface="Times New Roman"/>
                <a:ea typeface="Times New Roman"/>
                <a:cs typeface="Times New Roman"/>
                <a:sym typeface="Times New Roman"/>
              </a:rPr>
              <a:t>See Rule 2(2) Code of Conduct for Judicial Officers.</a:t>
            </a:r>
            <a:endParaRPr sz="3733"/>
          </a:p>
          <a:p>
            <a:pPr indent="-457189" lvl="0" marL="457189" rtl="0" algn="l">
              <a:lnSpc>
                <a:spcPct val="90000"/>
              </a:lnSpc>
              <a:spcBef>
                <a:spcPts val="1280"/>
              </a:spcBef>
              <a:spcAft>
                <a:spcPts val="0"/>
              </a:spcAft>
              <a:buClr>
                <a:schemeClr val="dk1"/>
              </a:buClr>
              <a:buSzPts val="4800"/>
              <a:buChar char="•"/>
            </a:pPr>
            <a:r>
              <a:rPr lang="en" sz="3733">
                <a:latin typeface="Times New Roman"/>
                <a:ea typeface="Times New Roman"/>
                <a:cs typeface="Times New Roman"/>
                <a:sym typeface="Times New Roman"/>
              </a:rPr>
              <a:t>A Judicial officer must avoid the abuse of the power of issuing interim injunctions, </a:t>
            </a:r>
            <a:r>
              <a:rPr i="1" lang="en" sz="3733">
                <a:latin typeface="Times New Roman"/>
                <a:ea typeface="Times New Roman"/>
                <a:cs typeface="Times New Roman"/>
                <a:sym typeface="Times New Roman"/>
              </a:rPr>
              <a:t>ex parte.</a:t>
            </a:r>
            <a:endParaRPr i="1" sz="3733">
              <a:latin typeface="Times New Roman"/>
              <a:ea typeface="Times New Roman"/>
              <a:cs typeface="Times New Roman"/>
              <a:sym typeface="Times New Roman"/>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1" name="Shape 591"/>
        <p:cNvGrpSpPr/>
        <p:nvPr/>
      </p:nvGrpSpPr>
      <p:grpSpPr>
        <a:xfrm>
          <a:off x="0" y="0"/>
          <a:ext cx="0" cy="0"/>
          <a:chOff x="0" y="0"/>
          <a:chExt cx="0" cy="0"/>
        </a:xfrm>
      </p:grpSpPr>
      <p:sp>
        <p:nvSpPr>
          <p:cNvPr id="592" name="Google Shape;592;p86"/>
          <p:cNvSpPr txBox="1"/>
          <p:nvPr>
            <p:ph type="title"/>
          </p:nvPr>
        </p:nvSpPr>
        <p:spPr>
          <a:xfrm>
            <a:off x="838200" y="365125"/>
            <a:ext cx="10515600" cy="1325563"/>
          </a:xfrm>
          <a:prstGeom prst="rect">
            <a:avLst/>
          </a:prstGeom>
          <a:noFill/>
          <a:ln>
            <a:noFill/>
          </a:ln>
        </p:spPr>
        <p:txBody>
          <a:bodyPr anchorCtr="0" anchor="ctr" bIns="60925" lIns="121900" spcFirstLastPara="1" rIns="121900" wrap="square" tIns="60925">
            <a:noAutofit/>
          </a:bodyPr>
          <a:lstStyle/>
          <a:p>
            <a:pPr indent="0" lvl="0" marL="0" rtl="0" algn="ctr">
              <a:lnSpc>
                <a:spcPct val="90000"/>
              </a:lnSpc>
              <a:spcBef>
                <a:spcPts val="0"/>
              </a:spcBef>
              <a:spcAft>
                <a:spcPts val="0"/>
              </a:spcAft>
              <a:buClr>
                <a:schemeClr val="dk1"/>
              </a:buClr>
              <a:buSzPts val="4400"/>
              <a:buFont typeface="Times New Roman"/>
              <a:buNone/>
            </a:pPr>
            <a:r>
              <a:rPr b="1" lang="en">
                <a:latin typeface="Times New Roman"/>
                <a:ea typeface="Times New Roman"/>
                <a:cs typeface="Times New Roman"/>
                <a:sym typeface="Times New Roman"/>
              </a:rPr>
              <a:t>2. Suppression of facts in ex parte application</a:t>
            </a:r>
            <a:endParaRPr b="1">
              <a:latin typeface="Times New Roman"/>
              <a:ea typeface="Times New Roman"/>
              <a:cs typeface="Times New Roman"/>
              <a:sym typeface="Times New Roman"/>
            </a:endParaRPr>
          </a:p>
        </p:txBody>
      </p:sp>
      <p:sp>
        <p:nvSpPr>
          <p:cNvPr id="593" name="Google Shape;593;p86"/>
          <p:cNvSpPr txBox="1"/>
          <p:nvPr>
            <p:ph idx="1" type="body"/>
          </p:nvPr>
        </p:nvSpPr>
        <p:spPr>
          <a:xfrm>
            <a:off x="838200" y="1825625"/>
            <a:ext cx="10515600" cy="4351338"/>
          </a:xfrm>
          <a:prstGeom prst="rect">
            <a:avLst/>
          </a:prstGeom>
          <a:noFill/>
          <a:ln>
            <a:noFill/>
          </a:ln>
        </p:spPr>
        <p:txBody>
          <a:bodyPr anchorCtr="0" anchor="t" bIns="60925" lIns="121900" spcFirstLastPara="1" rIns="121900" wrap="square" tIns="60925">
            <a:noAutofit/>
          </a:bodyPr>
          <a:lstStyle/>
          <a:p>
            <a:pPr indent="-457189" lvl="0" marL="457189" rtl="0" algn="l">
              <a:lnSpc>
                <a:spcPct val="90000"/>
              </a:lnSpc>
              <a:spcBef>
                <a:spcPts val="0"/>
              </a:spcBef>
              <a:spcAft>
                <a:spcPts val="0"/>
              </a:spcAft>
              <a:buClr>
                <a:schemeClr val="dk1"/>
              </a:buClr>
              <a:buSzPts val="4800"/>
              <a:buChar char="•"/>
            </a:pPr>
            <a:r>
              <a:rPr lang="en">
                <a:latin typeface="Times New Roman"/>
                <a:ea typeface="Times New Roman"/>
                <a:cs typeface="Times New Roman"/>
                <a:sym typeface="Times New Roman"/>
              </a:rPr>
              <a:t>Suppression of facts in </a:t>
            </a:r>
            <a:r>
              <a:rPr i="1" lang="en">
                <a:latin typeface="Times New Roman"/>
                <a:ea typeface="Times New Roman"/>
                <a:cs typeface="Times New Roman"/>
                <a:sym typeface="Times New Roman"/>
              </a:rPr>
              <a:t>ex parte</a:t>
            </a:r>
            <a:r>
              <a:rPr lang="en">
                <a:latin typeface="Times New Roman"/>
                <a:ea typeface="Times New Roman"/>
                <a:cs typeface="Times New Roman"/>
                <a:sym typeface="Times New Roman"/>
              </a:rPr>
              <a:t> application. </a:t>
            </a:r>
            <a:r>
              <a:rPr lang="en">
                <a:solidFill>
                  <a:srgbClr val="FF0000"/>
                </a:solidFill>
                <a:latin typeface="Times New Roman"/>
                <a:ea typeface="Times New Roman"/>
                <a:cs typeface="Times New Roman"/>
                <a:sym typeface="Times New Roman"/>
              </a:rPr>
              <a:t>Rule </a:t>
            </a:r>
            <a:r>
              <a:rPr b="1" lang="en">
                <a:solidFill>
                  <a:srgbClr val="FF0000"/>
                </a:solidFill>
                <a:latin typeface="Times New Roman"/>
                <a:ea typeface="Times New Roman"/>
                <a:cs typeface="Times New Roman"/>
                <a:sym typeface="Times New Roman"/>
              </a:rPr>
              <a:t>32 RPC 2023</a:t>
            </a:r>
            <a:endParaRPr>
              <a:solidFill>
                <a:srgbClr val="FF0000"/>
              </a:solidFill>
              <a:latin typeface="Times New Roman"/>
              <a:ea typeface="Times New Roman"/>
              <a:cs typeface="Times New Roman"/>
              <a:sym typeface="Times New Roman"/>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7" name="Shape 597"/>
        <p:cNvGrpSpPr/>
        <p:nvPr/>
      </p:nvGrpSpPr>
      <p:grpSpPr>
        <a:xfrm>
          <a:off x="0" y="0"/>
          <a:ext cx="0" cy="0"/>
          <a:chOff x="0" y="0"/>
          <a:chExt cx="0" cy="0"/>
        </a:xfrm>
      </p:grpSpPr>
      <p:sp>
        <p:nvSpPr>
          <p:cNvPr id="598" name="Google Shape;598;p8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Times New Roman"/>
              <a:buNone/>
            </a:pPr>
            <a:r>
              <a:rPr b="1" lang="en">
                <a:latin typeface="Times New Roman"/>
                <a:ea typeface="Times New Roman"/>
                <a:cs typeface="Times New Roman"/>
                <a:sym typeface="Times New Roman"/>
              </a:rPr>
              <a:t>3. Falsification and misrepresentation of facts in affidavit</a:t>
            </a:r>
            <a:endParaRPr b="1">
              <a:latin typeface="Times New Roman"/>
              <a:ea typeface="Times New Roman"/>
              <a:cs typeface="Times New Roman"/>
              <a:sym typeface="Times New Roman"/>
            </a:endParaRPr>
          </a:p>
        </p:txBody>
      </p:sp>
      <p:sp>
        <p:nvSpPr>
          <p:cNvPr id="599" name="Google Shape;599;p8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
              <a:t>Counsel must not rely on any affidavit which he knows to contain false or misrepresented fact. </a:t>
            </a:r>
            <a:r>
              <a:rPr lang="en">
                <a:solidFill>
                  <a:srgbClr val="FF0000"/>
                </a:solidFill>
                <a:latin typeface="Times New Roman"/>
                <a:ea typeface="Times New Roman"/>
                <a:cs typeface="Times New Roman"/>
                <a:sym typeface="Times New Roman"/>
              </a:rPr>
              <a:t>Rule </a:t>
            </a:r>
            <a:r>
              <a:rPr b="1" lang="en">
                <a:solidFill>
                  <a:srgbClr val="FF0000"/>
                </a:solidFill>
                <a:latin typeface="Times New Roman"/>
                <a:ea typeface="Times New Roman"/>
                <a:cs typeface="Times New Roman"/>
                <a:sym typeface="Times New Roman"/>
              </a:rPr>
              <a:t>32 RPC 2023</a:t>
            </a:r>
            <a:r>
              <a:rPr lang="en"/>
              <a:t> </a:t>
            </a:r>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3" name="Shape 603"/>
        <p:cNvGrpSpPr/>
        <p:nvPr/>
      </p:nvGrpSpPr>
      <p:grpSpPr>
        <a:xfrm>
          <a:off x="0" y="0"/>
          <a:ext cx="0" cy="0"/>
          <a:chOff x="0" y="0"/>
          <a:chExt cx="0" cy="0"/>
        </a:xfrm>
      </p:grpSpPr>
      <p:sp>
        <p:nvSpPr>
          <p:cNvPr id="604" name="Google Shape;604;p88"/>
          <p:cNvSpPr txBox="1"/>
          <p:nvPr>
            <p:ph type="title"/>
          </p:nvPr>
        </p:nvSpPr>
        <p:spPr>
          <a:xfrm>
            <a:off x="508000" y="274637"/>
            <a:ext cx="11074400" cy="868400"/>
          </a:xfrm>
          <a:prstGeom prst="rect">
            <a:avLst/>
          </a:prstGeom>
          <a:noFill/>
          <a:ln>
            <a:noFill/>
          </a:ln>
        </p:spPr>
        <p:txBody>
          <a:bodyPr anchorCtr="0" anchor="ctr" bIns="60925" lIns="121900" spcFirstLastPara="1" rIns="121900" wrap="square" tIns="60925">
            <a:noAutofit/>
          </a:bodyPr>
          <a:lstStyle/>
          <a:p>
            <a:pPr indent="0" lvl="0" marL="0" rtl="0" algn="ctr">
              <a:lnSpc>
                <a:spcPct val="90000"/>
              </a:lnSpc>
              <a:spcBef>
                <a:spcPts val="0"/>
              </a:spcBef>
              <a:spcAft>
                <a:spcPts val="0"/>
              </a:spcAft>
              <a:buClr>
                <a:schemeClr val="dk1"/>
              </a:buClr>
              <a:buSzPts val="4400"/>
              <a:buFont typeface="Times New Roman"/>
              <a:buNone/>
            </a:pPr>
            <a:r>
              <a:rPr b="1" lang="en">
                <a:latin typeface="Times New Roman"/>
                <a:ea typeface="Times New Roman"/>
                <a:cs typeface="Times New Roman"/>
                <a:sym typeface="Times New Roman"/>
              </a:rPr>
              <a:t>4. Deposing to Affidavit by Counsel </a:t>
            </a:r>
            <a:endParaRPr b="1">
              <a:latin typeface="Times New Roman"/>
              <a:ea typeface="Times New Roman"/>
              <a:cs typeface="Times New Roman"/>
              <a:sym typeface="Times New Roman"/>
            </a:endParaRPr>
          </a:p>
        </p:txBody>
      </p:sp>
      <p:sp>
        <p:nvSpPr>
          <p:cNvPr id="605" name="Google Shape;605;p88"/>
          <p:cNvSpPr txBox="1"/>
          <p:nvPr>
            <p:ph idx="1" type="body"/>
          </p:nvPr>
        </p:nvSpPr>
        <p:spPr>
          <a:xfrm>
            <a:off x="508000" y="1371600"/>
            <a:ext cx="10972800" cy="4526000"/>
          </a:xfrm>
          <a:prstGeom prst="rect">
            <a:avLst/>
          </a:prstGeom>
          <a:noFill/>
          <a:ln>
            <a:noFill/>
          </a:ln>
        </p:spPr>
        <p:txBody>
          <a:bodyPr anchorCtr="0" anchor="t" bIns="60925" lIns="121900" spcFirstLastPara="1" rIns="121900" wrap="square" tIns="60925">
            <a:noAutofit/>
          </a:bodyPr>
          <a:lstStyle/>
          <a:p>
            <a:pPr indent="-457189" lvl="0" marL="457189" rtl="0" algn="l">
              <a:lnSpc>
                <a:spcPct val="90000"/>
              </a:lnSpc>
              <a:spcBef>
                <a:spcPts val="1013"/>
              </a:spcBef>
              <a:spcAft>
                <a:spcPts val="0"/>
              </a:spcAft>
              <a:buClr>
                <a:schemeClr val="dk1"/>
              </a:buClr>
              <a:buSzPts val="3800"/>
              <a:buChar char="•"/>
            </a:pPr>
            <a:r>
              <a:rPr lang="en" sz="4000">
                <a:latin typeface="Times New Roman"/>
                <a:ea typeface="Times New Roman"/>
                <a:cs typeface="Times New Roman"/>
                <a:sym typeface="Times New Roman"/>
              </a:rPr>
              <a:t>Counsel must  avoid the habit of deposing to an affidavit on behalf of client. In the event of conflicts he will be required to enter the witness box and be subjected to the rigours of cross examination. See </a:t>
            </a:r>
            <a:r>
              <a:rPr b="1" lang="en" sz="4000">
                <a:latin typeface="Times New Roman"/>
                <a:ea typeface="Times New Roman"/>
                <a:cs typeface="Times New Roman"/>
                <a:sym typeface="Times New Roman"/>
              </a:rPr>
              <a:t>UKPABIO V. NIGERIAN FILMS &amp; CENSORS BOARD (2008) 9 NWLR (PT 1092) 219</a:t>
            </a:r>
            <a:endParaRPr/>
          </a:p>
          <a:p>
            <a:pPr indent="-457189" lvl="0" marL="457189" rtl="0" algn="l">
              <a:lnSpc>
                <a:spcPct val="90000"/>
              </a:lnSpc>
              <a:spcBef>
                <a:spcPts val="1013"/>
              </a:spcBef>
              <a:spcAft>
                <a:spcPts val="0"/>
              </a:spcAft>
              <a:buClr>
                <a:schemeClr val="dk1"/>
              </a:buClr>
              <a:buSzPts val="3800"/>
              <a:buChar char="•"/>
            </a:pPr>
            <a:r>
              <a:rPr b="1" lang="en" sz="3733">
                <a:solidFill>
                  <a:srgbClr val="FF0000"/>
                </a:solidFill>
                <a:latin typeface="Times New Roman"/>
                <a:ea typeface="Times New Roman"/>
                <a:cs typeface="Times New Roman"/>
                <a:sym typeface="Times New Roman"/>
              </a:rPr>
              <a:t>Rule 20 RPC 2023</a:t>
            </a:r>
            <a:endParaRPr b="1" sz="3733">
              <a:latin typeface="Times New Roman"/>
              <a:ea typeface="Times New Roman"/>
              <a:cs typeface="Times New Roman"/>
              <a:sym typeface="Times New Roman"/>
            </a:endParaRPr>
          </a:p>
          <a:p>
            <a:pPr indent="-135463" lvl="0" marL="457189" rtl="0" algn="l">
              <a:lnSpc>
                <a:spcPct val="90000"/>
              </a:lnSpc>
              <a:spcBef>
                <a:spcPts val="1013"/>
              </a:spcBef>
              <a:spcAft>
                <a:spcPts val="0"/>
              </a:spcAft>
              <a:buClr>
                <a:schemeClr val="dk1"/>
              </a:buClr>
              <a:buSzPts val="3800"/>
              <a:buNone/>
            </a:pPr>
            <a:r>
              <a:t/>
            </a:r>
            <a:endParaRPr b="1" sz="3733">
              <a:latin typeface="Times New Roman"/>
              <a:ea typeface="Times New Roman"/>
              <a:cs typeface="Times New Roman"/>
              <a:sym typeface="Times New Roman"/>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9" name="Shape 609"/>
        <p:cNvGrpSpPr/>
        <p:nvPr/>
      </p:nvGrpSpPr>
      <p:grpSpPr>
        <a:xfrm>
          <a:off x="0" y="0"/>
          <a:ext cx="0" cy="0"/>
          <a:chOff x="0" y="0"/>
          <a:chExt cx="0" cy="0"/>
        </a:xfrm>
      </p:grpSpPr>
      <p:sp>
        <p:nvSpPr>
          <p:cNvPr id="610" name="Google Shape;610;p8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Times New Roman"/>
              <a:buNone/>
            </a:pPr>
            <a:r>
              <a:rPr b="1" lang="en">
                <a:latin typeface="Times New Roman"/>
                <a:ea typeface="Times New Roman"/>
                <a:cs typeface="Times New Roman"/>
                <a:sym typeface="Times New Roman"/>
              </a:rPr>
              <a:t>5. Late filing of motions and affidavits </a:t>
            </a:r>
            <a:endParaRPr b="1">
              <a:latin typeface="Times New Roman"/>
              <a:ea typeface="Times New Roman"/>
              <a:cs typeface="Times New Roman"/>
              <a:sym typeface="Times New Roman"/>
            </a:endParaRPr>
          </a:p>
        </p:txBody>
      </p:sp>
      <p:sp>
        <p:nvSpPr>
          <p:cNvPr id="611" name="Google Shape;611;p8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
                <a:latin typeface="Times New Roman"/>
                <a:ea typeface="Times New Roman"/>
                <a:cs typeface="Times New Roman"/>
                <a:sym typeface="Times New Roman"/>
              </a:rPr>
              <a:t>Late filing of motions and counter affidavits with a view to delay proceedings. </a:t>
            </a:r>
            <a:r>
              <a:rPr lang="en">
                <a:solidFill>
                  <a:srgbClr val="FF0000"/>
                </a:solidFill>
                <a:latin typeface="Times New Roman"/>
                <a:ea typeface="Times New Roman"/>
                <a:cs typeface="Times New Roman"/>
                <a:sym typeface="Times New Roman"/>
              </a:rPr>
              <a:t>Rule </a:t>
            </a:r>
            <a:r>
              <a:rPr b="1" lang="en">
                <a:solidFill>
                  <a:srgbClr val="FF0000"/>
                </a:solidFill>
                <a:latin typeface="Times New Roman"/>
                <a:ea typeface="Times New Roman"/>
                <a:cs typeface="Times New Roman"/>
                <a:sym typeface="Times New Roman"/>
              </a:rPr>
              <a:t>30(5) RPC 2023</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5" name="Shape 615"/>
        <p:cNvGrpSpPr/>
        <p:nvPr/>
      </p:nvGrpSpPr>
      <p:grpSpPr>
        <a:xfrm>
          <a:off x="0" y="0"/>
          <a:ext cx="0" cy="0"/>
          <a:chOff x="0" y="0"/>
          <a:chExt cx="0" cy="0"/>
        </a:xfrm>
      </p:grpSpPr>
      <p:sp>
        <p:nvSpPr>
          <p:cNvPr id="616" name="Google Shape;616;p9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sp>
        <p:nvSpPr>
          <p:cNvPr id="617" name="Google Shape;617;p9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457189" lvl="0" marL="457189" rtl="0" algn="l">
              <a:lnSpc>
                <a:spcPct val="90000"/>
              </a:lnSpc>
              <a:spcBef>
                <a:spcPts val="0"/>
              </a:spcBef>
              <a:spcAft>
                <a:spcPts val="0"/>
              </a:spcAft>
              <a:buClr>
                <a:schemeClr val="dk1"/>
              </a:buClr>
              <a:buSzPts val="3800"/>
              <a:buChar char="•"/>
            </a:pPr>
            <a:r>
              <a:rPr lang="en">
                <a:solidFill>
                  <a:srgbClr val="FF0000"/>
                </a:solidFill>
                <a:latin typeface="Times New Roman"/>
                <a:ea typeface="Times New Roman"/>
                <a:cs typeface="Times New Roman"/>
                <a:sym typeface="Times New Roman"/>
              </a:rPr>
              <a:t>See generally the following rules:</a:t>
            </a:r>
            <a:endParaRPr>
              <a:solidFill>
                <a:srgbClr val="FF0000"/>
              </a:solidFill>
              <a:latin typeface="Times New Roman"/>
              <a:ea typeface="Times New Roman"/>
              <a:cs typeface="Times New Roman"/>
              <a:sym typeface="Times New Roman"/>
            </a:endParaRPr>
          </a:p>
          <a:p>
            <a:pPr indent="-457189" lvl="0" marL="457189" rtl="0" algn="l">
              <a:lnSpc>
                <a:spcPct val="90000"/>
              </a:lnSpc>
              <a:spcBef>
                <a:spcPts val="0"/>
              </a:spcBef>
              <a:spcAft>
                <a:spcPts val="0"/>
              </a:spcAft>
              <a:buClr>
                <a:schemeClr val="dk1"/>
              </a:buClr>
              <a:buSzPts val="3800"/>
              <a:buChar char="•"/>
            </a:pPr>
            <a:r>
              <a:rPr lang="en">
                <a:solidFill>
                  <a:srgbClr val="FF0000"/>
                </a:solidFill>
                <a:latin typeface="Times New Roman"/>
                <a:ea typeface="Times New Roman"/>
                <a:cs typeface="Times New Roman"/>
                <a:sym typeface="Times New Roman"/>
              </a:rPr>
              <a:t>Rule </a:t>
            </a:r>
            <a:r>
              <a:rPr b="1" lang="en">
                <a:solidFill>
                  <a:srgbClr val="FF0000"/>
                </a:solidFill>
                <a:latin typeface="Times New Roman"/>
                <a:ea typeface="Times New Roman"/>
                <a:cs typeface="Times New Roman"/>
                <a:sym typeface="Times New Roman"/>
              </a:rPr>
              <a:t>32 RPC 2023</a:t>
            </a:r>
            <a:r>
              <a:rPr lang="en">
                <a:solidFill>
                  <a:srgbClr val="FF0000"/>
                </a:solidFill>
                <a:latin typeface="Times New Roman"/>
                <a:ea typeface="Times New Roman"/>
                <a:cs typeface="Times New Roman"/>
                <a:sym typeface="Times New Roman"/>
              </a:rPr>
              <a:t>.</a:t>
            </a:r>
            <a:r>
              <a:rPr lang="en">
                <a:latin typeface="Times New Roman"/>
                <a:ea typeface="Times New Roman"/>
                <a:cs typeface="Times New Roman"/>
                <a:sym typeface="Times New Roman"/>
              </a:rPr>
              <a:t> A lawyer shall deal candidly and fairly with the court.</a:t>
            </a:r>
            <a:endParaRPr/>
          </a:p>
          <a:p>
            <a:pPr indent="-457189" lvl="0" marL="457189" rtl="0" algn="l">
              <a:lnSpc>
                <a:spcPct val="90000"/>
              </a:lnSpc>
              <a:spcBef>
                <a:spcPts val="1013"/>
              </a:spcBef>
              <a:spcAft>
                <a:spcPts val="0"/>
              </a:spcAft>
              <a:buClr>
                <a:schemeClr val="dk1"/>
              </a:buClr>
              <a:buSzPts val="3800"/>
              <a:buChar char="•"/>
            </a:pPr>
            <a:r>
              <a:rPr lang="en">
                <a:solidFill>
                  <a:srgbClr val="FF0000"/>
                </a:solidFill>
                <a:latin typeface="Times New Roman"/>
                <a:ea typeface="Times New Roman"/>
                <a:cs typeface="Times New Roman"/>
                <a:sym typeface="Times New Roman"/>
              </a:rPr>
              <a:t>Rule </a:t>
            </a:r>
            <a:r>
              <a:rPr b="1" lang="en">
                <a:solidFill>
                  <a:srgbClr val="FF0000"/>
                </a:solidFill>
                <a:latin typeface="Times New Roman"/>
                <a:ea typeface="Times New Roman"/>
                <a:cs typeface="Times New Roman"/>
                <a:sym typeface="Times New Roman"/>
              </a:rPr>
              <a:t>27 RPC 2023</a:t>
            </a:r>
            <a:r>
              <a:rPr lang="en">
                <a:latin typeface="Times New Roman"/>
                <a:ea typeface="Times New Roman"/>
                <a:cs typeface="Times New Roman"/>
                <a:sym typeface="Times New Roman"/>
              </a:rPr>
              <a:t>. A lawyer shall not take undue advantage of opposing lawyer.</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2025-03-30T19:51:38Z</dcterms:created>
  <dc:creator>COMMENT</dc:creator>
</cp:coreProperties>
</file>